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96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3819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CN"/>
              <a:t>【</a:t>
            </a:r>
            <a:r>
              <a:rPr lang="zh-CN" altLang="en-US"/>
              <a:t>建议 </a:t>
            </a:r>
            <a:r>
              <a:rPr lang="en-US" altLang="zh-CN"/>
              <a:t>40 </a:t>
            </a:r>
            <a:r>
              <a:rPr lang="zh-CN" altLang="en-US"/>
              <a:t>秒</a:t>
            </a:r>
            <a:r>
              <a:rPr lang="en-US" altLang="zh-CN"/>
              <a:t>】</a:t>
            </a:r>
          </a:p>
          <a:p>
            <a:r>
              <a:rPr lang="zh-CN" altLang="en-US"/>
              <a:t>各位评委老师好，我们是「海底喵喵队」。今天汇报的是我们为网新恒天命题开发的「基于大模型的企业合同智能审核与风险预警系统」</a:t>
            </a:r>
            <a:r>
              <a:rPr lang="en-US" altLang="zh-CN"/>
              <a:t>——SmartContract Auditor</a:t>
            </a:r>
            <a:r>
              <a:rPr lang="zh-CN" altLang="en-US"/>
              <a:t>。它是一个 </a:t>
            </a:r>
            <a:r>
              <a:rPr lang="en-US" altLang="zh-CN"/>
              <a:t>AI </a:t>
            </a:r>
            <a:r>
              <a:rPr lang="zh-CN" altLang="en-US"/>
              <a:t>原生的合同审核平台，核心理念是「人机协同审核」：让大模型去做它擅长的语义理解，把最终的风险裁决交给可复现的确定性规则，帮助法务在几分钟内完成原本需要几小时的逐条审核。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CN"/>
              <a:t>【</a:t>
            </a:r>
            <a:r>
              <a:rPr lang="zh-CN" altLang="en-US"/>
              <a:t>建议 </a:t>
            </a:r>
            <a:r>
              <a:rPr lang="en-US" altLang="zh-CN"/>
              <a:t>25 </a:t>
            </a:r>
            <a:r>
              <a:rPr lang="zh-CN" altLang="en-US"/>
              <a:t>秒</a:t>
            </a:r>
            <a:r>
              <a:rPr lang="en-US" altLang="zh-CN"/>
              <a:t>】</a:t>
            </a:r>
          </a:p>
          <a:p>
            <a:r>
              <a:rPr lang="zh-CN" altLang="en-US"/>
              <a:t>时长分配：本稿共 </a:t>
            </a:r>
            <a:r>
              <a:rPr lang="en-US" altLang="zh-CN"/>
              <a:t>17 </a:t>
            </a:r>
            <a:r>
              <a:rPr lang="zh-CN" altLang="en-US"/>
              <a:t>页，建议讲解 </a:t>
            </a:r>
            <a:r>
              <a:rPr lang="en-US" altLang="zh-CN"/>
              <a:t>12 </a:t>
            </a:r>
            <a:r>
              <a:rPr lang="zh-CN" altLang="en-US"/>
              <a:t>分 </a:t>
            </a:r>
            <a:r>
              <a:rPr lang="en-US" altLang="zh-CN"/>
              <a:t>30 </a:t>
            </a:r>
            <a:r>
              <a:rPr lang="zh-CN" altLang="en-US"/>
              <a:t>秒～</a:t>
            </a:r>
            <a:r>
              <a:rPr lang="en-US" altLang="zh-CN"/>
              <a:t>13 </a:t>
            </a:r>
            <a:r>
              <a:rPr lang="zh-CN" altLang="en-US"/>
              <a:t>分 </a:t>
            </a:r>
            <a:r>
              <a:rPr lang="en-US" altLang="zh-CN"/>
              <a:t>30 </a:t>
            </a:r>
            <a:r>
              <a:rPr lang="zh-CN" altLang="en-US"/>
              <a:t>秒（比赛上限 </a:t>
            </a:r>
            <a:r>
              <a:rPr lang="en-US" altLang="zh-CN"/>
              <a:t>15 </a:t>
            </a:r>
            <a:r>
              <a:rPr lang="zh-CN" altLang="en-US"/>
              <a:t>分钟以内）；各页建议时长见每页备注开头的</a:t>
            </a:r>
            <a:r>
              <a:rPr lang="en-US" altLang="zh-CN"/>
              <a:t>【</a:t>
            </a:r>
            <a:r>
              <a:rPr lang="zh-CN" altLang="en-US"/>
              <a:t>建议 </a:t>
            </a:r>
            <a:r>
              <a:rPr lang="en-US" altLang="zh-CN"/>
              <a:t>x </a:t>
            </a:r>
            <a:r>
              <a:rPr lang="zh-CN" altLang="en-US"/>
              <a:t>秒</a:t>
            </a:r>
            <a:r>
              <a:rPr lang="en-US" altLang="zh-CN"/>
              <a:t>】</a:t>
            </a:r>
            <a:r>
              <a:rPr lang="zh-CN" altLang="en-US"/>
              <a:t>，留出提问与现场操作余量。</a:t>
            </a:r>
          </a:p>
          <a:p>
            <a:endParaRPr lang="zh-CN" altLang="en-US"/>
          </a:p>
          <a:p>
            <a:r>
              <a:rPr lang="zh-CN" altLang="en-US"/>
              <a:t>汇报分为六个部分：先说项目背景与痛点，再对照赛题要求看三大硬指标的达标情况；接着讲系统架构和审核链路；然后展开四大核心技术方案；重点讲我们的核心创新「证据</a:t>
            </a:r>
            <a:r>
              <a:rPr lang="en-US" altLang="zh-CN"/>
              <a:t>-</a:t>
            </a:r>
            <a:r>
              <a:rPr lang="zh-CN" altLang="en-US"/>
              <a:t>裁决解耦」；最后总结创新亮点、工程落地与未来规划。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CN"/>
              <a:t>【</a:t>
            </a:r>
            <a:r>
              <a:rPr lang="zh-CN" altLang="en-US"/>
              <a:t>建议 </a:t>
            </a:r>
            <a:r>
              <a:rPr lang="en-US" altLang="zh-CN"/>
              <a:t>50 </a:t>
            </a:r>
            <a:r>
              <a:rPr lang="zh-CN" altLang="en-US"/>
              <a:t>秒</a:t>
            </a:r>
            <a:r>
              <a:rPr lang="en-US" altLang="zh-CN"/>
              <a:t>】</a:t>
            </a:r>
          </a:p>
          <a:p>
            <a:r>
              <a:rPr lang="zh-CN" altLang="en-US"/>
              <a:t>先看背景。网新恒天作为国内领先的 </a:t>
            </a:r>
            <a:r>
              <a:rPr lang="en-US" altLang="zh-CN"/>
              <a:t>IT </a:t>
            </a:r>
            <a:r>
              <a:rPr lang="zh-CN" altLang="en-US"/>
              <a:t>服务与金融科技企业，法务部每天面对大量技术服务、软件开发外包、</a:t>
            </a:r>
            <a:r>
              <a:rPr lang="en-US" altLang="zh-CN"/>
              <a:t>SaaS </a:t>
            </a:r>
            <a:r>
              <a:rPr lang="zh-CN" altLang="en-US"/>
              <a:t>协议和金融合作协议。传统模式下，一份典型的技术外包合同完整审核需要 </a:t>
            </a:r>
            <a:r>
              <a:rPr lang="en-US" altLang="zh-CN"/>
              <a:t>2 </a:t>
            </a:r>
            <a:r>
              <a:rPr lang="zh-CN" altLang="en-US"/>
              <a:t>到 </a:t>
            </a:r>
            <a:r>
              <a:rPr lang="en-US" altLang="zh-CN"/>
              <a:t>4 </a:t>
            </a:r>
            <a:r>
              <a:rPr lang="zh-CN" altLang="en-US"/>
              <a:t>小时，而且行业特有风险</a:t>
            </a:r>
            <a:r>
              <a:rPr lang="en-US" altLang="zh-CN"/>
              <a:t>——</a:t>
            </a:r>
            <a:r>
              <a:rPr lang="zh-CN" altLang="en-US"/>
              <a:t>比如 </a:t>
            </a:r>
            <a:r>
              <a:rPr lang="en-US" altLang="zh-CN"/>
              <a:t>SLA </a:t>
            </a:r>
            <a:r>
              <a:rPr lang="zh-CN" altLang="en-US"/>
              <a:t>罚则、数据导出销毁、源代码托管、</a:t>
            </a:r>
            <a:r>
              <a:rPr lang="en-US" altLang="zh-CN"/>
              <a:t>IP </a:t>
            </a:r>
            <a:r>
              <a:rPr lang="zh-CN" altLang="en-US"/>
              <a:t>归属</a:t>
            </a:r>
            <a:r>
              <a:rPr lang="en-US" altLang="zh-CN"/>
              <a:t>——</a:t>
            </a:r>
            <a:r>
              <a:rPr lang="zh-CN" altLang="en-US"/>
              <a:t>很难靠通用经验覆盖。更棘手的是，法务知识沉淀在个人脑中，人一走经验就没了。我们的系统把解析、分类与要素抽取压缩到约 </a:t>
            </a:r>
            <a:r>
              <a:rPr lang="en-US" altLang="zh-CN"/>
              <a:t>40 </a:t>
            </a:r>
            <a:r>
              <a:rPr lang="zh-CN" altLang="en-US"/>
              <a:t>秒，精细审核按合同长度在分钟级完成，同时把审核依据与人工反馈经验留痕沉淀（反馈经验库当前尚无真实数据）。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CN"/>
              <a:t>【</a:t>
            </a:r>
            <a:r>
              <a:rPr lang="zh-CN" altLang="en-US"/>
              <a:t>建议 </a:t>
            </a:r>
            <a:r>
              <a:rPr lang="en-US" altLang="zh-CN"/>
              <a:t>50 </a:t>
            </a:r>
            <a:r>
              <a:rPr lang="zh-CN" altLang="en-US"/>
              <a:t>秒</a:t>
            </a:r>
            <a:r>
              <a:rPr lang="en-US" altLang="zh-CN"/>
              <a:t>】</a:t>
            </a:r>
          </a:p>
          <a:p>
            <a:r>
              <a:rPr lang="zh-CN" altLang="en-US"/>
              <a:t>对照赛题，三大硬指标全部超额完成。合同分类准确率 </a:t>
            </a:r>
            <a:r>
              <a:rPr lang="en-US" altLang="zh-CN"/>
              <a:t>98.6%</a:t>
            </a:r>
            <a:r>
              <a:rPr lang="zh-CN" altLang="en-US"/>
              <a:t>，赛题要求 </a:t>
            </a:r>
            <a:r>
              <a:rPr lang="en-US" altLang="zh-CN"/>
              <a:t>85%</a:t>
            </a:r>
            <a:r>
              <a:rPr lang="zh-CN" altLang="en-US"/>
              <a:t>，超额 </a:t>
            </a:r>
            <a:r>
              <a:rPr lang="en-US" altLang="zh-CN"/>
              <a:t>13.6 </a:t>
            </a:r>
            <a:r>
              <a:rPr lang="zh-CN" altLang="en-US"/>
              <a:t>个百分点，是在 </a:t>
            </a:r>
            <a:r>
              <a:rPr lang="en-US" altLang="zh-CN"/>
              <a:t>147 </a:t>
            </a:r>
            <a:r>
              <a:rPr lang="zh-CN" altLang="en-US"/>
              <a:t>份正式测试集上测出来的；要素抽取 </a:t>
            </a:r>
            <a:r>
              <a:rPr lang="en-US" altLang="zh-CN"/>
              <a:t>F1 </a:t>
            </a:r>
            <a:r>
              <a:rPr lang="zh-CN" altLang="en-US"/>
              <a:t>达到 </a:t>
            </a:r>
            <a:r>
              <a:rPr lang="en-US" altLang="zh-CN"/>
              <a:t>93.7%</a:t>
            </a:r>
            <a:r>
              <a:rPr lang="zh-CN" altLang="en-US"/>
              <a:t>，超额 </a:t>
            </a:r>
            <a:r>
              <a:rPr lang="en-US" altLang="zh-CN"/>
              <a:t>13.7 </a:t>
            </a:r>
            <a:r>
              <a:rPr lang="zh-CN" altLang="en-US"/>
              <a:t>个百分点；风险识别我们覆盖了 </a:t>
            </a:r>
            <a:r>
              <a:rPr lang="en-US" altLang="zh-CN"/>
              <a:t>13 </a:t>
            </a:r>
            <a:r>
              <a:rPr lang="zh-CN" altLang="en-US"/>
              <a:t>类风险，召回率 </a:t>
            </a:r>
            <a:r>
              <a:rPr lang="en-US" altLang="zh-CN"/>
              <a:t>80.1%</a:t>
            </a:r>
            <a:r>
              <a:rPr lang="zh-CN" altLang="en-US"/>
              <a:t>、精准率 </a:t>
            </a:r>
            <a:r>
              <a:rPr lang="en-US" altLang="zh-CN"/>
              <a:t>76.6%</a:t>
            </a:r>
            <a:r>
              <a:rPr lang="zh-CN" altLang="en-US"/>
              <a:t>，双双超过 </a:t>
            </a:r>
            <a:r>
              <a:rPr lang="en-US" altLang="zh-CN"/>
              <a:t>75% </a:t>
            </a:r>
            <a:r>
              <a:rPr lang="zh-CN" altLang="en-US"/>
              <a:t>的门槛。需要说明的是，这些不是 </a:t>
            </a:r>
            <a:r>
              <a:rPr lang="en-US" altLang="zh-CN"/>
              <a:t>PPT </a:t>
            </a:r>
            <a:r>
              <a:rPr lang="zh-CN" altLang="en-US"/>
              <a:t>数字，而是冻结测试集上可复现的实测结果，评测脚本和 </a:t>
            </a:r>
            <a:r>
              <a:rPr lang="en-US" altLang="zh-CN"/>
              <a:t>gold </a:t>
            </a:r>
            <a:r>
              <a:rPr lang="zh-CN" altLang="en-US"/>
              <a:t>标注都在仓库里。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CN"/>
              <a:t>【</a:t>
            </a:r>
            <a:r>
              <a:rPr lang="zh-CN" altLang="en-US"/>
              <a:t>建议 </a:t>
            </a:r>
            <a:r>
              <a:rPr lang="en-US" altLang="zh-CN"/>
              <a:t>45 </a:t>
            </a:r>
            <a:r>
              <a:rPr lang="zh-CN" altLang="en-US"/>
              <a:t>秒</a:t>
            </a:r>
            <a:r>
              <a:rPr lang="en-US" altLang="zh-CN"/>
              <a:t>】</a:t>
            </a:r>
          </a:p>
          <a:p>
            <a:r>
              <a:rPr lang="zh-CN" altLang="en-US"/>
              <a:t>系统采用经典的四层架构。第一层是 </a:t>
            </a:r>
            <a:r>
              <a:rPr lang="en-US" altLang="zh-CN"/>
              <a:t>Vue 3 </a:t>
            </a:r>
            <a:r>
              <a:rPr lang="zh-CN" altLang="en-US"/>
              <a:t>前端，承载上传、审核结果、报告、反馈等五个核心页面；第二层是 </a:t>
            </a:r>
            <a:r>
              <a:rPr lang="en-US" altLang="zh-CN"/>
              <a:t>FastAPI </a:t>
            </a:r>
            <a:r>
              <a:rPr lang="zh-CN" altLang="en-US"/>
              <a:t>业务后端，负责认证、合同管理、审核调度；第三层是 </a:t>
            </a:r>
            <a:r>
              <a:rPr lang="en-US" altLang="zh-CN"/>
              <a:t>AI </a:t>
            </a:r>
            <a:r>
              <a:rPr lang="zh-CN" altLang="en-US"/>
              <a:t>核心引擎，作为同进程 </a:t>
            </a:r>
            <a:r>
              <a:rPr lang="en-US" altLang="zh-CN"/>
              <a:t>Python </a:t>
            </a:r>
            <a:r>
              <a:rPr lang="zh-CN" altLang="en-US"/>
              <a:t>包被业务层直接调用，不走 </a:t>
            </a:r>
            <a:r>
              <a:rPr lang="en-US" altLang="zh-CN"/>
              <a:t>HTTP</a:t>
            </a:r>
            <a:r>
              <a:rPr lang="zh-CN" altLang="en-US"/>
              <a:t>，省去序列化开销；第四层是数据持久层：交付默认用 </a:t>
            </a:r>
            <a:r>
              <a:rPr lang="en-US" altLang="zh-CN"/>
              <a:t>SQLite</a:t>
            </a:r>
            <a:r>
              <a:rPr lang="zh-CN" altLang="en-US"/>
              <a:t>（开启 </a:t>
            </a:r>
            <a:r>
              <a:rPr lang="en-US" altLang="zh-CN"/>
              <a:t>WAL</a:t>
            </a:r>
            <a:r>
              <a:rPr lang="zh-CN" altLang="en-US"/>
              <a:t>）存业务数据，</a:t>
            </a:r>
            <a:r>
              <a:rPr lang="en-US" altLang="zh-CN"/>
              <a:t>ChromaDB </a:t>
            </a:r>
            <a:r>
              <a:rPr lang="zh-CN" altLang="en-US"/>
              <a:t>以嵌入式方式存向量知识库，文件系统存合同原件；</a:t>
            </a:r>
            <a:r>
              <a:rPr lang="en-US" altLang="zh-CN"/>
              <a:t>MySQL </a:t>
            </a:r>
            <a:r>
              <a:rPr lang="zh-CN" altLang="en-US"/>
              <a:t>是已实现的备选路径，不是默认部署方式。一个关键决策是全栈 </a:t>
            </a:r>
            <a:r>
              <a:rPr lang="en-US" altLang="zh-CN"/>
              <a:t>Python——AI </a:t>
            </a:r>
            <a:r>
              <a:rPr lang="zh-CN" altLang="en-US"/>
              <a:t>逻辑和业务逻辑在同一进程，用函数调用代替服务间通信。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CN"/>
              <a:t>【</a:t>
            </a:r>
            <a:r>
              <a:rPr lang="zh-CN" altLang="en-US"/>
              <a:t>建议 </a:t>
            </a:r>
            <a:r>
              <a:rPr lang="en-US" altLang="zh-CN"/>
              <a:t>55 </a:t>
            </a:r>
            <a:r>
              <a:rPr lang="zh-CN" altLang="en-US"/>
              <a:t>秒</a:t>
            </a:r>
            <a:r>
              <a:rPr lang="en-US" altLang="zh-CN"/>
              <a:t>】</a:t>
            </a:r>
          </a:p>
          <a:p>
            <a:r>
              <a:rPr lang="zh-CN" altLang="en-US"/>
              <a:t>审核主链路分五步。第一步解析理解：支持 </a:t>
            </a:r>
            <a:r>
              <a:rPr lang="en-US" altLang="zh-CN"/>
              <a:t>docx</a:t>
            </a:r>
            <a:r>
              <a:rPr lang="zh-CN" altLang="en-US"/>
              <a:t>、</a:t>
            </a:r>
            <a:r>
              <a:rPr lang="en-US" altLang="zh-CN"/>
              <a:t>pdf</a:t>
            </a:r>
            <a:r>
              <a:rPr lang="zh-CN" altLang="en-US"/>
              <a:t>、扫描件 </a:t>
            </a:r>
            <a:r>
              <a:rPr lang="en-US" altLang="zh-CN"/>
              <a:t>OCR</a:t>
            </a:r>
            <a:r>
              <a:rPr lang="zh-CN" altLang="en-US"/>
              <a:t>，然后做智能分类和要素抽取；第二步规则召回：用确定性正则先扫一遍 </a:t>
            </a:r>
            <a:r>
              <a:rPr lang="en-US" altLang="zh-CN"/>
              <a:t>13 </a:t>
            </a:r>
            <a:r>
              <a:rPr lang="zh-CN" altLang="en-US"/>
              <a:t>类风险，它既是 </a:t>
            </a:r>
            <a:r>
              <a:rPr lang="en-US" altLang="zh-CN"/>
              <a:t>fast </a:t>
            </a:r>
            <a:r>
              <a:rPr lang="zh-CN" altLang="en-US"/>
              <a:t>模式的基线，也是 </a:t>
            </a:r>
            <a:r>
              <a:rPr lang="en-US" altLang="zh-CN"/>
              <a:t>precise </a:t>
            </a:r>
            <a:r>
              <a:rPr lang="zh-CN" altLang="en-US"/>
              <a:t>模式异常时的兜底；第三步证据裁决：这是我们的核心</a:t>
            </a:r>
            <a:r>
              <a:rPr lang="en-US" altLang="zh-CN"/>
              <a:t>——LLM </a:t>
            </a:r>
            <a:r>
              <a:rPr lang="zh-CN" altLang="en-US"/>
              <a:t>只抽取条款的客观事实证据，风险判定交给 </a:t>
            </a:r>
            <a:r>
              <a:rPr lang="en-US" altLang="zh-CN"/>
              <a:t>Python </a:t>
            </a:r>
            <a:r>
              <a:rPr lang="zh-CN" altLang="en-US"/>
              <a:t>代码按硬阈值裁决；第四步建议生成：按法条编号精确取条文，再由 </a:t>
            </a:r>
            <a:r>
              <a:rPr lang="en-US" altLang="zh-CN"/>
              <a:t>LLM </a:t>
            </a:r>
            <a:r>
              <a:rPr lang="zh-CN" altLang="en-US"/>
              <a:t>生成修改建议并做 </a:t>
            </a:r>
            <a:r>
              <a:rPr lang="en-US" altLang="zh-CN"/>
              <a:t>grounding </a:t>
            </a:r>
            <a:r>
              <a:rPr lang="zh-CN" altLang="en-US"/>
              <a:t>校验；第五步输出沉淀：条款定位、条款比对、生成结构化报告。系统提供 </a:t>
            </a:r>
            <a:r>
              <a:rPr lang="en-US" altLang="zh-CN"/>
              <a:t>fast </a:t>
            </a:r>
            <a:r>
              <a:rPr lang="zh-CN" altLang="en-US"/>
              <a:t>和 </a:t>
            </a:r>
            <a:r>
              <a:rPr lang="en-US" altLang="zh-CN"/>
              <a:t>precise </a:t>
            </a:r>
            <a:r>
              <a:rPr lang="zh-CN" altLang="en-US"/>
              <a:t>两个模式，全链路 </a:t>
            </a:r>
            <a:r>
              <a:rPr lang="en-US" altLang="zh-CN"/>
              <a:t>temperature </a:t>
            </a:r>
            <a:r>
              <a:rPr lang="zh-CN" altLang="en-US"/>
              <a:t>设为 </a:t>
            </a:r>
            <a:r>
              <a:rPr lang="en-US" altLang="zh-CN"/>
              <a:t>0</a:t>
            </a:r>
            <a:r>
              <a:rPr lang="zh-CN" altLang="en-US"/>
              <a:t>，保证结论可复现。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CN"/>
              <a:t>【</a:t>
            </a:r>
            <a:r>
              <a:rPr lang="zh-CN" altLang="en-US"/>
              <a:t>建议 </a:t>
            </a:r>
            <a:r>
              <a:rPr lang="en-US" altLang="zh-CN"/>
              <a:t>1 </a:t>
            </a:r>
            <a:r>
              <a:rPr lang="zh-CN" altLang="en-US"/>
              <a:t>分 </a:t>
            </a:r>
            <a:r>
              <a:rPr lang="en-US" altLang="zh-CN"/>
              <a:t>0 </a:t>
            </a:r>
            <a:r>
              <a:rPr lang="zh-CN" altLang="en-US"/>
              <a:t>秒</a:t>
            </a:r>
            <a:r>
              <a:rPr lang="en-US" altLang="zh-CN"/>
              <a:t>】</a:t>
            </a:r>
          </a:p>
          <a:p>
            <a:r>
              <a:rPr lang="zh-CN" altLang="en-US"/>
              <a:t>这是整个项目最核心的创新</a:t>
            </a:r>
            <a:r>
              <a:rPr lang="en-US" altLang="zh-CN"/>
              <a:t>——</a:t>
            </a:r>
            <a:r>
              <a:rPr lang="zh-CN" altLang="en-US"/>
              <a:t>证据</a:t>
            </a:r>
            <a:r>
              <a:rPr lang="en-US" altLang="zh-CN"/>
              <a:t>-</a:t>
            </a:r>
            <a:r>
              <a:rPr lang="zh-CN" altLang="en-US"/>
              <a:t>裁决解耦。直接让 </a:t>
            </a:r>
            <a:r>
              <a:rPr lang="en-US" altLang="zh-CN"/>
              <a:t>LLM </a:t>
            </a:r>
            <a:r>
              <a:rPr lang="zh-CN" altLang="en-US"/>
              <a:t>判断风险有两个致命问题：幻觉和不一致。它会编造原文根本不存在的风险条款，而且同一份合同两次审核结论会漂移。我们的做法是把「有没有风险」和「怎么改」彻底拆开：</a:t>
            </a:r>
            <a:r>
              <a:rPr lang="en-US" altLang="zh-CN"/>
              <a:t>LLM </a:t>
            </a:r>
            <a:r>
              <a:rPr lang="zh-CN" altLang="en-US"/>
              <a:t>只用一套冻结的 </a:t>
            </a:r>
            <a:r>
              <a:rPr lang="en-US" altLang="zh-CN"/>
              <a:t>JSON Schema </a:t>
            </a:r>
            <a:r>
              <a:rPr lang="zh-CN" altLang="en-US"/>
              <a:t>抽取客观事实证据，找不到就填 </a:t>
            </a:r>
            <a:r>
              <a:rPr lang="en-US" altLang="zh-CN"/>
              <a:t>null</a:t>
            </a:r>
            <a:r>
              <a:rPr lang="zh-CN" altLang="en-US"/>
              <a:t>、绝不臆测、不下风险结论；风险判定完全交给 </a:t>
            </a:r>
            <a:r>
              <a:rPr lang="en-US" altLang="zh-CN"/>
              <a:t>Python </a:t>
            </a:r>
            <a:r>
              <a:rPr lang="zh-CN" altLang="en-US"/>
              <a:t>代码按法条硬阈值裁决，模棱两可的一律不标。打个比方：我们不问 </a:t>
            </a:r>
            <a:r>
              <a:rPr lang="en-US" altLang="zh-CN"/>
              <a:t>AI『</a:t>
            </a:r>
            <a:r>
              <a:rPr lang="zh-CN" altLang="en-US"/>
              <a:t>这条有没有风险</a:t>
            </a:r>
            <a:r>
              <a:rPr lang="en-US" altLang="zh-CN"/>
              <a:t>』</a:t>
            </a:r>
            <a:r>
              <a:rPr lang="zh-CN" altLang="en-US"/>
              <a:t>，只让它做笔录抽取事实，然后让代码当法官按阈值一锤定音。</a:t>
            </a:r>
            <a:r>
              <a:rPr lang="en-US" altLang="zh-CN"/>
              <a:t>AI </a:t>
            </a:r>
            <a:r>
              <a:rPr lang="zh-CN" altLang="en-US"/>
              <a:t>记错了，法官核对原文就能发现；</a:t>
            </a:r>
            <a:r>
              <a:rPr lang="en-US" altLang="zh-CN"/>
              <a:t>AI </a:t>
            </a:r>
            <a:r>
              <a:rPr lang="zh-CN" altLang="en-US"/>
              <a:t>判错了，没法核对。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CN"/>
              <a:t>【</a:t>
            </a:r>
            <a:r>
              <a:rPr lang="zh-CN" altLang="en-US"/>
              <a:t>建议 </a:t>
            </a:r>
            <a:r>
              <a:rPr lang="en-US" altLang="zh-CN"/>
              <a:t>55 </a:t>
            </a:r>
            <a:r>
              <a:rPr lang="zh-CN" altLang="en-US"/>
              <a:t>秒</a:t>
            </a:r>
            <a:r>
              <a:rPr lang="en-US" altLang="zh-CN"/>
              <a:t>】</a:t>
            </a:r>
          </a:p>
          <a:p>
            <a:r>
              <a:rPr lang="zh-CN" altLang="en-US"/>
              <a:t>这套架构不是拍脑袋想出来的，而是用数据迭代出来的。</a:t>
            </a:r>
            <a:r>
              <a:rPr lang="en-US" altLang="zh-CN"/>
              <a:t>v4 </a:t>
            </a:r>
            <a:r>
              <a:rPr lang="zh-CN" altLang="en-US"/>
              <a:t>让 </a:t>
            </a:r>
            <a:r>
              <a:rPr lang="en-US" altLang="zh-CN"/>
              <a:t>LLM </a:t>
            </a:r>
            <a:r>
              <a:rPr lang="zh-CN" altLang="en-US"/>
              <a:t>泛化 </a:t>
            </a:r>
            <a:r>
              <a:rPr lang="en-US" altLang="zh-CN"/>
              <a:t>Prompt </a:t>
            </a:r>
            <a:r>
              <a:rPr lang="zh-CN" altLang="en-US"/>
              <a:t>直接判风险，精准率只有 </a:t>
            </a:r>
            <a:r>
              <a:rPr lang="en-US" altLang="zh-CN"/>
              <a:t>24%</a:t>
            </a:r>
            <a:r>
              <a:rPr lang="zh-CN" altLang="en-US"/>
              <a:t>，过报了 </a:t>
            </a:r>
            <a:r>
              <a:rPr lang="en-US" altLang="zh-CN"/>
              <a:t>466 </a:t>
            </a:r>
            <a:r>
              <a:rPr lang="zh-CN" altLang="en-US"/>
              <a:t>条；</a:t>
            </a:r>
            <a:r>
              <a:rPr lang="en-US" altLang="zh-CN"/>
              <a:t>v5 </a:t>
            </a:r>
            <a:r>
              <a:rPr lang="zh-CN" altLang="en-US"/>
              <a:t>把阈值写进提示词，召回率反而被误杀到 </a:t>
            </a:r>
            <a:r>
              <a:rPr lang="en-US" altLang="zh-CN"/>
              <a:t>73.5%</a:t>
            </a:r>
            <a:r>
              <a:rPr lang="zh-CN" altLang="en-US"/>
              <a:t>；直到 </a:t>
            </a:r>
            <a:r>
              <a:rPr lang="en-US" altLang="zh-CN"/>
              <a:t>v6.4</a:t>
            </a:r>
            <a:r>
              <a:rPr lang="zh-CN" altLang="en-US"/>
              <a:t>，我们把「抽事实」和「裁决」解耦</a:t>
            </a:r>
            <a:r>
              <a:rPr lang="en-US" altLang="zh-CN"/>
              <a:t>——LLM </a:t>
            </a:r>
            <a:r>
              <a:rPr lang="zh-CN" altLang="en-US"/>
              <a:t>只抽事实、代码按硬阈值裁决，精准率从 </a:t>
            </a:r>
            <a:r>
              <a:rPr lang="en-US" altLang="zh-CN"/>
              <a:t>24% </a:t>
            </a:r>
            <a:r>
              <a:rPr lang="zh-CN" altLang="en-US"/>
              <a:t>拉到 </a:t>
            </a:r>
            <a:r>
              <a:rPr lang="en-US" altLang="zh-CN"/>
              <a:t>76.6%</a:t>
            </a:r>
            <a:r>
              <a:rPr lang="zh-CN" altLang="en-US"/>
              <a:t>，同时召回率守住 </a:t>
            </a:r>
            <a:r>
              <a:rPr lang="en-US" altLang="zh-CN"/>
              <a:t>80.1%</a:t>
            </a:r>
            <a:r>
              <a:rPr lang="zh-CN" altLang="en-US"/>
              <a:t>，</a:t>
            </a:r>
            <a:r>
              <a:rPr lang="en-US" altLang="zh-CN"/>
              <a:t>F1 </a:t>
            </a:r>
            <a:r>
              <a:rPr lang="zh-CN" altLang="en-US"/>
              <a:t>达到 </a:t>
            </a:r>
            <a:r>
              <a:rPr lang="en-US" altLang="zh-CN"/>
              <a:t>78.3%</a:t>
            </a:r>
            <a:r>
              <a:rPr lang="zh-CN" altLang="en-US"/>
              <a:t>。结论很清楚：</a:t>
            </a:r>
            <a:r>
              <a:rPr lang="en-US" altLang="zh-CN"/>
              <a:t>LLM </a:t>
            </a:r>
            <a:r>
              <a:rPr lang="zh-CN" altLang="en-US"/>
              <a:t>擅长布尔和数值判断，但复杂枚举和嵌套规则应该交给代码。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CN"/>
              <a:t>【</a:t>
            </a:r>
            <a:r>
              <a:rPr lang="zh-CN" altLang="en-US"/>
              <a:t>建议 </a:t>
            </a:r>
            <a:r>
              <a:rPr lang="en-US" altLang="zh-CN"/>
              <a:t>50 </a:t>
            </a:r>
            <a:r>
              <a:rPr lang="zh-CN" altLang="en-US"/>
              <a:t>秒</a:t>
            </a:r>
            <a:r>
              <a:rPr lang="en-US" altLang="zh-CN"/>
              <a:t>】</a:t>
            </a:r>
          </a:p>
          <a:p>
            <a:r>
              <a:rPr lang="zh-CN" altLang="en-US"/>
              <a:t>方案一是智能分类与要素抽取。分类采用 </a:t>
            </a:r>
            <a:r>
              <a:rPr lang="en-US" altLang="zh-CN"/>
              <a:t>RAG </a:t>
            </a:r>
            <a:r>
              <a:rPr lang="zh-CN" altLang="en-US"/>
              <a:t>少样本检索加 </a:t>
            </a:r>
            <a:r>
              <a:rPr lang="en-US" altLang="zh-CN"/>
              <a:t>LLM </a:t>
            </a:r>
            <a:r>
              <a:rPr lang="zh-CN" altLang="en-US"/>
              <a:t>法理推理，输出两个正交维度：</a:t>
            </a:r>
            <a:r>
              <a:rPr lang="en-US" altLang="zh-CN"/>
              <a:t>11 </a:t>
            </a:r>
            <a:r>
              <a:rPr lang="zh-CN" altLang="en-US"/>
              <a:t>类法理分类加上「服务外包」业务标签。为对抗长合同的中间信息丢失，我们做分块采样加多数投票，分类准确率达到 </a:t>
            </a:r>
            <a:r>
              <a:rPr lang="en-US" altLang="zh-CN"/>
              <a:t>98.6%</a:t>
            </a:r>
            <a:r>
              <a:rPr lang="zh-CN" altLang="en-US"/>
              <a:t>。要素抽取用 </a:t>
            </a:r>
            <a:r>
              <a:rPr lang="en-US" altLang="zh-CN"/>
              <a:t>JSON Schema </a:t>
            </a:r>
            <a:r>
              <a:rPr lang="zh-CN" altLang="en-US"/>
              <a:t>约束加 </a:t>
            </a:r>
            <a:r>
              <a:rPr lang="en-US" altLang="zh-CN"/>
              <a:t>Few-shot</a:t>
            </a:r>
            <a:r>
              <a:rPr lang="zh-CN" altLang="en-US"/>
              <a:t>，抽取双方、金额、日期、期限、争议解决等字段，长合同分块并行、按非空优先合并，加权综合 </a:t>
            </a:r>
            <a:r>
              <a:rPr lang="en-US" altLang="zh-CN"/>
              <a:t>F1 </a:t>
            </a:r>
            <a:r>
              <a:rPr lang="zh-CN" altLang="en-US"/>
              <a:t>达到 </a:t>
            </a:r>
            <a:r>
              <a:rPr lang="en-US" altLang="zh-CN"/>
              <a:t>93.7%</a:t>
            </a:r>
            <a:r>
              <a:rPr lang="zh-CN" altLang="en-US"/>
              <a:t>。右边这个位置我放合同详情页的截图，展示要素抽取的结构化结果。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CN"/>
              <a:t>【</a:t>
            </a:r>
            <a:r>
              <a:rPr lang="zh-CN" altLang="en-US"/>
              <a:t>建议 </a:t>
            </a:r>
            <a:r>
              <a:rPr lang="en-US" altLang="zh-CN"/>
              <a:t>55 </a:t>
            </a:r>
            <a:r>
              <a:rPr lang="zh-CN" altLang="en-US"/>
              <a:t>秒</a:t>
            </a:r>
            <a:r>
              <a:rPr lang="en-US" altLang="zh-CN"/>
              <a:t>】</a:t>
            </a:r>
          </a:p>
          <a:p>
            <a:r>
              <a:rPr lang="zh-CN" altLang="en-US"/>
              <a:t>方案二是证据驱动的确定性风险识别，覆盖 </a:t>
            </a:r>
            <a:r>
              <a:rPr lang="en-US" altLang="zh-CN"/>
              <a:t>13 </a:t>
            </a:r>
            <a:r>
              <a:rPr lang="zh-CN" altLang="en-US"/>
              <a:t>类风险。分三层：第一层规则召回，用确定性正则先扫一遍，是 </a:t>
            </a:r>
            <a:r>
              <a:rPr lang="en-US" altLang="zh-CN"/>
              <a:t>fast </a:t>
            </a:r>
            <a:r>
              <a:rPr lang="zh-CN" altLang="en-US"/>
              <a:t>基线和 </a:t>
            </a:r>
            <a:r>
              <a:rPr lang="en-US" altLang="zh-CN"/>
              <a:t>precise </a:t>
            </a:r>
            <a:r>
              <a:rPr lang="zh-CN" altLang="en-US"/>
              <a:t>的兜底；第二层证据裁决，</a:t>
            </a:r>
            <a:r>
              <a:rPr lang="en-US" altLang="zh-CN"/>
              <a:t>LLM </a:t>
            </a:r>
            <a:r>
              <a:rPr lang="zh-CN" altLang="en-US"/>
              <a:t>抽取事实、代码按硬阈值裁决；第三层建议层，按法条编号精确取条文再生成修改建议，并做 </a:t>
            </a:r>
            <a:r>
              <a:rPr lang="en-US" altLang="zh-CN"/>
              <a:t>grounding </a:t>
            </a:r>
            <a:r>
              <a:rPr lang="zh-CN" altLang="en-US"/>
              <a:t>校验。这 </a:t>
            </a:r>
            <a:r>
              <a:rPr lang="en-US" altLang="zh-CN"/>
              <a:t>13 </a:t>
            </a:r>
            <a:r>
              <a:rPr lang="zh-CN" altLang="en-US"/>
              <a:t>类风险是专门面向 </a:t>
            </a:r>
            <a:r>
              <a:rPr lang="en-US" altLang="zh-CN"/>
              <a:t>IT </a:t>
            </a:r>
            <a:r>
              <a:rPr lang="zh-CN" altLang="en-US"/>
              <a:t>服务和金融科技行业设计的，比如 </a:t>
            </a:r>
            <a:r>
              <a:rPr lang="en-US" altLang="zh-CN"/>
              <a:t>SLA </a:t>
            </a:r>
            <a:r>
              <a:rPr lang="zh-CN" altLang="en-US"/>
              <a:t>罚则、数据导出销毁、</a:t>
            </a:r>
            <a:r>
              <a:rPr lang="en-US" altLang="zh-CN"/>
              <a:t>IP </a:t>
            </a:r>
            <a:r>
              <a:rPr lang="zh-CN" altLang="en-US"/>
              <a:t>归属、源代码托管义务，直接匹配网新恒天的业务场景。每一条风险都能追溯到「抽了什么事实、按哪条阈值裁决、依据哪条法条、怎么改」。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CN"/>
              <a:t>【</a:t>
            </a:r>
            <a:r>
              <a:rPr lang="zh-CN" altLang="en-US"/>
              <a:t>建议 </a:t>
            </a:r>
            <a:r>
              <a:rPr lang="en-US" altLang="zh-CN"/>
              <a:t>45 </a:t>
            </a:r>
            <a:r>
              <a:rPr lang="zh-CN" altLang="en-US"/>
              <a:t>秒</a:t>
            </a:r>
            <a:r>
              <a:rPr lang="en-US" altLang="zh-CN"/>
              <a:t>】</a:t>
            </a:r>
          </a:p>
          <a:p>
            <a:r>
              <a:rPr lang="zh-CN" altLang="en-US"/>
              <a:t>方案三是标准条款比对与缺失检测。传统的关键词匹配无法应对条款标题表述各异、顺序重排、内容拆分合并的问题。我们采用三步：先按合同类型做结构化过滤，再让 </a:t>
            </a:r>
            <a:r>
              <a:rPr lang="en-US" altLang="zh-CN"/>
              <a:t>LLM </a:t>
            </a:r>
            <a:r>
              <a:rPr lang="zh-CN" altLang="en-US"/>
              <a:t>逐条判定覆盖、部分覆盖还是缺失，最后用图分析检测跨条款联动风险。这里有两个典型例子：前置依赖</a:t>
            </a:r>
            <a:r>
              <a:rPr lang="en-US" altLang="zh-CN"/>
              <a:t>——</a:t>
            </a:r>
            <a:r>
              <a:rPr lang="zh-CN" altLang="en-US"/>
              <a:t>如果缺失了验收标准条款，下游付款条款的验收节点就会失效；互斥冲突</a:t>
            </a:r>
            <a:r>
              <a:rPr lang="en-US" altLang="zh-CN"/>
              <a:t>——</a:t>
            </a:r>
            <a:r>
              <a:rPr lang="zh-CN" altLang="en-US"/>
              <a:t>争议解决约定北京仲裁、管辖条款却约定杭州法院，两者同时存在就报警。对缺失条款，我们不仅提示缺了什么，还直接给出可用的补全文本。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CN"/>
              <a:t>【</a:t>
            </a:r>
            <a:r>
              <a:rPr lang="zh-CN" altLang="en-US"/>
              <a:t>建议 </a:t>
            </a:r>
            <a:r>
              <a:rPr lang="en-US" altLang="zh-CN"/>
              <a:t>45 </a:t>
            </a:r>
            <a:r>
              <a:rPr lang="zh-CN" altLang="en-US"/>
              <a:t>秒</a:t>
            </a:r>
            <a:r>
              <a:rPr lang="en-US" altLang="zh-CN"/>
              <a:t>】</a:t>
            </a:r>
          </a:p>
          <a:p>
            <a:r>
              <a:rPr lang="zh-CN" altLang="en-US"/>
              <a:t>方案四是反馈闭环和报告生成。法务可以对每条 </a:t>
            </a:r>
            <a:r>
              <a:rPr lang="en-US" altLang="zh-CN"/>
              <a:t>AI </a:t>
            </a:r>
            <a:r>
              <a:rPr lang="zh-CN" altLang="en-US"/>
              <a:t>标注做三种操作：确认正确、标记错误、手动补充，反馈先以 </a:t>
            </a:r>
            <a:r>
              <a:rPr lang="en-US" altLang="zh-CN"/>
              <a:t>pending </a:t>
            </a:r>
            <a:r>
              <a:rPr lang="zh-CN" altLang="en-US"/>
              <a:t>状态留痕在 </a:t>
            </a:r>
            <a:r>
              <a:rPr lang="en-US" altLang="zh-CN"/>
              <a:t>feedback_logs</a:t>
            </a:r>
            <a:r>
              <a:rPr lang="zh-CN" altLang="en-US"/>
              <a:t>，经 </a:t>
            </a:r>
            <a:r>
              <a:rPr lang="en-US" altLang="zh-CN"/>
              <a:t>reviewer </a:t>
            </a:r>
            <a:r>
              <a:rPr lang="zh-CN" altLang="en-US"/>
              <a:t>审核、</a:t>
            </a:r>
            <a:r>
              <a:rPr lang="en-US" altLang="zh-CN"/>
              <a:t>admin </a:t>
            </a:r>
            <a:r>
              <a:rPr lang="zh-CN" altLang="en-US"/>
              <a:t>批准后才沉淀为 </a:t>
            </a:r>
            <a:r>
              <a:rPr lang="en-US" altLang="zh-CN"/>
              <a:t>feedback_experiences </a:t>
            </a:r>
            <a:r>
              <a:rPr lang="zh-CN" altLang="en-US"/>
              <a:t>风险经验，进入独立向量库供后续审核检索参考</a:t>
            </a:r>
            <a:r>
              <a:rPr lang="en-US" altLang="zh-CN"/>
              <a:t>——</a:t>
            </a:r>
            <a:r>
              <a:rPr lang="zh-CN" altLang="en-US"/>
              <a:t>这不是模型微调，而且该能力默认关闭、当前正式库中反馈数据为 </a:t>
            </a:r>
            <a:r>
              <a:rPr lang="en-US" altLang="zh-CN"/>
              <a:t>0 </a:t>
            </a:r>
            <a:r>
              <a:rPr lang="zh-CN" altLang="en-US"/>
              <a:t>条。这里有个重要的设计取舍</a:t>
            </a:r>
            <a:r>
              <a:rPr lang="en-US" altLang="zh-CN"/>
              <a:t>——</a:t>
            </a:r>
            <a:r>
              <a:rPr lang="zh-CN" altLang="en-US"/>
              <a:t>法律审核要求结果稳定可追溯，所以反馈不即时改变结论，而是版本化沉淀、支持回滚，避免过度承诺实时自适应。报告侧输出四大区块：基本信息、风险评估总览、风险条款逐项分析、条款完整性检查，其中风险热力图把每一页的风险密度映射成颜色，这是我们区别于命令行和纯文本输出的核心体验优势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CN"/>
              <a:t>【</a:t>
            </a:r>
            <a:r>
              <a:rPr lang="zh-CN" altLang="en-US"/>
              <a:t>建议 </a:t>
            </a:r>
            <a:r>
              <a:rPr lang="en-US" altLang="zh-CN"/>
              <a:t>45 </a:t>
            </a:r>
            <a:r>
              <a:rPr lang="zh-CN" altLang="en-US"/>
              <a:t>秒</a:t>
            </a:r>
            <a:r>
              <a:rPr lang="en-US" altLang="zh-CN"/>
              <a:t>】</a:t>
            </a:r>
          </a:p>
          <a:p>
            <a:r>
              <a:rPr lang="zh-CN" altLang="en-US"/>
              <a:t>在产品体验上，我们做了「看到风险、一键跳转、理解判断」三步闭环。上传合同后约 </a:t>
            </a:r>
            <a:r>
              <a:rPr lang="en-US" altLang="zh-CN"/>
              <a:t>30 </a:t>
            </a:r>
            <a:r>
              <a:rPr lang="zh-CN" altLang="en-US"/>
              <a:t>秒出风险热力图，红色区域一眼就能看到风险集中在哪几页；点击任意一条审核结果，右侧原文面板自动滚动到对应条款并高亮；每一条风险都附带完整的证据链、裁决依据、法条和修改建议，</a:t>
            </a:r>
            <a:r>
              <a:rPr lang="en-US" altLang="zh-CN"/>
              <a:t>AI </a:t>
            </a:r>
            <a:r>
              <a:rPr lang="zh-CN" altLang="en-US"/>
              <a:t>的判断逻辑完全可追溯。这里我放两张截图</a:t>
            </a:r>
            <a:r>
              <a:rPr lang="en-US" altLang="zh-CN"/>
              <a:t>——</a:t>
            </a:r>
            <a:r>
              <a:rPr lang="zh-CN" altLang="en-US"/>
              <a:t>左边是报告页的风险热力图，右边是审核结果详情页的原文高亮定位。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CN"/>
              <a:t>【</a:t>
            </a:r>
            <a:r>
              <a:rPr lang="zh-CN" altLang="en-US"/>
              <a:t>建议 </a:t>
            </a:r>
            <a:r>
              <a:rPr lang="en-US" altLang="zh-CN"/>
              <a:t>45 </a:t>
            </a:r>
            <a:r>
              <a:rPr lang="zh-CN" altLang="en-US"/>
              <a:t>秒</a:t>
            </a:r>
            <a:r>
              <a:rPr lang="en-US" altLang="zh-CN"/>
              <a:t>】</a:t>
            </a:r>
          </a:p>
          <a:p>
            <a:r>
              <a:rPr lang="zh-CN" altLang="en-US"/>
              <a:t>在创新亮点上，赛题第 </a:t>
            </a:r>
            <a:r>
              <a:rPr lang="en-US" altLang="zh-CN"/>
              <a:t>7 </a:t>
            </a:r>
            <a:r>
              <a:rPr lang="zh-CN" altLang="en-US"/>
              <a:t>节明确鼓励三个方向，我们全部落地。多轮对话式合同修改采用 </a:t>
            </a:r>
            <a:r>
              <a:rPr lang="en-US" altLang="zh-CN"/>
              <a:t>Leader–Follower </a:t>
            </a:r>
            <a:r>
              <a:rPr lang="zh-CN" altLang="en-US"/>
              <a:t>修订流程：</a:t>
            </a:r>
            <a:r>
              <a:rPr lang="en-US" altLang="zh-CN"/>
              <a:t>Leader </a:t>
            </a:r>
            <a:r>
              <a:rPr lang="zh-CN" altLang="en-US"/>
              <a:t>生成草案、</a:t>
            </a:r>
            <a:r>
              <a:rPr lang="en-US" altLang="zh-CN"/>
              <a:t>Follower </a:t>
            </a:r>
            <a:r>
              <a:rPr lang="zh-CN" altLang="en-US"/>
              <a:t>从法务角度审校，位置由用户确认、采用态由用户点击；知识图谱跨条款关联分析用 </a:t>
            </a:r>
            <a:r>
              <a:rPr lang="en-US" altLang="zh-CN"/>
              <a:t>depends_on </a:t>
            </a:r>
            <a:r>
              <a:rPr lang="zh-CN" altLang="en-US"/>
              <a:t>和 </a:t>
            </a:r>
            <a:r>
              <a:rPr lang="en-US" altLang="zh-CN"/>
              <a:t>conflict_with </a:t>
            </a:r>
            <a:r>
              <a:rPr lang="zh-CN" altLang="en-US"/>
              <a:t>图论字段检测联动风险；印章签名区域定位集成了 </a:t>
            </a:r>
            <a:r>
              <a:rPr lang="en-US" altLang="zh-CN"/>
              <a:t>PaddleOCR</a:t>
            </a:r>
            <a:r>
              <a:rPr lang="zh-CN" altLang="en-US"/>
              <a:t>。同时我们参考了多篇前沿论文，关键思想逐一落地</a:t>
            </a:r>
            <a:r>
              <a:rPr lang="en-US" altLang="zh-CN"/>
              <a:t>——Self-Consistency </a:t>
            </a:r>
            <a:r>
              <a:rPr lang="zh-CN" altLang="en-US"/>
              <a:t>的多数投票、</a:t>
            </a:r>
            <a:r>
              <a:rPr lang="en-US" altLang="zh-CN"/>
              <a:t>KATE </a:t>
            </a:r>
            <a:r>
              <a:rPr lang="zh-CN" altLang="en-US"/>
              <a:t>的 </a:t>
            </a:r>
            <a:r>
              <a:rPr lang="en-US" altLang="zh-CN"/>
              <a:t>kNN </a:t>
            </a:r>
            <a:r>
              <a:rPr lang="zh-CN" altLang="en-US"/>
              <a:t>检索少样本、</a:t>
            </a:r>
            <a:r>
              <a:rPr lang="en-US" altLang="zh-CN"/>
              <a:t>Lost-in-the-Middle </a:t>
            </a:r>
            <a:r>
              <a:rPr lang="zh-CN" altLang="en-US"/>
              <a:t>的首尾块处理、</a:t>
            </a:r>
            <a:r>
              <a:rPr lang="en-US" altLang="zh-CN"/>
              <a:t>RAG </a:t>
            </a:r>
            <a:r>
              <a:rPr lang="zh-CN" altLang="en-US"/>
              <a:t>的可溯源 </a:t>
            </a:r>
            <a:r>
              <a:rPr lang="en-US" altLang="zh-CN"/>
              <a:t>grounding </a:t>
            </a:r>
            <a:r>
              <a:rPr lang="zh-CN" altLang="en-US"/>
              <a:t>等，未落地的如实标注，不夸大。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CN"/>
              <a:t>【</a:t>
            </a:r>
            <a:r>
              <a:rPr lang="zh-CN" altLang="en-US"/>
              <a:t>建议 </a:t>
            </a:r>
            <a:r>
              <a:rPr lang="en-US" altLang="zh-CN"/>
              <a:t>35 </a:t>
            </a:r>
            <a:r>
              <a:rPr lang="zh-CN" altLang="en-US"/>
              <a:t>秒</a:t>
            </a:r>
            <a:r>
              <a:rPr lang="en-US" altLang="zh-CN"/>
              <a:t>】</a:t>
            </a:r>
          </a:p>
          <a:p>
            <a:r>
              <a:rPr lang="zh-CN" altLang="en-US"/>
              <a:t>在数据安全和企业适配上，合同是核心商业机密，所以我们的原则是数据本地处理、支持纯规则降级。云端调用前自动脱敏</a:t>
            </a:r>
            <a:r>
              <a:rPr lang="en-US" altLang="zh-CN"/>
              <a:t>——</a:t>
            </a:r>
            <a:r>
              <a:rPr lang="zh-CN" altLang="en-US"/>
              <a:t>公司名替换成甲乙双方、金额替换成 </a:t>
            </a:r>
            <a:r>
              <a:rPr lang="en-US" altLang="zh-CN"/>
              <a:t>XX </a:t>
            </a:r>
            <a:r>
              <a:rPr lang="zh-CN" altLang="en-US"/>
              <a:t>万元，只传条款片段、不传整份合同；无网络或用户拒绝调用 </a:t>
            </a:r>
            <a:r>
              <a:rPr lang="en-US" altLang="zh-CN"/>
              <a:t>LLM </a:t>
            </a:r>
            <a:r>
              <a:rPr lang="zh-CN" altLang="en-US"/>
              <a:t>时自动降级为纯规则引擎模式。部署上提供 </a:t>
            </a:r>
            <a:r>
              <a:rPr lang="en-US" altLang="zh-CN"/>
              <a:t>Docker Compose </a:t>
            </a:r>
            <a:r>
              <a:rPr lang="zh-CN" altLang="en-US"/>
              <a:t>两服务编排（</a:t>
            </a:r>
            <a:r>
              <a:rPr lang="en-US" altLang="zh-CN"/>
              <a:t>api + web</a:t>
            </a:r>
            <a:r>
              <a:rPr lang="zh-CN" altLang="en-US"/>
              <a:t>）；</a:t>
            </a:r>
            <a:r>
              <a:rPr lang="en-US" altLang="zh-CN"/>
              <a:t>Docker </a:t>
            </a:r>
            <a:r>
              <a:rPr lang="zh-CN" altLang="en-US"/>
              <a:t>配置已完成，尚未实测；也支持切换本地开源模型做私有化部署，数据不出内网；并预留了企业 </a:t>
            </a:r>
            <a:r>
              <a:rPr lang="en-US" altLang="zh-CN"/>
              <a:t>OA </a:t>
            </a:r>
            <a:r>
              <a:rPr lang="zh-CN" altLang="en-US"/>
              <a:t>对接、</a:t>
            </a:r>
            <a:r>
              <a:rPr lang="en-US" altLang="zh-CN"/>
              <a:t>SSO </a:t>
            </a:r>
            <a:r>
              <a:rPr lang="zh-CN" altLang="en-US"/>
              <a:t>单点登录、知识库 </a:t>
            </a:r>
            <a:r>
              <a:rPr lang="en-US" altLang="zh-CN"/>
              <a:t>Provider </a:t>
            </a:r>
            <a:r>
              <a:rPr lang="zh-CN" altLang="en-US"/>
              <a:t>等集成接口。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CN"/>
              <a:t>【</a:t>
            </a:r>
            <a:r>
              <a:rPr lang="zh-CN" altLang="en-US"/>
              <a:t>建议 </a:t>
            </a:r>
            <a:r>
              <a:rPr lang="en-US" altLang="zh-CN"/>
              <a:t>25 </a:t>
            </a:r>
            <a:r>
              <a:rPr lang="zh-CN" altLang="en-US"/>
              <a:t>秒</a:t>
            </a:r>
            <a:r>
              <a:rPr lang="en-US" altLang="zh-CN"/>
              <a:t>】</a:t>
            </a:r>
          </a:p>
          <a:p>
            <a:r>
              <a:rPr lang="zh-CN" altLang="en-US"/>
              <a:t>开发按线下设计、线上开发、评测冲刺三阶段推进，现在已全部交付。</a:t>
            </a:r>
            <a:r>
              <a:rPr lang="en-US" altLang="zh-CN"/>
              <a:t>P0 </a:t>
            </a:r>
            <a:r>
              <a:rPr lang="zh-CN" altLang="en-US"/>
              <a:t>的核心流程</a:t>
            </a:r>
            <a:r>
              <a:rPr lang="en-US" altLang="zh-CN"/>
              <a:t>——</a:t>
            </a:r>
            <a:r>
              <a:rPr lang="zh-CN" altLang="en-US"/>
              <a:t>上传、解析、分类、要素抽取、规则召回、证据裁决、建议层、条款比对、报告</a:t>
            </a:r>
            <a:r>
              <a:rPr lang="en-US" altLang="zh-CN"/>
              <a:t>——</a:t>
            </a:r>
            <a:r>
              <a:rPr lang="zh-CN" altLang="en-US"/>
              <a:t>全部跑通。同时我们为 </a:t>
            </a:r>
            <a:r>
              <a:rPr lang="en-US" altLang="zh-CN"/>
              <a:t>V2.0 </a:t>
            </a:r>
            <a:r>
              <a:rPr lang="zh-CN" altLang="en-US"/>
              <a:t>规划了自定义规则引擎、合同版本对比、企业知识库管理、</a:t>
            </a:r>
            <a:r>
              <a:rPr lang="en-US" altLang="zh-CN"/>
              <a:t>RBAC </a:t>
            </a:r>
            <a:r>
              <a:rPr lang="zh-CN" altLang="en-US"/>
              <a:t>三级权限、知识图谱可视化等功能，这些已完成需求分析和概要设计。</a:t>
            </a:r>
            <a:r>
              <a:rPr lang="en-US" altLang="zh-CN"/>
              <a:t>V2.0 </a:t>
            </a:r>
            <a:r>
              <a:rPr lang="zh-CN" altLang="en-US"/>
              <a:t>的定位是想说明，这个项目有清晰的演进路径，不是做完就扔。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CN"/>
              <a:t>【</a:t>
            </a:r>
            <a:r>
              <a:rPr lang="zh-CN" altLang="en-US"/>
              <a:t>建议 </a:t>
            </a:r>
            <a:r>
              <a:rPr lang="en-US" altLang="zh-CN"/>
              <a:t>35 </a:t>
            </a:r>
            <a:r>
              <a:rPr lang="zh-CN" altLang="en-US"/>
              <a:t>秒</a:t>
            </a:r>
            <a:r>
              <a:rPr lang="en-US" altLang="zh-CN"/>
              <a:t>】</a:t>
            </a:r>
          </a:p>
          <a:p>
            <a:r>
              <a:rPr lang="zh-CN" altLang="en-US"/>
              <a:t>最后总结三点。第一，赛题三大硬指标全部达标、分类和要素更是大幅超额；第二，我们的核心创新是证据</a:t>
            </a:r>
            <a:r>
              <a:rPr lang="en-US" altLang="zh-CN"/>
              <a:t>-</a:t>
            </a:r>
            <a:r>
              <a:rPr lang="zh-CN" altLang="en-US"/>
              <a:t>裁决解耦，用「</a:t>
            </a:r>
            <a:r>
              <a:rPr lang="en-US" altLang="zh-CN"/>
              <a:t>LLM </a:t>
            </a:r>
            <a:r>
              <a:rPr lang="zh-CN" altLang="en-US"/>
              <a:t>抽事实 </a:t>
            </a:r>
            <a:r>
              <a:rPr lang="en-US" altLang="zh-CN"/>
              <a:t>+ </a:t>
            </a:r>
            <a:r>
              <a:rPr lang="zh-CN" altLang="en-US"/>
              <a:t>代码确定性裁决」根治大模型的幻觉和不确定性，把精准率从 </a:t>
            </a:r>
            <a:r>
              <a:rPr lang="en-US" altLang="zh-CN"/>
              <a:t>24% </a:t>
            </a:r>
            <a:r>
              <a:rPr lang="zh-CN" altLang="en-US"/>
              <a:t>做到 </a:t>
            </a:r>
            <a:r>
              <a:rPr lang="en-US" altLang="zh-CN"/>
              <a:t>76.6%</a:t>
            </a:r>
            <a:r>
              <a:rPr lang="zh-CN" altLang="en-US"/>
              <a:t>；第三，我们交付的是一个从上传到报告的完整工程闭环，</a:t>
            </a:r>
            <a:r>
              <a:rPr lang="en-US" altLang="zh-CN"/>
              <a:t>prepare.bat + start.bat </a:t>
            </a:r>
            <a:r>
              <a:rPr lang="zh-CN" altLang="en-US"/>
              <a:t>本地一键启动，可复现可审计。我们的价值主张是：把法务从逐条比对中解放出来，</a:t>
            </a:r>
            <a:r>
              <a:rPr lang="en-US" altLang="zh-CN"/>
              <a:t>5 </a:t>
            </a:r>
            <a:r>
              <a:rPr lang="zh-CN" altLang="en-US"/>
              <a:t>分钟完成一份百页合同的全面审核</a:t>
            </a:r>
            <a:r>
              <a:rPr lang="en-US" altLang="zh-CN"/>
              <a:t>——</a:t>
            </a:r>
            <a:r>
              <a:rPr lang="zh-CN" altLang="en-US"/>
              <a:t>不只是找风险，更是沉淀企业法务知识资产。感谢各位评委老师，请批评指正。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326880" y="-1097280"/>
            <a:ext cx="4206240" cy="4206240"/>
          </a:xfrm>
          <a:prstGeom prst="ellipse">
            <a:avLst/>
          </a:prstGeom>
          <a:solidFill>
            <a:srgbClr val="102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058400" y="4206240"/>
            <a:ext cx="3108960" cy="3108960"/>
          </a:xfrm>
          <a:prstGeom prst="ellipse">
            <a:avLst/>
          </a:prstGeom>
          <a:solidFill>
            <a:srgbClr val="122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1280160" y="5120640"/>
            <a:ext cx="2743200" cy="2743200"/>
          </a:xfrm>
          <a:prstGeom prst="ellipse">
            <a:avLst/>
          </a:prstGeom>
          <a:solidFill>
            <a:srgbClr val="102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685800"/>
            <a:ext cx="2377440" cy="402336"/>
          </a:xfrm>
          <a:prstGeom prst="roundRect">
            <a:avLst>
              <a:gd name="adj" fmla="val 50000"/>
            </a:avLst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答辩汇报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5156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基于大模型的企业合同</a:t>
            </a:r>
          </a:p>
          <a:p>
            <a:pPr algn="l"/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智能审核与风险预警系统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DDE4F7"/>
                </a:solidFill>
                <a:latin typeface="微软雅黑"/>
                <a:ea typeface="微软雅黑"/>
                <a:cs typeface="微软雅黑"/>
              </a:rPr>
              <a:t>SmartContract Auditor  ·  AI 原生 · 人机协同审核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343400"/>
            <a:ext cx="502920" cy="82296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4846320"/>
            <a:ext cx="105156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DDE4F7"/>
                </a:solidFill>
                <a:latin typeface="微软雅黑"/>
                <a:ea typeface="微软雅黑"/>
                <a:cs typeface="微软雅黑"/>
              </a:rPr>
              <a:t>命题企业：浙江网新恒天软件有限公司（Insigma Hengtian）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DDE4F7"/>
                </a:solidFill>
                <a:latin typeface="微软雅黑"/>
                <a:ea typeface="微软雅黑"/>
                <a:cs typeface="微软雅黑"/>
              </a:rPr>
              <a:t>参赛团队：海底喵喵队     ·     技术栈：Vue 3 + FastAPI + DeepSeek + ChromaDB</a:t>
            </a:r>
          </a:p>
          <a:p>
            <a:pPr algn="l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把法务从逐条比对中解放出来——5 分钟完成一份百页合同的全面审核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93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329184"/>
            <a:ext cx="87782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汇报提纲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457200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A24 · 合同智能审核系统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F5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68680" y="1618488"/>
            <a:ext cx="603504" cy="603504"/>
          </a:xfrm>
          <a:prstGeom prst="ellipse">
            <a:avLst/>
          </a:prstGeom>
          <a:solidFill>
            <a:srgbClr val="193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39" y="1435608"/>
            <a:ext cx="4114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项目背景与痛点</a:t>
            </a:r>
          </a:p>
          <a:p>
            <a:pPr algn="l"/>
            <a:r>
              <a:rPr sz="115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为什么法务需要 AI 合同审核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234440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F5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92240" y="1618488"/>
            <a:ext cx="603504" cy="603504"/>
          </a:xfrm>
          <a:prstGeom prst="ellipse">
            <a:avLst/>
          </a:prstGeom>
          <a:solidFill>
            <a:srgbClr val="193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435608"/>
            <a:ext cx="4114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赛题达标总览</a:t>
            </a:r>
          </a:p>
          <a:p>
            <a:pPr algn="l"/>
            <a:r>
              <a:rPr sz="115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三大硬指标全部超额完成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834640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F5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68680" y="3218688"/>
            <a:ext cx="603504" cy="603504"/>
          </a:xfrm>
          <a:prstGeom prst="ellipse">
            <a:avLst/>
          </a:prstGeom>
          <a:solidFill>
            <a:srgbClr val="193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39" y="3035808"/>
            <a:ext cx="4114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系统架构与审核链路</a:t>
            </a:r>
          </a:p>
          <a:p>
            <a:pPr algn="l"/>
            <a:r>
              <a:rPr sz="115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四层架构 · 全流程闭环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834640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F5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492240" y="3218688"/>
            <a:ext cx="603504" cy="603504"/>
          </a:xfrm>
          <a:prstGeom prst="ellipse">
            <a:avLst/>
          </a:prstGeom>
          <a:solidFill>
            <a:srgbClr val="193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3035808"/>
            <a:ext cx="4114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四大核心技术方案</a:t>
            </a:r>
          </a:p>
          <a:p>
            <a:pPr algn="l"/>
            <a:r>
              <a:rPr sz="115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分类 · 风险识别 · 条款比对 · 报告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434840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F5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68680" y="4818888"/>
            <a:ext cx="603504" cy="603504"/>
          </a:xfrm>
          <a:prstGeom prst="ellipse">
            <a:avLst/>
          </a:prstGeom>
          <a:solidFill>
            <a:srgbClr val="193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39" y="4636007"/>
            <a:ext cx="4114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核心创新：证据-裁决解耦</a:t>
            </a:r>
          </a:p>
          <a:p>
            <a:pPr algn="l"/>
            <a:r>
              <a:rPr sz="115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从 24% 到 76.6% 的精准率跃迁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4434840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F5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92240" y="4818888"/>
            <a:ext cx="603504" cy="603504"/>
          </a:xfrm>
          <a:prstGeom prst="ellipse">
            <a:avLst/>
          </a:prstGeom>
          <a:solidFill>
            <a:srgbClr val="193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636007"/>
            <a:ext cx="4114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创新亮点与工程落地</a:t>
            </a:r>
          </a:p>
          <a:p>
            <a:pPr algn="l"/>
            <a:r>
              <a:rPr sz="115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体验 · 安全 · 未来规划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SmartContract Auditor · 海底喵喵队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93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329184"/>
            <a:ext cx="87782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项目背景与痛点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457200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需求分析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5577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法务每天都在面对什么？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5577840" cy="1207008"/>
          </a:xfrm>
          <a:prstGeom prst="roundRect">
            <a:avLst>
              <a:gd name="adj" fmla="val 10000"/>
            </a:avLst>
          </a:prstGeom>
          <a:solidFill>
            <a:srgbClr val="F8FAFF"/>
          </a:solidFill>
          <a:ln w="12700">
            <a:solidFill>
              <a:srgbClr val="C7D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1874520"/>
            <a:ext cx="109728" cy="841248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801368"/>
            <a:ext cx="49377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 i="0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逐条人工审核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一份技术外包合同几十上百页，逐条核对违约金、保密、IP、SLA……机械劳动占审核总时间 30% 以上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063240"/>
            <a:ext cx="5577840" cy="1207008"/>
          </a:xfrm>
          <a:prstGeom prst="roundRect">
            <a:avLst>
              <a:gd name="adj" fmla="val 10000"/>
            </a:avLst>
          </a:prstGeom>
          <a:solidFill>
            <a:srgbClr val="F8FAFF"/>
          </a:solidFill>
          <a:ln w="12700">
            <a:solidFill>
              <a:srgbClr val="C7D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3246120"/>
            <a:ext cx="109728" cy="841248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3172968"/>
            <a:ext cx="49377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 i="0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行业特有风险难覆盖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IT 服务行业关注 SLA 罚则、数据导出销毁、源代码托管、IP 归属——通用经验无法照搬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34840"/>
            <a:ext cx="5577840" cy="1207008"/>
          </a:xfrm>
          <a:prstGeom prst="roundRect">
            <a:avLst>
              <a:gd name="adj" fmla="val 10000"/>
            </a:avLst>
          </a:prstGeom>
          <a:solidFill>
            <a:srgbClr val="F8FAFF"/>
          </a:solidFill>
          <a:ln w="12700">
            <a:solidFill>
              <a:srgbClr val="C7D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" y="4617720"/>
            <a:ext cx="109728" cy="841248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4544568"/>
            <a:ext cx="49377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 i="0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知识沉淀在个人脑中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李律师休年假，接手同事完全不熟悉历史约定——经验随人走，无法传承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1188720"/>
            <a:ext cx="5029200" cy="2377440"/>
          </a:xfrm>
          <a:prstGeom prst="roundRect">
            <a:avLst>
              <a:gd name="adj" fmla="val 6000"/>
            </a:avLst>
          </a:prstGeom>
          <a:solidFill>
            <a:srgbClr val="193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Ins="182880" bIns="54864" rtlCol="0" anchor="ctr"/>
          <a:lstStyle/>
          <a:p>
            <a:pPr algn="ctr">
              <a:spcAft>
                <a:spcPts val="800"/>
              </a:spcAft>
            </a:pPr>
            <a:r>
              <a:rPr lang="zh-CN" altLang="en-US"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引入 </a:t>
            </a:r>
            <a:r>
              <a:rPr lang="en-US" altLang="zh-CN"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AI </a:t>
            </a:r>
            <a:r>
              <a:rPr lang="zh-CN" altLang="en-US"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辅助后</a:t>
            </a:r>
          </a:p>
          <a:p>
            <a:pPr algn="ctr">
              <a:spcAft>
                <a:spcPts val="800"/>
              </a:spcAft>
            </a:pPr>
            <a:r>
              <a:rPr lang="zh-CN" altLang="en-US"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单份审核耗时（实测）：解析</a:t>
            </a:r>
            <a:r>
              <a:rPr lang="en-US" altLang="zh-CN"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+</a:t>
            </a:r>
            <a:r>
              <a:rPr lang="zh-CN" altLang="en-US"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分类</a:t>
            </a:r>
            <a:r>
              <a:rPr lang="en-US" altLang="zh-CN"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+</a:t>
            </a:r>
            <a:r>
              <a:rPr lang="zh-CN" altLang="en-US"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要素约 </a:t>
            </a:r>
            <a:r>
              <a:rPr lang="en-US" altLang="zh-CN"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40 </a:t>
            </a:r>
            <a:r>
              <a:rPr lang="zh-CN" altLang="en-US"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秒，精细审核按合同长度分钟级</a:t>
            </a:r>
          </a:p>
          <a:p>
            <a:pPr algn="ctr">
              <a:spcAft>
                <a:spcPts val="800"/>
              </a:spcAft>
            </a:pPr>
            <a:r>
              <a:rPr lang="zh-CN" altLang="en-US"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审核结论：每条附证据链、法条依据、修改建议，可复述、可追溯</a:t>
            </a:r>
          </a:p>
          <a:p>
            <a:pPr algn="ctr">
              <a:spcAft>
                <a:spcPts val="800"/>
              </a:spcAft>
            </a:pPr>
            <a:r>
              <a:rPr lang="zh-CN" altLang="en-US"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知识沉淀：反馈经验留痕并可按流程沉淀入库（当前尚无真实反馈数据）</a:t>
            </a:r>
            <a:endParaRPr sz="1300" b="0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92240" y="3794760"/>
            <a:ext cx="5029200" cy="4754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lang="zh-CN" altLang="en-US" sz="130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一句话价值主张</a:t>
            </a:r>
          </a:p>
          <a:p>
            <a:pPr algn="l">
              <a:lnSpc>
                <a:spcPct val="120000"/>
              </a:lnSpc>
            </a:pPr>
            <a:endParaRPr sz="1250" b="0" i="1">
              <a:solidFill>
                <a:srgbClr val="2B2F3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SmartContract Auditor · 海底喵喵队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93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329184"/>
            <a:ext cx="87782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赛题达标总览：三大硬指标全部超额完成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457200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对标赛题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3520440" cy="2514600"/>
          </a:xfrm>
          <a:prstGeom prst="roundRect">
            <a:avLst>
              <a:gd name="adj" fmla="val 6000"/>
            </a:avLst>
          </a:prstGeom>
          <a:solidFill>
            <a:srgbClr val="F5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3520440" cy="128016"/>
          </a:xfrm>
          <a:prstGeom prst="rect">
            <a:avLst/>
          </a:prstGeom>
          <a:solidFill>
            <a:srgbClr val="193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63040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40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98.6%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合同分类准确率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24912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  <a:latin typeface="微软雅黑"/>
                <a:ea typeface="微软雅黑"/>
                <a:cs typeface="微软雅黑"/>
              </a:rPr>
              <a:t>赛题要求 ≥85% · 超额 13.6pp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0040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145/147 份正式测试集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234440"/>
            <a:ext cx="3520440" cy="2514600"/>
          </a:xfrm>
          <a:prstGeom prst="roundRect">
            <a:avLst>
              <a:gd name="adj" fmla="val 6000"/>
            </a:avLst>
          </a:prstGeom>
          <a:solidFill>
            <a:srgbClr val="F5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234440"/>
            <a:ext cx="3520440" cy="128016"/>
          </a:xfrm>
          <a:prstGeom prst="rect">
            <a:avLst/>
          </a:prstGeom>
          <a:solidFill>
            <a:srgbClr val="193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1463040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40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93.7%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33172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要素抽取 F1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724912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  <a:latin typeface="微软雅黑"/>
                <a:ea typeface="微软雅黑"/>
                <a:cs typeface="微软雅黑"/>
              </a:rPr>
              <a:t>赛题要求 ≥80% · 超额 13.7pp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20040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披露样本加权综合 F1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59" y="1234440"/>
            <a:ext cx="3520440" cy="2514600"/>
          </a:xfrm>
          <a:prstGeom prst="roundRect">
            <a:avLst>
              <a:gd name="adj" fmla="val 6000"/>
            </a:avLst>
          </a:prstGeom>
          <a:solidFill>
            <a:srgbClr val="F5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38159" y="1234440"/>
            <a:ext cx="3520440" cy="128016"/>
          </a:xfrm>
          <a:prstGeom prst="rect">
            <a:avLst/>
          </a:prstGeom>
          <a:solidFill>
            <a:srgbClr val="193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66759" y="1463040"/>
            <a:ext cx="3063240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40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80.1% /76.6%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59" y="233172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风险识别 召回/精准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9" y="2724912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  <a:latin typeface="微软雅黑"/>
                <a:ea typeface="微软雅黑"/>
                <a:cs typeface="微软雅黑"/>
              </a:rPr>
              <a:t>赛题要求双 ≥75%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59" y="320040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13 类风险 · 152 条 gold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977639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赛题强制要求 vs 实测结果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343400"/>
            <a:ext cx="10332720" cy="384048"/>
          </a:xfrm>
          <a:prstGeom prst="rect">
            <a:avLst/>
          </a:prstGeom>
          <a:solidFill>
            <a:srgbClr val="193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438912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指标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438912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赛题要求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43891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实测结果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773168"/>
            <a:ext cx="10332720" cy="420624"/>
          </a:xfrm>
          <a:prstGeom prst="rect">
            <a:avLst/>
          </a:prstGeom>
          <a:solidFill>
            <a:srgbClr val="F8F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5800" y="4800600"/>
            <a:ext cx="1234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合同类型分类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4800600"/>
            <a:ext cx="3520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≥5 类 · 准确率 ≥85%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20" y="4800600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6A34A"/>
                </a:solidFill>
                <a:latin typeface="微软雅黑"/>
                <a:ea typeface="微软雅黑"/>
                <a:cs typeface="微软雅黑"/>
              </a:rPr>
              <a:t>11 类 + 服务外包标签 · 98.6%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257800"/>
            <a:ext cx="1234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关键要素抽取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65960" y="5257800"/>
            <a:ext cx="3520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F1 ≥ 80%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32120" y="5257800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6A34A"/>
                </a:solidFill>
                <a:latin typeface="微软雅黑"/>
                <a:ea typeface="微软雅黑"/>
                <a:cs typeface="微软雅黑"/>
              </a:rPr>
              <a:t>93.7%（双方/金额/期限/争议）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687568"/>
            <a:ext cx="10332720" cy="420624"/>
          </a:xfrm>
          <a:prstGeom prst="rect">
            <a:avLst/>
          </a:prstGeom>
          <a:solidFill>
            <a:srgbClr val="F8F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85800" y="5715000"/>
            <a:ext cx="1234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风险条款识别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65960" y="5715000"/>
            <a:ext cx="3520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≥10 类 · 召回 ≥75%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32120" y="5715000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6A34A"/>
                </a:solidFill>
                <a:latin typeface="微软雅黑"/>
                <a:ea typeface="微软雅黑"/>
                <a:cs typeface="微软雅黑"/>
              </a:rPr>
              <a:t>13 类（R01–R13）· 召回 80.1%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6172200"/>
            <a:ext cx="1234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风险识别精准率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65960" y="6172200"/>
            <a:ext cx="3520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≥75%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32120" y="6172200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6A34A"/>
                </a:solidFill>
                <a:latin typeface="微软雅黑"/>
                <a:ea typeface="微软雅黑"/>
                <a:cs typeface="微软雅黑"/>
              </a:rPr>
              <a:t>76.6%（TP121 / FP37）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SmartContract Auditor · 海底喵喵队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93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329184"/>
            <a:ext cx="87782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系统架构：经典四层 · 全栈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457200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技术架构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07008"/>
            <a:ext cx="8138160" cy="1078992"/>
          </a:xfrm>
          <a:prstGeom prst="roundRect">
            <a:avLst>
              <a:gd name="adj" fmla="val 10000"/>
            </a:avLst>
          </a:prstGeom>
          <a:solidFill>
            <a:srgbClr val="F5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207008"/>
            <a:ext cx="128016" cy="1078992"/>
          </a:xfrm>
          <a:prstGeom prst="rect">
            <a:avLst/>
          </a:prstGeom>
          <a:solidFill>
            <a:srgbClr val="193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298448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第一层 · 前端展示层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64208"/>
            <a:ext cx="7589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Vue 3 + Element Plus + ECharts + pdf.js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956816"/>
            <a:ext cx="7589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合同上传 · 列表 · 详情 · 审核结果 · 报告 · 反馈标注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26771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59736"/>
            <a:ext cx="8138160" cy="1078992"/>
          </a:xfrm>
          <a:prstGeom prst="roundRect">
            <a:avLst>
              <a:gd name="adj" fmla="val 10000"/>
            </a:avLst>
          </a:prstGeom>
          <a:solidFill>
            <a:srgbClr val="F5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" y="2459736"/>
            <a:ext cx="128016" cy="1078992"/>
          </a:xfrm>
          <a:prstGeom prst="rect">
            <a:avLst/>
          </a:prstGeom>
          <a:solidFill>
            <a:srgbClr val="122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2551176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第二层 · 业务后端层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916936"/>
            <a:ext cx="7589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FastAPI + SQLAlchemy + JWT/RBAC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209544"/>
            <a:ext cx="7589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认证 · 合同管理 · 审核调度（后台任务）· 模板 · 统计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5204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12464"/>
            <a:ext cx="8138160" cy="1078992"/>
          </a:xfrm>
          <a:prstGeom prst="roundRect">
            <a:avLst>
              <a:gd name="adj" fmla="val 10000"/>
            </a:avLst>
          </a:prstGeom>
          <a:solidFill>
            <a:srgbClr val="F5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3712464"/>
            <a:ext cx="128016" cy="1078992"/>
          </a:xfrm>
          <a:prstGeom prst="rect">
            <a:avLst/>
          </a:prstGeom>
          <a:solidFill>
            <a:srgbClr val="122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3803904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第三层 · AI 核心引擎层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169664"/>
            <a:ext cx="7589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同进程 Python 包（非 HTTP 调用）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462272"/>
            <a:ext cx="7589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解析 → 分类 → 要素抽取 → 规则召回 → 证据裁决 → 建议层 → 比对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77316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965192"/>
            <a:ext cx="8138160" cy="1078992"/>
          </a:xfrm>
          <a:prstGeom prst="roundRect">
            <a:avLst>
              <a:gd name="adj" fmla="val 10000"/>
            </a:avLst>
          </a:prstGeom>
          <a:solidFill>
            <a:srgbClr val="F5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" y="4965192"/>
            <a:ext cx="128016" cy="1078992"/>
          </a:xfrm>
          <a:prstGeom prst="rect">
            <a:avLst/>
          </a:prstGeom>
          <a:solidFill>
            <a:srgbClr val="122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" y="5056632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第四层 · 数据持久层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422392"/>
            <a:ext cx="7589520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zh-CN" sz="115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SQLite</a:t>
            </a:r>
            <a:r>
              <a:rPr lang="zh-CN" altLang="en-US" sz="115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（交付默认，</a:t>
            </a:r>
            <a:r>
              <a:rPr lang="en-US" altLang="zh-CN" sz="115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WAL </a:t>
            </a:r>
            <a:r>
              <a:rPr lang="zh-CN" altLang="en-US" sz="115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模式）</a:t>
            </a:r>
            <a:r>
              <a:rPr lang="en-US" altLang="zh-CN" sz="115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+ SQLAlchemy + ChromaDB </a:t>
            </a:r>
            <a:r>
              <a:rPr lang="zh-CN" altLang="en-US" sz="115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嵌入式 </a:t>
            </a:r>
            <a:r>
              <a:rPr lang="en-US" altLang="zh-CN" sz="115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+ </a:t>
            </a:r>
            <a:r>
              <a:rPr lang="zh-CN" altLang="en-US" sz="115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文件系统</a:t>
            </a:r>
          </a:p>
          <a:p>
            <a:pPr algn="l"/>
            <a:r>
              <a:rPr lang="en-US" altLang="zh-CN" sz="115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MySQL </a:t>
            </a:r>
            <a:r>
              <a:rPr lang="zh-CN" altLang="en-US" sz="115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为可选部署路径（已做方言对齐与迁移准备，非默认、未启用）</a:t>
            </a:r>
            <a:endParaRPr sz="1150" b="1" i="0">
              <a:solidFill>
                <a:srgbClr val="2B2F3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60120" y="5715000"/>
            <a:ext cx="758952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altLang="en-US" sz="105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结构化业务数据（</a:t>
            </a:r>
            <a:r>
              <a:rPr lang="en-US" sz="105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backend/contract.db）· </a:t>
            </a:r>
            <a:r>
              <a:rPr lang="zh-CN" altLang="en-US" sz="105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向量知识库（</a:t>
            </a:r>
            <a:r>
              <a:rPr lang="en-US" sz="105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backend/chroma_data）· </a:t>
            </a:r>
            <a:r>
              <a:rPr lang="zh-CN" altLang="en-US" sz="105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合同原件与软删除归档</a:t>
            </a:r>
            <a:endParaRPr sz="1050" b="0" i="0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9006840" y="1207008"/>
            <a:ext cx="2560320" cy="5029200"/>
          </a:xfrm>
          <a:prstGeom prst="roundRect">
            <a:avLst>
              <a:gd name="adj" fmla="val 6000"/>
            </a:avLst>
          </a:prstGeom>
          <a:solidFill>
            <a:srgbClr val="193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Ins="182880" bIns="54864" rtlCol="0" anchor="ctr"/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关键决策</a:t>
            </a:r>
          </a:p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全栈 Python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050" b="0" i="0">
                <a:solidFill>
                  <a:srgbClr val="DDE4F7"/>
                </a:solidFill>
                <a:latin typeface="微软雅黑"/>
                <a:ea typeface="微软雅黑"/>
                <a:cs typeface="微软雅黑"/>
              </a:rPr>
              <a:t>AI 逻辑与业务后端同进程函数调用，省去序列化与网络开销</a:t>
            </a:r>
          </a:p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证据-裁决解耦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050" b="0" i="0">
                <a:solidFill>
                  <a:srgbClr val="DDE4F7"/>
                </a:solidFill>
                <a:latin typeface="微软雅黑"/>
                <a:ea typeface="微软雅黑"/>
                <a:cs typeface="微软雅黑"/>
              </a:rPr>
              <a:t>风险判定用代码硬阈值，可复现、可审计</a:t>
            </a:r>
          </a:p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分类体系唯一真源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DDE4F7"/>
                </a:solidFill>
                <a:latin typeface="微软雅黑"/>
                <a:ea typeface="微软雅黑"/>
                <a:cs typeface="微软雅黑"/>
              </a:rPr>
              <a:t>taxonomy.py 统一 11 类法理，前端/分类器/比对共用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SmartContract Auditor · 海底喵喵队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93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329184"/>
            <a:ext cx="87782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审核主链路：从上传到报告的全流程闭环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457200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技术架构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7863840" cy="896112"/>
          </a:xfrm>
          <a:prstGeom prst="roundRect">
            <a:avLst>
              <a:gd name="adj" fmla="val 12000"/>
            </a:avLst>
          </a:prstGeom>
          <a:solidFill>
            <a:srgbClr val="F5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68680" y="1499616"/>
            <a:ext cx="457200" cy="457200"/>
          </a:xfrm>
          <a:prstGeom prst="ellipse">
            <a:avLst/>
          </a:prstGeom>
          <a:solidFill>
            <a:srgbClr val="193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371600"/>
            <a:ext cx="6766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① 解析理解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719072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OCR/多格式解析 → 智能分类 → 要素抽取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956815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先把合同“读懂”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48839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C7D2F0"/>
                </a:solidFill>
                <a:latin typeface="微软雅黑"/>
                <a:ea typeface="微软雅黑"/>
                <a:cs typeface="微软雅黑"/>
              </a:rP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331720"/>
            <a:ext cx="7863840" cy="896112"/>
          </a:xfrm>
          <a:prstGeom prst="roundRect">
            <a:avLst>
              <a:gd name="adj" fmla="val 12000"/>
            </a:avLst>
          </a:prstGeom>
          <a:solidFill>
            <a:srgbClr val="F5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68680" y="2551176"/>
            <a:ext cx="457200" cy="457200"/>
          </a:xfrm>
          <a:prstGeom prst="ellipse">
            <a:avLst/>
          </a:prstGeom>
          <a:solidFill>
            <a:srgbClr val="193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423160"/>
            <a:ext cx="6766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② 规则召回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770632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确定性正则规则 R01–R13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008376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fast 基线 · 秒级兜底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20040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C7D2F0"/>
                </a:solidFill>
                <a:latin typeface="微软雅黑"/>
                <a:ea typeface="微软雅黑"/>
                <a:cs typeface="微软雅黑"/>
              </a:rPr>
              <a:t>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383279"/>
            <a:ext cx="7863840" cy="896112"/>
          </a:xfrm>
          <a:prstGeom prst="roundRect">
            <a:avLst>
              <a:gd name="adj" fmla="val 12000"/>
            </a:avLst>
          </a:prstGeom>
          <a:solidFill>
            <a:srgbClr val="F5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68680" y="3602735"/>
            <a:ext cx="457200" cy="457200"/>
          </a:xfrm>
          <a:prstGeom prst="ellipse">
            <a:avLst/>
          </a:prstGeom>
          <a:solidFill>
            <a:srgbClr val="193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474720"/>
            <a:ext cx="6766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③ 证据裁决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3822191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LLM 只抽事实证据 → 代码硬阈值裁决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059935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核心环节 · 可复现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251959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C7D2F0"/>
                </a:solidFill>
                <a:latin typeface="微软雅黑"/>
                <a:ea typeface="微软雅黑"/>
                <a:cs typeface="微软雅黑"/>
              </a:rPr>
              <a:t>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434840"/>
            <a:ext cx="7863840" cy="896112"/>
          </a:xfrm>
          <a:prstGeom prst="roundRect">
            <a:avLst>
              <a:gd name="adj" fmla="val 12000"/>
            </a:avLst>
          </a:prstGeom>
          <a:solidFill>
            <a:srgbClr val="F5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68680" y="4654296"/>
            <a:ext cx="457200" cy="457200"/>
          </a:xfrm>
          <a:prstGeom prst="ellipse">
            <a:avLst/>
          </a:prstGeom>
          <a:solidFill>
            <a:srgbClr val="193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4526279"/>
            <a:ext cx="6766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④ 建议生成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4873752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法条精确取文 + LLM 建议 + grounding 校验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111496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只负责“怎么改”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30352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C7D2F0"/>
                </a:solidFill>
                <a:latin typeface="微软雅黑"/>
                <a:ea typeface="微软雅黑"/>
                <a:cs typeface="微软雅黑"/>
              </a:rPr>
              <a:t>▼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486400"/>
            <a:ext cx="7863840" cy="896112"/>
          </a:xfrm>
          <a:prstGeom prst="roundRect">
            <a:avLst>
              <a:gd name="adj" fmla="val 12000"/>
            </a:avLst>
          </a:prstGeom>
          <a:solidFill>
            <a:srgbClr val="F5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68680" y="5705856"/>
            <a:ext cx="457200" cy="457200"/>
          </a:xfrm>
          <a:prstGeom prst="ellipse">
            <a:avLst/>
          </a:prstGeom>
          <a:solidFill>
            <a:srgbClr val="193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5577840"/>
            <a:ext cx="6766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⑤ 输出沉淀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5925312"/>
            <a:ext cx="6766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条款定位 → 条款比对 → 结构化报告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08760" y="6163056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可追溯 · 可审计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778240" y="1280160"/>
            <a:ext cx="2788920" cy="5074920"/>
          </a:xfrm>
          <a:prstGeom prst="roundRect">
            <a:avLst>
              <a:gd name="adj" fmla="val 6000"/>
            </a:avLst>
          </a:prstGeom>
          <a:solidFill>
            <a:srgbClr val="F5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54864" rIns="182880" bIns="54864" rtlCol="0" anchor="ctr"/>
          <a:lstStyle/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两个审核模式</a:t>
            </a:r>
          </a:p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fast（快速）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05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纯规则引擎，秒级出结果，作为确定性基线与离线降级方案</a:t>
            </a:r>
          </a:p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precise（精准）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05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规则 + 证据裁决 + 建议层，主口径，实测指标达标</a:t>
            </a:r>
          </a:p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一致性保障</a:t>
            </a:r>
          </a:p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全链路 temperature=0，同一合同多次审核结论稳定可复现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78240" y="1280160"/>
            <a:ext cx="2788920" cy="128016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SmartContract Auditor · 海底喵喵队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93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329184"/>
            <a:ext cx="87782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核心创新：证据-裁决解耦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457200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技术创新 · 核心壁垒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把「有没有风险」和「怎么改」彻底解耦：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LLM 只做笔录（抽事实），</a:t>
            </a:r>
          </a:p>
          <a:p>
            <a:pPr algn="ctr"/>
            <a:r>
              <a:rPr sz="1700" b="1" i="0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代码当法官（按法条阈值一锤定音）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4028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5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2240280"/>
            <a:ext cx="3566160" cy="128016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2487168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✗ 传统做法：LLM 直接判风险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907792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· 直接问“这条有没有风险”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319272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· AI 会“编”出不存在的条款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730752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· 同一合同两次结论漂移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224028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5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34840" y="2240280"/>
            <a:ext cx="3566160" cy="128016"/>
          </a:xfrm>
          <a:prstGeom prst="rect">
            <a:avLst/>
          </a:prstGeom>
          <a:solidFill>
            <a:srgbClr val="193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17720" y="2487168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✓ 我们的做法：只抽事实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907792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· 冻结 JSON Schema 抽取客观事实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319272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· 找不到填 null，绝不臆测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730752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· 不下风险结论、不输出 is_risk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2240280"/>
            <a:ext cx="3566160" cy="2286000"/>
          </a:xfrm>
          <a:prstGeom prst="roundRect">
            <a:avLst>
              <a:gd name="adj" fmla="val 6000"/>
            </a:avLst>
          </a:prstGeom>
          <a:solidFill>
            <a:srgbClr val="F5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29600" y="2240280"/>
            <a:ext cx="3566160" cy="128016"/>
          </a:xfrm>
          <a:prstGeom prst="rect">
            <a:avLst/>
          </a:prstGeom>
          <a:solidFill>
            <a:srgbClr val="193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0" y="2487168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✓ 代码确定性裁决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907792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· Python 按 v1.2.4 硬阈值裁决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319272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· 模棱两可一律不标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730752"/>
            <a:ext cx="3246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· 结论可复现、可追溯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800600"/>
            <a:ext cx="10972800" cy="1234440"/>
          </a:xfrm>
          <a:prstGeom prst="roundRect">
            <a:avLst>
              <a:gd name="adj" fmla="val 6000"/>
            </a:avLst>
          </a:prstGeom>
          <a:solidFill>
            <a:srgbClr val="193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54864" rIns="274320" bIns="54864" rtlCol="0" anchor="ctr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DE4F7"/>
                </a:solidFill>
                <a:latin typeface="微软雅黑"/>
                <a:ea typeface="微软雅黑"/>
                <a:cs typeface="微软雅黑"/>
              </a:rPr>
              <a:t>核心记忆点</a:t>
            </a:r>
          </a:p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“我们不问 AI『这条有没有风险』——AI 一判风险就爱编。我们只让 AI 做笔录（抽取条款事实），然后让代码当法官（按法条阈值一锤定音）。</a:t>
            </a:r>
          </a:p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AI 记错了，法官核对原文就能发现；AI 判错了，没法核对。”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SmartContract Auditor · 海底喵喵队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93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418615"/>
            <a:ext cx="8778240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zh-CN" altLang="en-US" sz="270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用数据说话：精准率 </a:t>
            </a:r>
            <a:r>
              <a:rPr lang="en-US" altLang="zh-CN" sz="270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24% → 76.6%</a:t>
            </a:r>
            <a:r>
              <a:rPr lang="zh-CN" altLang="en-US" sz="270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，召回率守住 </a:t>
            </a:r>
            <a:r>
              <a:rPr lang="en-US" altLang="zh-CN" sz="270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80.1%</a:t>
            </a:r>
            <a:endParaRPr sz="2700" b="1" i="0">
              <a:solidFill>
                <a:srgbClr val="1935C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509760" y="457200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技术创新 · 对照实验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altLang="en-US" sz="145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风险引擎经过多轮对照实验迭代，每一步都由真实测试集（</a:t>
            </a:r>
            <a:r>
              <a:rPr lang="en-US" altLang="zh-CN" sz="145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84 </a:t>
            </a:r>
            <a:r>
              <a:rPr lang="zh-CN" altLang="en-US" sz="145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份 </a:t>
            </a:r>
            <a:r>
              <a:rPr lang="en-US" altLang="zh-CN" sz="145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/ 152 </a:t>
            </a:r>
            <a:r>
              <a:rPr lang="zh-CN" altLang="en-US" sz="145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条标注）的精准率、召回率与 </a:t>
            </a:r>
            <a:r>
              <a:rPr lang="en-US" altLang="zh-CN" sz="145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F1 </a:t>
            </a:r>
            <a:r>
              <a:rPr lang="zh-CN" altLang="en-US" sz="145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数据驱动；下表为冻结口径，不作美化</a:t>
            </a:r>
            <a:endParaRPr sz="1450" b="0" i="0">
              <a:solidFill>
                <a:srgbClr val="2B2F3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3566160" cy="3017520"/>
          </a:xfrm>
          <a:prstGeom prst="roundRect">
            <a:avLst>
              <a:gd name="adj" fmla="val 6000"/>
            </a:avLst>
          </a:prstGeom>
          <a:solidFill>
            <a:srgbClr val="F5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v4</a:t>
            </a:r>
          </a:p>
          <a:p>
            <a:pPr algn="l"/>
            <a:endParaRPr sz="2000" b="1" i="0">
              <a:solidFill>
                <a:srgbClr val="1935C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2395728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LLM 泛化 Prompt 直接判风险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99232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精准 24.0%  ·  召回 97.4%</a:t>
            </a:r>
          </a:p>
          <a:p>
            <a:pPr algn="l"/>
            <a:r>
              <a:rPr sz="1200" b="1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F1 38.0%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114800"/>
            <a:ext cx="3154680" cy="3267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00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过报 </a:t>
            </a:r>
            <a:r>
              <a:rPr lang="en-US" altLang="zh-CN" sz="100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466 </a:t>
            </a:r>
            <a:r>
              <a:rPr lang="zh-CN" altLang="en-US" sz="100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条：精准率仅 </a:t>
            </a:r>
            <a:r>
              <a:rPr lang="en-US" altLang="zh-CN" sz="100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24.0%</a:t>
            </a:r>
            <a:r>
              <a:rPr lang="zh-CN" altLang="en-US" sz="100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，但召回虚高 </a:t>
            </a:r>
            <a:r>
              <a:rPr lang="en-US" altLang="zh-CN" sz="100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97.4%</a:t>
            </a:r>
            <a:r>
              <a:rPr lang="zh-CN" altLang="en-US" sz="100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（关键词式泛判，结论不可用）</a:t>
            </a:r>
            <a:endParaRPr sz="1000" b="0" i="0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434840" y="1783080"/>
            <a:ext cx="3566160" cy="3017520"/>
          </a:xfrm>
          <a:prstGeom prst="roundRect">
            <a:avLst>
              <a:gd name="adj" fmla="val 6000"/>
            </a:avLst>
          </a:prstGeom>
          <a:solidFill>
            <a:srgbClr val="F5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40" y="192024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v5</a:t>
            </a:r>
          </a:p>
          <a:p>
            <a:pPr algn="l"/>
            <a:endParaRPr sz="2000" b="1" i="0">
              <a:solidFill>
                <a:srgbClr val="1935C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63440" y="2395728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阈值写进提示词（严格 Prompt）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999232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精准 25.9%  ·  召回 73.5%</a:t>
            </a:r>
          </a:p>
          <a:p>
            <a:pPr algn="l"/>
            <a:r>
              <a:rPr sz="1200" b="1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F1 38.3%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114800"/>
            <a:ext cx="3154680" cy="3267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00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阈值写进提示词：召回率反被误杀到 </a:t>
            </a:r>
            <a:r>
              <a:rPr lang="en-US" altLang="zh-CN" sz="100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73.5%</a:t>
            </a:r>
            <a:r>
              <a:rPr lang="zh-CN" altLang="en-US" sz="100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，精准率仅 </a:t>
            </a:r>
            <a:r>
              <a:rPr lang="en-US" altLang="zh-CN" sz="100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25.9%</a:t>
            </a:r>
            <a:endParaRPr sz="1000" b="0" i="0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229600" y="1783080"/>
            <a:ext cx="3566160" cy="3017520"/>
          </a:xfrm>
          <a:prstGeom prst="roundRect">
            <a:avLst>
              <a:gd name="adj" fmla="val 6000"/>
            </a:avLst>
          </a:prstGeom>
          <a:solidFill>
            <a:srgbClr val="193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0" y="1783080"/>
            <a:ext cx="3566160" cy="128016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58200" y="192024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v6.4</a:t>
            </a:r>
          </a:p>
          <a:p>
            <a:pPr algn="l"/>
            <a:r>
              <a:rPr sz="1200" b="1" i="0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  ★ 最终方案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395728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DDE4F7"/>
                </a:solidFill>
                <a:latin typeface="微软雅黑"/>
                <a:ea typeface="微软雅黑"/>
                <a:cs typeface="微软雅黑"/>
              </a:rPr>
              <a:t>LLM 抽事实 + 代码硬阈值裁决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999232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精准 76.6%  ·  召回 80.1%</a:t>
            </a:r>
          </a:p>
          <a:p>
            <a:pPr algn="l"/>
            <a:r>
              <a:rPr sz="1200" b="1" i="0">
                <a:solidFill>
                  <a:srgbClr val="DDE4F7"/>
                </a:solidFill>
                <a:latin typeface="微软雅黑"/>
                <a:ea typeface="微软雅黑"/>
                <a:cs typeface="微软雅黑"/>
              </a:rPr>
              <a:t>F1 78.3%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4114800"/>
            <a:ext cx="3154680" cy="3267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000" b="0" i="0">
                <a:solidFill>
                  <a:srgbClr val="DDE4F7"/>
                </a:solidFill>
                <a:latin typeface="微软雅黑"/>
                <a:ea typeface="微软雅黑"/>
                <a:cs typeface="微软雅黑"/>
              </a:rPr>
              <a:t>精准率</a:t>
            </a:r>
            <a:r>
              <a:rPr lang="en-US" altLang="zh-CN" sz="1000" b="0" i="0">
                <a:solidFill>
                  <a:srgbClr val="DDE4F7"/>
                </a:solidFill>
                <a:latin typeface="微软雅黑"/>
                <a:ea typeface="微软雅黑"/>
                <a:cs typeface="微软雅黑"/>
              </a:rPr>
              <a:t>×3</a:t>
            </a:r>
            <a:r>
              <a:rPr lang="zh-CN" altLang="en-US" sz="1000" b="0" i="0">
                <a:solidFill>
                  <a:srgbClr val="DDE4F7"/>
                </a:solidFill>
                <a:latin typeface="微软雅黑"/>
                <a:ea typeface="微软雅黑"/>
                <a:cs typeface="微软雅黑"/>
              </a:rPr>
              <a:t>；召回率较 </a:t>
            </a:r>
            <a:r>
              <a:rPr lang="en-US" altLang="zh-CN" sz="1000" b="0" i="0">
                <a:solidFill>
                  <a:srgbClr val="DDE4F7"/>
                </a:solidFill>
                <a:latin typeface="微软雅黑"/>
                <a:ea typeface="微软雅黑"/>
                <a:cs typeface="微软雅黑"/>
              </a:rPr>
              <a:t>v4 </a:t>
            </a:r>
            <a:r>
              <a:rPr lang="zh-CN" altLang="en-US" sz="1000" b="0" i="0">
                <a:solidFill>
                  <a:srgbClr val="DDE4F7"/>
                </a:solidFill>
                <a:latin typeface="微软雅黑"/>
                <a:ea typeface="微软雅黑"/>
                <a:cs typeface="微软雅黑"/>
              </a:rPr>
              <a:t>的虚高值回落属预期取舍，仍守住 </a:t>
            </a:r>
            <a:r>
              <a:rPr lang="en-US" altLang="zh-CN" sz="1000" b="0" i="0">
                <a:solidFill>
                  <a:srgbClr val="DDE4F7"/>
                </a:solidFill>
                <a:latin typeface="微软雅黑"/>
                <a:ea typeface="微软雅黑"/>
                <a:cs typeface="微软雅黑"/>
              </a:rPr>
              <a:t>80.1%</a:t>
            </a:r>
            <a:r>
              <a:rPr lang="zh-CN" altLang="en-US" sz="1000" b="0" i="0">
                <a:solidFill>
                  <a:srgbClr val="DDE4F7"/>
                </a:solidFill>
                <a:latin typeface="微软雅黑"/>
                <a:ea typeface="微软雅黑"/>
                <a:cs typeface="微软雅黑"/>
              </a:rPr>
              <a:t>（≥</a:t>
            </a:r>
            <a:r>
              <a:rPr lang="en-US" altLang="zh-CN" sz="1000" b="0" i="0">
                <a:solidFill>
                  <a:srgbClr val="DDE4F7"/>
                </a:solidFill>
                <a:latin typeface="微软雅黑"/>
                <a:ea typeface="微软雅黑"/>
                <a:cs typeface="微软雅黑"/>
              </a:rPr>
              <a:t>75% </a:t>
            </a:r>
            <a:r>
              <a:rPr lang="zh-CN" altLang="en-US" sz="1000" b="0" i="0">
                <a:solidFill>
                  <a:srgbClr val="DDE4F7"/>
                </a:solidFill>
                <a:latin typeface="微软雅黑"/>
                <a:ea typeface="微软雅黑"/>
                <a:cs typeface="微软雅黑"/>
              </a:rPr>
              <a:t>门槛）</a:t>
            </a:r>
            <a:endParaRPr sz="1000" b="0" i="0">
              <a:solidFill>
                <a:srgbClr val="DDE4F7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0080" y="5120640"/>
            <a:ext cx="10972800" cy="10002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lang="zh-CN" altLang="en-US" sz="1500" b="1" i="0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结论：</a:t>
            </a:r>
          </a:p>
          <a:p>
            <a:pPr algn="l">
              <a:spcAft>
                <a:spcPts val="300"/>
              </a:spcAft>
            </a:pPr>
            <a:r>
              <a:rPr lang="en-US" altLang="zh-CN" sz="1500" b="1" i="0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lang="zh-CN" altLang="en-US" sz="1500" b="1" i="0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擅长布尔</a:t>
            </a:r>
            <a:r>
              <a:rPr lang="en-US" altLang="zh-CN" sz="1500" b="1" i="0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/</a:t>
            </a:r>
            <a:r>
              <a:rPr lang="zh-CN" altLang="en-US" sz="1500" b="1" i="0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数值判断，复杂枚举</a:t>
            </a:r>
            <a:r>
              <a:rPr lang="en-US" altLang="zh-CN" sz="1500" b="1" i="0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/</a:t>
            </a:r>
            <a:r>
              <a:rPr lang="zh-CN" altLang="en-US" sz="1500" b="1" i="0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嵌套规则应交给代码裁决。这正是「证据</a:t>
            </a:r>
            <a:r>
              <a:rPr lang="en-US" altLang="zh-CN" sz="1500" b="1" i="0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-</a:t>
            </a:r>
            <a:r>
              <a:rPr lang="zh-CN" altLang="en-US" sz="1500" b="1" i="0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裁决解耦」架构的由来</a:t>
            </a:r>
            <a:r>
              <a:rPr lang="en-US" altLang="zh-CN" sz="1500" b="1" i="0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——</a:t>
            </a:r>
            <a:r>
              <a:rPr lang="zh-CN" altLang="en-US" sz="1500" b="1" i="0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把裁决权收回代码后，精准率从 </a:t>
            </a:r>
            <a:r>
              <a:rPr lang="en-US" altLang="zh-CN" sz="1500" b="1" i="0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24% </a:t>
            </a:r>
            <a:r>
              <a:rPr lang="zh-CN" altLang="en-US" sz="1500" b="1" i="0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提升到 </a:t>
            </a:r>
            <a:r>
              <a:rPr lang="en-US" altLang="zh-CN" sz="1500" b="1" i="0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76.6%</a:t>
            </a:r>
            <a:r>
              <a:rPr lang="zh-CN" altLang="en-US" sz="1500" b="1" i="0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，召回率 </a:t>
            </a:r>
            <a:r>
              <a:rPr lang="en-US" altLang="zh-CN" sz="1500" b="1" i="0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80.1%</a:t>
            </a:r>
            <a:r>
              <a:rPr lang="zh-CN" altLang="en-US" sz="1500" b="1" i="0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，</a:t>
            </a:r>
            <a:r>
              <a:rPr lang="en-US" altLang="zh-CN" sz="1500" b="1" i="0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F1 78.3%</a:t>
            </a:r>
            <a:r>
              <a:rPr lang="zh-CN" altLang="en-US" sz="1500" b="1" i="0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algn="l">
              <a:spcAft>
                <a:spcPts val="300"/>
              </a:spcAft>
            </a:pPr>
            <a:r>
              <a:rPr lang="zh-CN" altLang="en-US" sz="1500" b="1" i="0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口径边界：风险 </a:t>
            </a:r>
            <a:r>
              <a:rPr lang="en-US" altLang="zh-CN" sz="1500" b="1" i="0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P/R/F1 </a:t>
            </a:r>
            <a:r>
              <a:rPr lang="zh-CN" altLang="en-US" sz="1500" b="1" i="0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只覆盖 </a:t>
            </a:r>
            <a:r>
              <a:rPr lang="en-US" altLang="zh-CN" sz="1500" b="1" i="0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R01–R12 </a:t>
            </a:r>
            <a:r>
              <a:rPr lang="zh-CN" altLang="en-US" sz="1500" b="1" i="0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中实际有 </a:t>
            </a:r>
            <a:r>
              <a:rPr lang="en-US" altLang="zh-CN" sz="1500" b="1" i="0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Gold </a:t>
            </a:r>
            <a:r>
              <a:rPr lang="zh-CN" altLang="en-US" sz="1500" b="1" i="0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的风险；</a:t>
            </a:r>
            <a:r>
              <a:rPr lang="en-US" altLang="zh-CN" sz="1500" b="1" i="0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R05 </a:t>
            </a:r>
            <a:r>
              <a:rPr lang="zh-CN" altLang="en-US" sz="1500" b="1" i="0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无 </a:t>
            </a:r>
            <a:r>
              <a:rPr lang="en-US" altLang="zh-CN" sz="1500" b="1" i="0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Gold</a:t>
            </a:r>
            <a:r>
              <a:rPr lang="zh-CN" altLang="en-US" sz="1500" b="1" i="0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lang="en-US" altLang="zh-CN" sz="1500" b="1" i="0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R13 </a:t>
            </a:r>
            <a:r>
              <a:rPr lang="zh-CN" altLang="en-US" sz="1500" b="1" i="0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不进严格 </a:t>
            </a:r>
            <a:r>
              <a:rPr lang="en-US" altLang="zh-CN" sz="1500" b="1" i="0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F1</a:t>
            </a:r>
            <a:r>
              <a:rPr lang="zh-CN" altLang="en-US" sz="1500" b="1" i="0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；</a:t>
            </a:r>
            <a:r>
              <a:rPr lang="en-US" altLang="zh-CN" sz="1500" b="1" i="0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TP 121 / FP 37 / FN 30</a:t>
            </a:r>
            <a:r>
              <a:rPr lang="zh-CN" altLang="en-US" sz="1500" b="1" i="0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。</a:t>
            </a:r>
            <a:endParaRPr sz="1400" b="0" i="0">
              <a:solidFill>
                <a:srgbClr val="2B2F3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SmartContract Auditor · 海底喵喵队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93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329184"/>
            <a:ext cx="87782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方案一：智能分类与要素抽取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457200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核心方案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合同智能分类（98.6%）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72768"/>
            <a:ext cx="539496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RAG 少样本分类 + LLM 法理推理，输出两个正交维度：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· 法理分类：11 类单一互斥（买卖/租赁/承揽/技术/劳动…）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· 业务标签：是否属「服务外包」业务（可叠加）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· 分块采样 + 多数投票，抗长文本中间信息丢失</a:t>
            </a:r>
          </a:p>
          <a:p>
            <a:pPr algn="l"/>
            <a:r>
              <a:rPr sz="120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· 分类体系唯一真源 taxonomy.py，前端/分类器/比对共用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66160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关键要素结构化抽取（F1 93.7%）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50208"/>
            <a:ext cx="539496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JSON Schema 约束 + Few-shot Prompting，长合同分块并行合并：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· 双方（甲方/乙方，称谓归一化）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· 金额（数值+币种，区分含税）+ 签署日期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· 履行期限 + 争议解决方式 + 适用法律</a:t>
            </a:r>
          </a:p>
          <a:p>
            <a:pPr algn="l"/>
            <a:r>
              <a:rPr sz="1200" b="1" i="0">
                <a:solidFill>
                  <a:srgbClr val="16A34A"/>
                </a:solidFill>
                <a:latin typeface="微软雅黑"/>
                <a:ea typeface="微软雅黑"/>
                <a:cs typeface="微软雅黑"/>
              </a:rPr>
              <a:t>· 双方 100% · 金额 87.2% · 期限 90.8% · 争议 96.3%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SmartContract Auditor · 海底喵喵队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9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1A1292D5-272A-6FF8-E4C4-48AD3CC86A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0" y="1270000"/>
            <a:ext cx="5334000" cy="323850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BE229877-2A74-6A19-BAA5-A7536E19F081}"/>
              </a:ext>
            </a:extLst>
          </p:cNvPr>
          <p:cNvSpPr txBox="1"/>
          <p:nvPr/>
        </p:nvSpPr>
        <p:spPr>
          <a:xfrm>
            <a:off x="6350000" y="5740400"/>
            <a:ext cx="5334000" cy="3847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950">
                <a:solidFill>
                  <a:srgbClr val="808080"/>
                </a:solidFill>
              </a:rPr>
              <a:t>真实截图：合同详情页 </a:t>
            </a:r>
            <a:r>
              <a:rPr lang="en-US" altLang="zh-CN" sz="950">
                <a:solidFill>
                  <a:srgbClr val="808080"/>
                </a:solidFill>
              </a:rPr>
              <a:t>· </a:t>
            </a:r>
            <a:r>
              <a:rPr lang="zh-CN" altLang="en-US" sz="950">
                <a:solidFill>
                  <a:srgbClr val="808080"/>
                </a:solidFill>
              </a:rPr>
              <a:t>合同结构化画像与风险规则扫描（风险评分 </a:t>
            </a:r>
            <a:r>
              <a:rPr lang="en-US" altLang="zh-CN" sz="950">
                <a:solidFill>
                  <a:srgbClr val="808080"/>
                </a:solidFill>
              </a:rPr>
              <a:t>90</a:t>
            </a:r>
            <a:r>
              <a:rPr lang="zh-CN" altLang="en-US" sz="950">
                <a:solidFill>
                  <a:srgbClr val="808080"/>
                </a:solidFill>
              </a:rPr>
              <a:t>，</a:t>
            </a:r>
            <a:r>
              <a:rPr lang="en-US" altLang="zh-CN" sz="950">
                <a:solidFill>
                  <a:srgbClr val="808080"/>
                </a:solidFill>
              </a:rPr>
              <a:t>2026-09-19 </a:t>
            </a:r>
            <a:r>
              <a:rPr lang="zh-CN" altLang="en-US" sz="950">
                <a:solidFill>
                  <a:srgbClr val="808080"/>
                </a:solidFill>
              </a:rPr>
              <a:t>运行系统实拍）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93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329184"/>
            <a:ext cx="87782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方案二：证据驱动的确定性风险识别（13 类）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457200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核心方案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三层流水线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72768"/>
            <a:ext cx="5760720" cy="868680"/>
          </a:xfrm>
          <a:prstGeom prst="roundRect">
            <a:avLst>
              <a:gd name="adj" fmla="val 10000"/>
            </a:avLst>
          </a:prstGeom>
          <a:solidFill>
            <a:srgbClr val="F5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664208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第一层 规则召回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1168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确定性正则召回 R01–R13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31136"/>
            <a:ext cx="5394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fast 基线 / precise 兜底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78608"/>
            <a:ext cx="5760720" cy="868680"/>
          </a:xfrm>
          <a:prstGeom prst="roundRect">
            <a:avLst>
              <a:gd name="adj" fmla="val 10000"/>
            </a:avLst>
          </a:prstGeom>
          <a:solidFill>
            <a:srgbClr val="193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670048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第二层 证据裁决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1752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DDE4F7"/>
                </a:solidFill>
                <a:latin typeface="微软雅黑"/>
                <a:ea typeface="微软雅黑"/>
                <a:cs typeface="微软雅黑"/>
              </a:rPr>
              <a:t>LLM 抽事实 → 代码硬阈值裁决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36976"/>
            <a:ext cx="5394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DDE4F7"/>
                </a:solidFill>
                <a:latin typeface="微软雅黑"/>
                <a:ea typeface="微软雅黑"/>
                <a:cs typeface="微软雅黑"/>
              </a:rPr>
              <a:t>核心 · 可复现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584448"/>
            <a:ext cx="5760720" cy="868680"/>
          </a:xfrm>
          <a:prstGeom prst="roundRect">
            <a:avLst>
              <a:gd name="adj" fmla="val 10000"/>
            </a:avLst>
          </a:prstGeom>
          <a:solidFill>
            <a:srgbClr val="F5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675888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第三层 建议层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02336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法条精确取文 + LLM 建议 + grounding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42816"/>
            <a:ext cx="5394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只负责“怎么改”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709160"/>
            <a:ext cx="576072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行业适配：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覆盖 IT 服务/金融科技高频风险——SLA 罚则（R01/R07）、数据导出销毁（R12）、IP 归属（R06）、源代码托管义务（R08），直配网新恒天业务场景。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118872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13 类风险清单（R01–R13）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1627632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● </a:t>
            </a:r>
          </a:p>
          <a:p>
            <a:pPr algn="l"/>
            <a:r>
              <a:rPr sz="115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R01 </a:t>
            </a:r>
          </a:p>
          <a:p>
            <a:pPr algn="l"/>
            <a:r>
              <a:rPr sz="115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违约金过高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1627632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● </a:t>
            </a:r>
          </a:p>
          <a:p>
            <a:pPr algn="l"/>
            <a:r>
              <a:rPr sz="115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R02 </a:t>
            </a:r>
          </a:p>
          <a:p>
            <a:pPr algn="l"/>
            <a:r>
              <a:rPr sz="115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无限责任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157984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● </a:t>
            </a:r>
          </a:p>
          <a:p>
            <a:pPr algn="l"/>
            <a:r>
              <a:rPr sz="115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R03 </a:t>
            </a:r>
          </a:p>
          <a:p>
            <a:pPr algn="l"/>
            <a:r>
              <a:rPr sz="115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单方解约权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157984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● </a:t>
            </a:r>
          </a:p>
          <a:p>
            <a:pPr algn="l"/>
            <a:r>
              <a:rPr sz="115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R04 </a:t>
            </a:r>
          </a:p>
          <a:p>
            <a:pPr algn="l"/>
            <a:r>
              <a:rPr sz="115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管辖不利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688336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● </a:t>
            </a:r>
          </a:p>
          <a:p>
            <a:pPr algn="l"/>
            <a:r>
              <a:rPr sz="115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R05 </a:t>
            </a:r>
          </a:p>
          <a:p>
            <a:pPr algn="l"/>
            <a:r>
              <a:rPr sz="115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保密期不合理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2688336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● </a:t>
            </a:r>
          </a:p>
          <a:p>
            <a:pPr algn="l"/>
            <a:r>
              <a:rPr sz="115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R06 </a:t>
            </a:r>
          </a:p>
          <a:p>
            <a:pPr algn="l"/>
            <a:r>
              <a:rPr sz="115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IP 权益失衡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218687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● </a:t>
            </a:r>
          </a:p>
          <a:p>
            <a:pPr algn="l"/>
            <a:r>
              <a:rPr sz="115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R07 </a:t>
            </a:r>
          </a:p>
          <a:p>
            <a:pPr algn="l"/>
            <a:r>
              <a:rPr sz="115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付款义务失衡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3218687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● </a:t>
            </a:r>
          </a:p>
          <a:p>
            <a:pPr algn="l"/>
            <a:r>
              <a:rPr sz="115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R08 </a:t>
            </a:r>
          </a:p>
          <a:p>
            <a:pPr algn="l"/>
            <a:r>
              <a:rPr sz="115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验收机制缺失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749039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● </a:t>
            </a:r>
          </a:p>
          <a:p>
            <a:pPr algn="l"/>
            <a:r>
              <a:rPr sz="115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R09 </a:t>
            </a:r>
          </a:p>
          <a:p>
            <a:pPr algn="l"/>
            <a:r>
              <a:rPr sz="115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不可抗力缺失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3749039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● </a:t>
            </a:r>
          </a:p>
          <a:p>
            <a:pPr algn="l"/>
            <a:r>
              <a:rPr sz="115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R10 </a:t>
            </a:r>
          </a:p>
          <a:p>
            <a:pPr algn="l"/>
            <a:r>
              <a:rPr sz="115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竞业限制过宽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279392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● </a:t>
            </a:r>
          </a:p>
          <a:p>
            <a:pPr algn="l"/>
            <a:r>
              <a:rPr sz="115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R11 </a:t>
            </a:r>
          </a:p>
          <a:p>
            <a:pPr algn="l"/>
            <a:r>
              <a:rPr sz="115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自动续约陷阱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4279392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● </a:t>
            </a:r>
          </a:p>
          <a:p>
            <a:pPr algn="l"/>
            <a:r>
              <a:rPr sz="115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R12 </a:t>
            </a:r>
          </a:p>
          <a:p>
            <a:pPr algn="l"/>
            <a:r>
              <a:rPr sz="115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数据隐私不当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809744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● </a:t>
            </a:r>
          </a:p>
          <a:p>
            <a:pPr algn="l"/>
            <a:r>
              <a:rPr sz="115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R13 </a:t>
            </a:r>
          </a:p>
          <a:p>
            <a:pPr algn="l"/>
            <a:r>
              <a:rPr sz="115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名实不符·示警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25780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6A34A"/>
                </a:solidFill>
                <a:latin typeface="微软雅黑"/>
                <a:ea typeface="微软雅黑"/>
                <a:cs typeface="微软雅黑"/>
              </a:rPr>
              <a:t>每条风险可追溯：事实证据 → 硬阈值裁决 → 法条依据 → 修改建议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SmartContract Auditor · 海底喵喵队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93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329184"/>
            <a:ext cx="87782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方案三：标准条款比对与缺失检测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457200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核心方案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3566160" cy="1737360"/>
          </a:xfrm>
          <a:prstGeom prst="roundRect">
            <a:avLst>
              <a:gd name="adj" fmla="val 6000"/>
            </a:avLst>
          </a:prstGeom>
          <a:solidFill>
            <a:srgbClr val="F5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234440"/>
            <a:ext cx="3566160" cy="109728"/>
          </a:xfrm>
          <a:prstGeom prst="rect">
            <a:avLst/>
          </a:prstGeom>
          <a:solidFill>
            <a:srgbClr val="193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7" y="14173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① 结构过滤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828800"/>
            <a:ext cx="32004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按合同类型精确匹配标准条款，含别名映射与服务外包专属条款叠加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234440"/>
            <a:ext cx="3566160" cy="1737360"/>
          </a:xfrm>
          <a:prstGeom prst="roundRect">
            <a:avLst>
              <a:gd name="adj" fmla="val 6000"/>
            </a:avLst>
          </a:prstGeom>
          <a:solidFill>
            <a:srgbClr val="F5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234440"/>
            <a:ext cx="3566160" cy="109728"/>
          </a:xfrm>
          <a:prstGeom prst="rect">
            <a:avLst/>
          </a:prstGeom>
          <a:solidFill>
            <a:srgbClr val="193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6008" y="14173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② LLM 逐条比对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1828800"/>
            <a:ext cx="32004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逐条判定 covered / partial / missing，输出偏离说明与补全建议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234440"/>
            <a:ext cx="3566160" cy="1737360"/>
          </a:xfrm>
          <a:prstGeom prst="roundRect">
            <a:avLst>
              <a:gd name="adj" fmla="val 6000"/>
            </a:avLst>
          </a:prstGeom>
          <a:solidFill>
            <a:srgbClr val="F5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0" y="1234440"/>
            <a:ext cx="3566160" cy="109728"/>
          </a:xfrm>
          <a:prstGeom prst="rect">
            <a:avLst/>
          </a:prstGeom>
          <a:solidFill>
            <a:srgbClr val="193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30768" y="14173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5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③ 图分析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1828800"/>
            <a:ext cx="32004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depends_on / conflict_with 检测跨条款联动风险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2461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跨条款关联风险（图分析）——单条比对发现不了的联动问题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657600"/>
            <a:ext cx="5120640" cy="1051560"/>
          </a:xfrm>
          <a:prstGeom prst="roundRect">
            <a:avLst>
              <a:gd name="adj" fmla="val 10000"/>
            </a:avLst>
          </a:prstGeom>
          <a:solidFill>
            <a:srgbClr val="F8FAFF"/>
          </a:solidFill>
          <a:ln w="12700">
            <a:solidFill>
              <a:srgbClr val="C7D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54864" rIns="228600" bIns="54864" rtlCol="0" anchor="ctr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前置依赖 depends_on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例：缺失「验收标准条款」→ 下游「付款条款」的验收节点失效，形成隐性风险链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3657600"/>
            <a:ext cx="5623560" cy="1051560"/>
          </a:xfrm>
          <a:prstGeom prst="roundRect">
            <a:avLst>
              <a:gd name="adj" fmla="val 10000"/>
            </a:avLst>
          </a:prstGeom>
          <a:solidFill>
            <a:srgbClr val="F8FAFF"/>
          </a:solidFill>
          <a:ln w="12700">
            <a:solidFill>
              <a:srgbClr val="C7D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54864" rIns="228600" bIns="54864" rtlCol="0" anchor="ctr"/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互斥冲突 conflict_with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例：「争议解决」约定北京仲裁 与「管辖条款」约定杭州法院 同时存在 → 冲突示警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37760"/>
            <a:ext cx="10972800" cy="1097280"/>
          </a:xfrm>
          <a:prstGeom prst="roundRect">
            <a:avLst>
              <a:gd name="adj" fmla="val 6000"/>
            </a:avLst>
          </a:prstGeom>
          <a:solidFill>
            <a:srgbClr val="193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54864" rIns="274320" bIns="54864" rtlCol="0" anchor="ctr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从诊断到治疗：缺失条款自动补全</a:t>
            </a:r>
          </a:p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DDE4F7"/>
                </a:solidFill>
                <a:latin typeface="微软雅黑"/>
                <a:ea typeface="微软雅黑"/>
                <a:cs typeface="微软雅黑"/>
              </a:rPr>
              <a:t>对缺失条款，从模板库调取标准文本 + 结合上下文生成定制补全建议——不仅告诉用户「少了什么」，还直接给出可用的条款文本；priority=required 的缺失单独汇总为关键缺失（如不可抗力、数据保护）。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SmartContract Auditor · 海底喵喵队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93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329184"/>
            <a:ext cx="87782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方案四：用户反馈闭环与审核报告生成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457200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核心方案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用户反馈闭环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72768"/>
            <a:ext cx="5394960" cy="713232"/>
          </a:xfrm>
          <a:prstGeom prst="roundRect">
            <a:avLst>
              <a:gd name="adj" fmla="val 12000"/>
            </a:avLst>
          </a:prstGeom>
          <a:solidFill>
            <a:srgbClr val="F5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655064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✓ 确认正确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56816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作为正例存入 feedback_log，增强判断信心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14016"/>
            <a:ext cx="5394960" cy="713232"/>
          </a:xfrm>
          <a:prstGeom prst="roundRect">
            <a:avLst>
              <a:gd name="adj" fmla="val 12000"/>
            </a:avLst>
          </a:prstGeom>
          <a:solidFill>
            <a:srgbClr val="F5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496312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✗ 标记错误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798064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选择误报/漏报/等级不准，提交修正意见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55264"/>
            <a:ext cx="5394960" cy="713232"/>
          </a:xfrm>
          <a:prstGeom prst="roundRect">
            <a:avLst>
              <a:gd name="adj" fmla="val 12000"/>
            </a:avLst>
          </a:prstGeom>
          <a:solidFill>
            <a:srgbClr val="F5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33756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＋ 手动补充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63931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添加 AI 未检测到的风险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160520"/>
            <a:ext cx="5394960" cy="18338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zh-CN" altLang="en-US" sz="125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闭环定位：</a:t>
            </a:r>
          </a:p>
          <a:p>
            <a:pPr algn="l">
              <a:spcAft>
                <a:spcPts val="400"/>
              </a:spcAft>
            </a:pPr>
            <a:r>
              <a:rPr lang="zh-CN" altLang="en-US" sz="125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反馈先入 </a:t>
            </a:r>
            <a:r>
              <a:rPr lang="en-US" sz="125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feedback_logs </a:t>
            </a:r>
            <a:r>
              <a:rPr lang="zh-CN" altLang="en-US" sz="125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留痕（</a:t>
            </a:r>
            <a:r>
              <a:rPr lang="en-US" sz="125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pending）→ reviewer </a:t>
            </a:r>
            <a:r>
              <a:rPr lang="zh-CN" altLang="en-US" sz="125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审核 → </a:t>
            </a:r>
            <a:r>
              <a:rPr lang="en-US" sz="125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admin </a:t>
            </a:r>
            <a:r>
              <a:rPr lang="zh-CN" altLang="en-US" sz="125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批准 → 沉淀为 </a:t>
            </a:r>
            <a:r>
              <a:rPr lang="en-US" sz="125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feedback_experiences </a:t>
            </a:r>
            <a:r>
              <a:rPr lang="zh-CN" altLang="en-US" sz="125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风险经验 → 进入独立向量库（</a:t>
            </a:r>
            <a:r>
              <a:rPr lang="en-US" sz="125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Chroma: feedback_experiences）→ </a:t>
            </a:r>
            <a:r>
              <a:rPr lang="zh-CN" altLang="en-US" sz="125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后续审核检索后作为「历史人工参考」注入证据抽取 </a:t>
            </a:r>
            <a:r>
              <a:rPr lang="en-US" sz="125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prompt，</a:t>
            </a:r>
            <a:r>
              <a:rPr lang="zh-CN" altLang="en-US" sz="125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并在审核记录 </a:t>
            </a:r>
            <a:r>
              <a:rPr lang="en-US" sz="125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learning_context </a:t>
            </a:r>
            <a:r>
              <a:rPr lang="zh-CN" altLang="en-US" sz="125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留痕；经验可撤销并从向量库精确回退。</a:t>
            </a:r>
          </a:p>
          <a:p>
            <a:pPr algn="l">
              <a:spcAft>
                <a:spcPts val="400"/>
              </a:spcAft>
            </a:pPr>
            <a:r>
              <a:rPr lang="en-US" altLang="zh-CN" sz="125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※ </a:t>
            </a:r>
            <a:r>
              <a:rPr lang="zh-CN" altLang="en-US" sz="125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这不是模型参数微调（不训练、不改权重、不改规则），风险最终裁决仍由代码确定性完成；</a:t>
            </a:r>
            <a:r>
              <a:rPr lang="en-US" sz="125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Feedback RAG </a:t>
            </a:r>
            <a:r>
              <a:rPr lang="zh-CN" altLang="en-US" sz="125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默认关闭，当前正式库中反馈数据为 </a:t>
            </a:r>
            <a:r>
              <a:rPr lang="en-US" altLang="zh-CN" sz="125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0 </a:t>
            </a:r>
            <a:r>
              <a:rPr lang="zh-CN" altLang="en-US" sz="125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条。</a:t>
            </a:r>
            <a:endParaRPr sz="1150" b="0" i="1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63640" y="11887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结构化审核报告（四大区块）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572768"/>
            <a:ext cx="5303520" cy="713232"/>
          </a:xfrm>
          <a:prstGeom prst="roundRect">
            <a:avLst>
              <a:gd name="adj" fmla="val 12000"/>
            </a:avLst>
          </a:prstGeom>
          <a:solidFill>
            <a:srgbClr val="F8FAFF"/>
          </a:solidFill>
          <a:ln w="12700">
            <a:solidFill>
              <a:srgbClr val="C7D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1655064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合同基本信息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956816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编号/类型/双方/金额/日期，自动提取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2414016"/>
            <a:ext cx="5303520" cy="713232"/>
          </a:xfrm>
          <a:prstGeom prst="roundRect">
            <a:avLst>
              <a:gd name="adj" fmla="val 12000"/>
            </a:avLst>
          </a:prstGeom>
          <a:solidFill>
            <a:srgbClr val="F8FAFF"/>
          </a:solidFill>
          <a:ln w="12700">
            <a:solidFill>
              <a:srgbClr val="C7D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2496312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风险评估总览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798064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风险热力图 + 等级分布 + 综合评分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255264"/>
            <a:ext cx="5303520" cy="713232"/>
          </a:xfrm>
          <a:prstGeom prst="roundRect">
            <a:avLst>
              <a:gd name="adj" fmla="val 12000"/>
            </a:avLst>
          </a:prstGeom>
          <a:solidFill>
            <a:srgbClr val="F8FAFF"/>
          </a:solidFill>
          <a:ln w="12700">
            <a:solidFill>
              <a:srgbClr val="C7D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92240" y="333756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风险条款逐项分析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63931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原文定位 + 等级 + 建议 + 审核路径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4096512"/>
            <a:ext cx="5303520" cy="713232"/>
          </a:xfrm>
          <a:prstGeom prst="roundRect">
            <a:avLst>
              <a:gd name="adj" fmla="val 12000"/>
            </a:avLst>
          </a:prstGeom>
          <a:solidFill>
            <a:srgbClr val="F8FAFF"/>
          </a:solidFill>
          <a:ln w="12700">
            <a:solidFill>
              <a:srgbClr val="C7D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0" y="4178808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条款完整性检查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48056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缺失清单 + 偏离对比 + 补全建议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5074920"/>
            <a:ext cx="5303520" cy="3912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1150" b="1" i="0">
                <a:solidFill>
                  <a:srgbClr val="16A34A"/>
                </a:solidFill>
                <a:latin typeface="微软雅黑"/>
                <a:ea typeface="微软雅黑"/>
                <a:cs typeface="微软雅黑"/>
              </a:rPr>
              <a:t>输出 </a:t>
            </a:r>
            <a:r>
              <a:rPr lang="en-US" altLang="zh-CN" sz="1150" b="1" i="0">
                <a:solidFill>
                  <a:srgbClr val="16A34A"/>
                </a:solidFill>
                <a:latin typeface="微软雅黑"/>
                <a:ea typeface="微软雅黑"/>
                <a:cs typeface="微软雅黑"/>
              </a:rPr>
              <a:t>HTML </a:t>
            </a:r>
            <a:r>
              <a:rPr lang="zh-CN" altLang="en-US" sz="1150" b="1" i="0">
                <a:solidFill>
                  <a:srgbClr val="16A34A"/>
                </a:solidFill>
                <a:latin typeface="微软雅黑"/>
                <a:ea typeface="微软雅黑"/>
                <a:cs typeface="微软雅黑"/>
              </a:rPr>
              <a:t>在线预览；风险热力图为整篇风险等级分布（</a:t>
            </a:r>
            <a:r>
              <a:rPr lang="en-US" altLang="zh-CN" sz="1150" b="1" i="0">
                <a:solidFill>
                  <a:srgbClr val="16A34A"/>
                </a:solidFill>
                <a:latin typeface="微软雅黑"/>
                <a:ea typeface="微软雅黑"/>
                <a:cs typeface="微软雅黑"/>
              </a:rPr>
              <a:t>high/mid/low </a:t>
            </a:r>
            <a:r>
              <a:rPr lang="zh-CN" altLang="en-US" sz="1150" b="1" i="0">
                <a:solidFill>
                  <a:srgbClr val="16A34A"/>
                </a:solidFill>
                <a:latin typeface="微软雅黑"/>
                <a:ea typeface="微软雅黑"/>
                <a:cs typeface="微软雅黑"/>
              </a:rPr>
              <a:t>计数），非逐页密度图</a:t>
            </a:r>
            <a:endParaRPr sz="1150" b="1" i="0">
              <a:solidFill>
                <a:srgbClr val="16A34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SmartContract Auditor · 海底喵喵队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93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329184"/>
            <a:ext cx="87782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产品体验：看到风险 → 一键跳转 → 理解判断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457200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体验创新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5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68680" y="1417320"/>
            <a:ext cx="502920" cy="502920"/>
          </a:xfrm>
          <a:prstGeom prst="ellipse">
            <a:avLst/>
          </a:prstGeom>
          <a:solidFill>
            <a:srgbClr val="193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481328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上传即审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57400"/>
            <a:ext cx="3108960" cy="4222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115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上传后自动解析 </a:t>
            </a:r>
            <a:r>
              <a:rPr lang="en-US" altLang="zh-CN" sz="115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+ </a:t>
            </a:r>
            <a:r>
              <a:rPr lang="zh-CN" altLang="en-US" sz="115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分类 </a:t>
            </a:r>
            <a:r>
              <a:rPr lang="en-US" altLang="zh-CN" sz="115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+ </a:t>
            </a:r>
            <a:r>
              <a:rPr lang="zh-CN" altLang="en-US" sz="115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要素抽取（本机实测一份 </a:t>
            </a:r>
            <a:r>
              <a:rPr lang="en-US" altLang="zh-CN" sz="115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496KB </a:t>
            </a:r>
            <a:r>
              <a:rPr lang="zh-CN" altLang="en-US" sz="115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合同约 </a:t>
            </a:r>
            <a:r>
              <a:rPr lang="en-US" altLang="zh-CN" sz="115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40 </a:t>
            </a:r>
            <a:r>
              <a:rPr lang="zh-CN" altLang="en-US" sz="115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秒，含两次 </a:t>
            </a:r>
            <a:r>
              <a:rPr lang="en-US" altLang="zh-CN" sz="115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LLM </a:t>
            </a:r>
            <a:r>
              <a:rPr lang="zh-CN" altLang="en-US" sz="115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调用）</a:t>
            </a:r>
            <a:endParaRPr sz="1150" b="0" i="0">
              <a:solidFill>
                <a:srgbClr val="2B2F3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434840" y="12344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5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663440" y="1417320"/>
            <a:ext cx="502920" cy="502920"/>
          </a:xfrm>
          <a:prstGeom prst="ellipse">
            <a:avLst/>
          </a:prstGeom>
          <a:solidFill>
            <a:srgbClr val="193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1481328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一键跳转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057400"/>
            <a:ext cx="3108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点击风险条目，合同原文面板自动滚动并高亮对应条款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2344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5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458200" y="1417320"/>
            <a:ext cx="502920" cy="502920"/>
          </a:xfrm>
          <a:prstGeom prst="ellipse">
            <a:avLst/>
          </a:prstGeom>
          <a:solidFill>
            <a:srgbClr val="193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1481328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逐条追溯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057400"/>
            <a:ext cx="3108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每条风险附证据链 + 裁决依据 + 法条 + 修改建议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SmartContract Auditor · 海底喵喵队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E5F81CBE-854F-FAF1-D644-F54E537BAB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175000"/>
            <a:ext cx="5581952" cy="2705100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FD95A72E-6740-806C-0F9D-988EBF5A0A2E}"/>
              </a:ext>
            </a:extLst>
          </p:cNvPr>
          <p:cNvSpPr txBox="1"/>
          <p:nvPr/>
        </p:nvSpPr>
        <p:spPr>
          <a:xfrm>
            <a:off x="762000" y="6121400"/>
            <a:ext cx="55880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950">
                <a:solidFill>
                  <a:srgbClr val="808080"/>
                </a:solidFill>
              </a:rPr>
              <a:t>真实截图：审核报告页 </a:t>
            </a:r>
            <a:r>
              <a:rPr lang="en-US" altLang="zh-CN" sz="950">
                <a:solidFill>
                  <a:srgbClr val="808080"/>
                </a:solidFill>
              </a:rPr>
              <a:t>· </a:t>
            </a:r>
            <a:r>
              <a:rPr lang="zh-CN" altLang="en-US" sz="950">
                <a:solidFill>
                  <a:srgbClr val="808080"/>
                </a:solidFill>
              </a:rPr>
              <a:t>合同信息 </a:t>
            </a:r>
            <a:r>
              <a:rPr lang="en-US" altLang="zh-CN" sz="950">
                <a:solidFill>
                  <a:srgbClr val="808080"/>
                </a:solidFill>
              </a:rPr>
              <a:t>/ </a:t>
            </a:r>
            <a:r>
              <a:rPr lang="zh-CN" altLang="en-US" sz="950">
                <a:solidFill>
                  <a:srgbClr val="808080"/>
                </a:solidFill>
              </a:rPr>
              <a:t>风险评分 </a:t>
            </a:r>
            <a:r>
              <a:rPr lang="en-US" altLang="zh-CN" sz="950">
                <a:solidFill>
                  <a:srgbClr val="808080"/>
                </a:solidFill>
              </a:rPr>
              <a:t>/ </a:t>
            </a:r>
            <a:r>
              <a:rPr lang="zh-CN" altLang="en-US" sz="950">
                <a:solidFill>
                  <a:srgbClr val="808080"/>
                </a:solidFill>
              </a:rPr>
              <a:t>风险项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FE02C555-5E1D-CE33-F86A-1082722CD1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1300" y="3175000"/>
            <a:ext cx="4839038" cy="2336800"/>
          </a:xfrm>
          <a:prstGeom prst="rect">
            <a:avLst/>
          </a:prstGeom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7CDE9CBA-045A-1AAE-D757-DB698B9C7741}"/>
              </a:ext>
            </a:extLst>
          </p:cNvPr>
          <p:cNvSpPr txBox="1"/>
          <p:nvPr/>
        </p:nvSpPr>
        <p:spPr>
          <a:xfrm>
            <a:off x="6604000" y="6121400"/>
            <a:ext cx="48260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950">
                <a:solidFill>
                  <a:srgbClr val="808080"/>
                </a:solidFill>
              </a:rPr>
              <a:t>真实截图：风险详情 </a:t>
            </a:r>
            <a:r>
              <a:rPr lang="en-US" altLang="zh-CN" sz="950">
                <a:solidFill>
                  <a:srgbClr val="808080"/>
                </a:solidFill>
              </a:rPr>
              <a:t>Tab · </a:t>
            </a:r>
            <a:r>
              <a:rPr lang="zh-CN" altLang="en-US" sz="950">
                <a:solidFill>
                  <a:srgbClr val="808080"/>
                </a:solidFill>
              </a:rPr>
              <a:t>风险条目与结构化画像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93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210866"/>
            <a:ext cx="8778240" cy="830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zh-CN" altLang="en-US" sz="270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创新亮点总结：赛题鼓励方向落地情况（已落地与规划项如实区分）</a:t>
            </a:r>
            <a:endParaRPr sz="2700" b="1" i="0">
              <a:solidFill>
                <a:srgbClr val="1935C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509760" y="457200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创新汇总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赛题第 7 节鼓励的三个创新方向：多轮修改、图分析已落地，印章/签名定位为规划项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F5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3566160" cy="109728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81051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多轮对话式合同修改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194560"/>
            <a:ext cx="320040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50" b="1" i="0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Leader–Follower </a:t>
            </a:r>
            <a:r>
              <a:rPr lang="zh-CN" altLang="en-US" sz="1150" b="1" i="0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修订流程</a:t>
            </a:r>
            <a:endParaRPr sz="1150" b="1" i="0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1247" y="2542032"/>
            <a:ext cx="3200400" cy="5922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110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统一修订会话：</a:t>
            </a:r>
            <a:r>
              <a:rPr lang="en-US" altLang="zh-CN" sz="110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Leader </a:t>
            </a:r>
            <a:r>
              <a:rPr lang="zh-CN" altLang="en-US" sz="110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生成草案 </a:t>
            </a:r>
            <a:r>
              <a:rPr lang="en-US" altLang="zh-CN" sz="110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+ Follower </a:t>
            </a:r>
            <a:r>
              <a:rPr lang="zh-CN" altLang="en-US" sz="110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从法务角度审校，自然语言指令改条款并输出前后对比；位置由用户确认、采用态由用户点击</a:t>
            </a:r>
            <a:endParaRPr sz="1100" b="0" i="0">
              <a:solidFill>
                <a:srgbClr val="2B2F3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434840" y="1600200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F5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1600200"/>
            <a:ext cx="3566160" cy="109728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36008" y="181051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知识图谱跨条款关联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19456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图分析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2542032"/>
            <a:ext cx="32004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depends_on / conflict_with 图论字段，检测「前置缺失」「互斥并存」联动风险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600200"/>
            <a:ext cx="3566160" cy="1874519"/>
          </a:xfrm>
          <a:prstGeom prst="roundRect">
            <a:avLst>
              <a:gd name="adj" fmla="val 6000"/>
            </a:avLst>
          </a:prstGeom>
          <a:solidFill>
            <a:srgbClr val="F5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0" y="1600200"/>
            <a:ext cx="3566160" cy="109728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30768" y="181051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印章/签名定位（规划项）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8" y="2194560"/>
            <a:ext cx="320040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50" b="1" i="0">
                <a:solidFill>
                  <a:srgbClr val="E60012"/>
                </a:solidFill>
                <a:latin typeface="微软雅黑"/>
                <a:ea typeface="微软雅黑"/>
                <a:cs typeface="微软雅黑"/>
              </a:rPr>
              <a:t>RapidOCR</a:t>
            </a:r>
            <a:endParaRPr sz="1150" b="1" i="0">
              <a:solidFill>
                <a:srgbClr val="E6001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430768" y="2542032"/>
            <a:ext cx="32004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文档解析集成 RapidOCR 做文字识别；印章/签名检测为规划项，尚未实现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7033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前沿论文关键思想逐一落地（未落地的如实标注，不夸大）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11480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Self-Consistency</a:t>
            </a:r>
          </a:p>
          <a:p>
            <a:pPr algn="l"/>
            <a:r>
              <a:rPr sz="105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分类分块独立判 + 多数投票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11480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KATE / kNN-LM</a:t>
            </a:r>
          </a:p>
          <a:p>
            <a:pPr algn="l"/>
            <a:r>
              <a:rPr sz="105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RAG 检索范本作少样本示例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11480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Lost-in-the-Middle</a:t>
            </a:r>
          </a:p>
          <a:p>
            <a:pPr algn="l"/>
            <a:r>
              <a:rPr sz="105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首尾块必含 + 中间采样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89204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RAG / REALM</a:t>
            </a:r>
          </a:p>
          <a:p>
            <a:pPr algn="l"/>
            <a:r>
              <a:rPr sz="105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建议层法条精确取 + grounding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89204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GRAPH-GRPO-LEX</a:t>
            </a:r>
          </a:p>
          <a:p>
            <a:pPr algn="l"/>
            <a:r>
              <a:rPr sz="105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条款比对 + 缺失检测 + 图分析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892040"/>
            <a:ext cx="3566160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lang="en-US" sz="125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Leader–Follower / </a:t>
            </a:r>
            <a:r>
              <a:rPr lang="zh-CN" altLang="en-US" sz="125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条款修订流程 </a:t>
            </a:r>
            <a:r>
              <a:rPr lang="en-US" altLang="zh-CN" sz="125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+ </a:t>
            </a:r>
            <a:r>
              <a:rPr lang="zh-CN" altLang="en-US" sz="125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多轮会话与采用态管理</a:t>
            </a:r>
            <a:endParaRPr sz="1050" b="0" i="0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SmartContract Auditor · 海底喵喵队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93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329184"/>
            <a:ext cx="87782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数据安全与企业适配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457200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工程落地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合同是企业核心商业机密，系统设计原则「数据本地处理，支持纯规则降级」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3566160" cy="1691640"/>
          </a:xfrm>
          <a:prstGeom prst="roundRect">
            <a:avLst>
              <a:gd name="adj" fmla="val 6000"/>
            </a:avLst>
          </a:prstGeom>
          <a:solidFill>
            <a:srgbClr val="F5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3566160" cy="109728"/>
          </a:xfrm>
          <a:prstGeom prst="rect">
            <a:avLst/>
          </a:prstGeom>
          <a:solidFill>
            <a:srgbClr val="193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82880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云端调用前自动脱敏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212848"/>
            <a:ext cx="32004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公司名 → 甲方/乙方，金额 → XX 万元，仅传条款片段、不传整份合同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645920"/>
            <a:ext cx="3566160" cy="1691640"/>
          </a:xfrm>
          <a:prstGeom prst="roundRect">
            <a:avLst>
              <a:gd name="adj" fmla="val 6000"/>
            </a:avLst>
          </a:prstGeom>
          <a:solidFill>
            <a:srgbClr val="F5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1645920"/>
            <a:ext cx="3566160" cy="109728"/>
          </a:xfrm>
          <a:prstGeom prst="rect">
            <a:avLst/>
          </a:prstGeom>
          <a:solidFill>
            <a:srgbClr val="193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36008" y="182880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无网/拒绝 LLM 时降级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212848"/>
            <a:ext cx="32004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切换纯规则引擎 fast 模式，功能受限但基础风险仍可检出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645920"/>
            <a:ext cx="3566160" cy="1691640"/>
          </a:xfrm>
          <a:prstGeom prst="roundRect">
            <a:avLst>
              <a:gd name="adj" fmla="val 6000"/>
            </a:avLst>
          </a:prstGeom>
          <a:solidFill>
            <a:srgbClr val="F5F7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1645920"/>
            <a:ext cx="3566160" cy="109728"/>
          </a:xfrm>
          <a:prstGeom prst="rect">
            <a:avLst/>
          </a:prstGeom>
          <a:solidFill>
            <a:srgbClr val="193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30768" y="182880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密钥与密码安全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2212848"/>
            <a:ext cx="32004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bcrypt(cost=12) 哈希；API Key 环境变量注入，不入库不入 Git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6118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部署与企业集成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023360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023360"/>
            <a:ext cx="10607040" cy="3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5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Docker Compose </a:t>
            </a:r>
            <a:r>
              <a:rPr lang="zh-CN" altLang="en-US" sz="125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两服务编排：</a:t>
            </a:r>
            <a:r>
              <a:rPr lang="en-US" sz="125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api + web（ChromaDB </a:t>
            </a:r>
            <a:r>
              <a:rPr lang="zh-CN" altLang="en-US" sz="125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内嵌后端，无独立容器）</a:t>
            </a:r>
          </a:p>
          <a:p>
            <a:pPr algn="l"/>
            <a:r>
              <a:rPr lang="zh-CN" altLang="en-US" sz="125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如实说明：配置已完成，但当前开发机无 </a:t>
            </a:r>
            <a:r>
              <a:rPr lang="en-US" sz="125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Docker </a:t>
            </a:r>
            <a:r>
              <a:rPr lang="zh-CN" altLang="en-US" sz="125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环境，尚未做真实 </a:t>
            </a:r>
            <a:r>
              <a:rPr lang="en-US" sz="125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build/up </a:t>
            </a:r>
            <a:r>
              <a:rPr lang="zh-CN" altLang="en-US" sz="125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验证</a:t>
            </a:r>
            <a:endParaRPr sz="1200" b="0" i="0">
              <a:solidFill>
                <a:srgbClr val="66708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5800" y="4590288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590288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开源模型降级：</a:t>
            </a:r>
          </a:p>
          <a:p>
            <a:pPr algn="l"/>
            <a:r>
              <a:rPr sz="120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DeepSeek 不可用时降级为纯规则引擎 fast 模式；本地大模型接入为规划项，尚未实现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157216"/>
            <a:ext cx="274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157216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企业集成接口预留：</a:t>
            </a:r>
          </a:p>
          <a:p>
            <a:pPr algn="l"/>
            <a:r>
              <a:rPr sz="120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RESTful API / SSO(OAuth2/OIDC) / 知识库 Provider 接口，V2.0 对接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SmartContract Auditor · 海底喵喵队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84048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193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329184"/>
            <a:ext cx="877824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70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开发历程与 V2.0 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457200"/>
            <a:ext cx="2148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演进路线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5394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三阶段开发，现已全部交付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618488"/>
            <a:ext cx="384048" cy="384048"/>
          </a:xfrm>
          <a:prstGeom prst="ellipse">
            <a:avLst/>
          </a:prstGeom>
          <a:solidFill>
            <a:srgbClr val="193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572768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线下设计周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92024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需求定稿 · 技术评审 · 骨架搭建 · 登录联调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9536" y="2029967"/>
            <a:ext cx="36576" cy="320040"/>
          </a:xfrm>
          <a:prstGeom prst="rect">
            <a:avLst/>
          </a:prstGeom>
          <a:solidFill>
            <a:srgbClr val="C7D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85800" y="2532887"/>
            <a:ext cx="384048" cy="384048"/>
          </a:xfrm>
          <a:prstGeom prst="ellipse">
            <a:avLst/>
          </a:prstGeom>
          <a:solidFill>
            <a:srgbClr val="193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487168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线上开发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834639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P0 全流程跑通：上传→解析→分类→裁决→比对→报告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6" y="2944368"/>
            <a:ext cx="36576" cy="320040"/>
          </a:xfrm>
          <a:prstGeom prst="rect">
            <a:avLst/>
          </a:prstGeom>
          <a:solidFill>
            <a:srgbClr val="C7D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85800" y="3447287"/>
            <a:ext cx="384048" cy="384048"/>
          </a:xfrm>
          <a:prstGeom prst="ellipse">
            <a:avLst/>
          </a:prstGeom>
          <a:solidFill>
            <a:srgbClr val="193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401568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评测冲刺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749039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测试集落地 · 三大指标全部达标 · 对照实验迭代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18872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V2.0 未来规划（已完成需求与概要设计）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572768"/>
            <a:ext cx="5303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▪ </a:t>
            </a:r>
          </a:p>
          <a:p>
            <a:pPr algn="l"/>
            <a:r>
              <a:rPr sz="125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自定义审查规则引擎</a:t>
            </a:r>
          </a:p>
          <a:p>
            <a:pPr algn="l"/>
            <a:r>
              <a:rPr sz="110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  可视化规则配置 + 规则市场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231136"/>
            <a:ext cx="5303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▪ </a:t>
            </a:r>
          </a:p>
          <a:p>
            <a:pPr algn="l"/>
            <a:r>
              <a:rPr sz="125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合同版本差异对比</a:t>
            </a:r>
          </a:p>
          <a:p>
            <a:pPr algn="l"/>
            <a:r>
              <a:rPr sz="110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  diff-match-patch + LLM 语义分析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889504"/>
            <a:ext cx="5303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▪ </a:t>
            </a:r>
          </a:p>
          <a:p>
            <a:pPr algn="l"/>
            <a:r>
              <a:rPr sz="125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企业知识库管理</a:t>
            </a:r>
          </a:p>
          <a:p>
            <a:pPr algn="l"/>
            <a:r>
              <a:rPr sz="110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  管理后台 + 自动向量化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3547872"/>
            <a:ext cx="5303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▪ </a:t>
            </a:r>
          </a:p>
          <a:p>
            <a:pPr algn="l"/>
            <a:r>
              <a:rPr sz="125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RBAC 三级权限 / 审计日志</a:t>
            </a:r>
          </a:p>
          <a:p>
            <a:pPr algn="l"/>
            <a:r>
              <a:rPr sz="110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  admin/legal/viewer + 操作审计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206240"/>
            <a:ext cx="53035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▪ </a:t>
            </a:r>
          </a:p>
          <a:p>
            <a:pPr algn="l"/>
            <a:r>
              <a:rPr sz="1250" b="1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知识图谱可视化</a:t>
            </a:r>
          </a:p>
          <a:p>
            <a:pPr algn="l"/>
            <a:r>
              <a:rPr sz="110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  实体关系抽取 + Neo4j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074920"/>
            <a:ext cx="10972800" cy="914400"/>
          </a:xfrm>
          <a:prstGeom prst="roundRect">
            <a:avLst>
              <a:gd name="adj" fmla="val 8000"/>
            </a:avLst>
          </a:prstGeom>
          <a:solidFill>
            <a:srgbClr val="F8FAFF"/>
          </a:solidFill>
          <a:ln w="12700">
            <a:solidFill>
              <a:srgbClr val="C7D2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54864" rIns="274320" bIns="54864" rtlCol="0" anchor="ctr"/>
          <a:lstStyle/>
          <a:p>
            <a:pPr algn="l">
              <a:spcAft>
                <a:spcPts val="300"/>
              </a:spcAft>
            </a:pPr>
            <a:r>
              <a:rPr sz="1250" b="1" i="0">
                <a:solidFill>
                  <a:srgbClr val="1935C3"/>
                </a:solidFill>
                <a:latin typeface="微软雅黑"/>
                <a:ea typeface="微软雅黑"/>
                <a:cs typeface="微软雅黑"/>
              </a:rPr>
              <a:t>V2.0 的定位：</a:t>
            </a:r>
          </a:p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B2F38"/>
                </a:solidFill>
                <a:latin typeface="微软雅黑"/>
                <a:ea typeface="微软雅黑"/>
                <a:cs typeface="微软雅黑"/>
              </a:rPr>
              <a:t>以上功能已完成需求与概要设计，说明本项目有清晰的演进路径，不是「做完就扔」——初赛聚焦 P0/P1 完整演示闭环，V2.0 体现团队对产品的长期思考。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SmartContract Auditor · 海底喵喵队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7085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326880" y="-1097280"/>
            <a:ext cx="4206240" cy="4206240"/>
          </a:xfrm>
          <a:prstGeom prst="ellipse">
            <a:avLst/>
          </a:prstGeom>
          <a:solidFill>
            <a:srgbClr val="102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280160" y="5120640"/>
            <a:ext cx="2743200" cy="2743200"/>
          </a:xfrm>
          <a:prstGeom prst="ellipse">
            <a:avLst/>
          </a:prstGeom>
          <a:solidFill>
            <a:srgbClr val="102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总结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645920"/>
            <a:ext cx="457200" cy="457200"/>
          </a:xfrm>
          <a:prstGeom prst="ellipse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554480"/>
            <a:ext cx="9875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硬指标全部达标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947672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DDE4F7"/>
                </a:solidFill>
                <a:latin typeface="微软雅黑"/>
                <a:ea typeface="微软雅黑"/>
                <a:cs typeface="微软雅黑"/>
              </a:rPr>
              <a:t>分类 98.6% · 要素 F1 93.7% · 风险 P 76.6% / R 80.1%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606039"/>
            <a:ext cx="457200" cy="457200"/>
          </a:xfrm>
          <a:prstGeom prst="ellipse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514600"/>
            <a:ext cx="9875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硬核创新壁垒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907791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DDE4F7"/>
                </a:solidFill>
                <a:latin typeface="微软雅黑"/>
                <a:ea typeface="微软雅黑"/>
                <a:cs typeface="微软雅黑"/>
              </a:rPr>
              <a:t>证据-裁决解耦：LLM 抽事实 + 代码确定性裁决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566159"/>
            <a:ext cx="457200" cy="457200"/>
          </a:xfrm>
          <a:prstGeom prst="ellipse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474720"/>
            <a:ext cx="9875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完整工程闭环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867911"/>
            <a:ext cx="9875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DDE4F7"/>
                </a:solidFill>
                <a:latin typeface="微软雅黑"/>
                <a:ea typeface="微软雅黑"/>
                <a:cs typeface="微软雅黑"/>
              </a:rPr>
              <a:t>从上传到报告的 AI 原生合同审核平台，可部署可复现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526280"/>
            <a:ext cx="502920" cy="82296"/>
          </a:xfrm>
          <a:prstGeom prst="rect">
            <a:avLst/>
          </a:prstGeom>
          <a:solidFill>
            <a:srgbClr val="E60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800600"/>
            <a:ext cx="10515600" cy="288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endParaRPr sz="1600" b="1" i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DDE4F7"/>
                </a:solidFill>
                <a:latin typeface="微软雅黑"/>
                <a:ea typeface="微软雅黑"/>
                <a:cs typeface="微软雅黑"/>
              </a:rPr>
              <a:t>感谢聆听 · 敬请各位评委老师指正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5928</Words>
  <Application>Microsoft Office PowerPoint</Application>
  <PresentationFormat>宽屏</PresentationFormat>
  <Paragraphs>456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Error Amon</cp:lastModifiedBy>
  <cp:revision>10</cp:revision>
  <dcterms:created xsi:type="dcterms:W3CDTF">2013-01-27T09:14:16Z</dcterms:created>
  <dcterms:modified xsi:type="dcterms:W3CDTF">2026-09-19T07:43:45Z</dcterms:modified>
  <cp:category/>
</cp:coreProperties>
</file>