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9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04" d="100"/>
          <a:sy n="104" d="100"/>
        </p:scale>
        <p:origin x="96" y="7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59381953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各位评委老师好，我们是「海底汪汪队」。今天汇报的是我们为网新恒天命题开发的「基于大模型的企业合同智能审核与风险预警系统」——SmartContract Auditor。它是一个 AI 原生的合同审核平台，核心理念是「人机协同审核」：让大模型去做它擅长的语义理解，把最终的风险裁决交给可复现的确定性规则，帮助法务在几分钟内完成原本需要几小时的逐条审核。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汇报分为六个部分：先说项目背景与痛点，再对照赛题要求看三大硬指标的达标情况；接着讲系统架构和审核链路；然后展开四大核心技术方案；重点讲我们的核心创新「证据-裁决解耦」；最后总结创新亮点、工程落地与未来规划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先看背景。网新恒天作为国内领先的 IT 服务与金融科技企业，法务部每天面对大量技术服务、软件开发外包、SaaS 协议和金融合作协议。传统模式下，一份典型的技术外包合同完整审核需要 2 到 4 小时，而且行业特有风险——比如 SLA 罚则、数据导出销毁、源代码托管、IP 归属——很难靠通用经验覆盖。更棘手的是，法务知识沉淀在个人脑中，人一走经验就没了。我们的系统把审核时间压缩到 5 到 15 分钟，风险遗漏率降到 5% 以下，同时把审核知识系统化沉淀下来。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对照赛题，三大硬指标全部超额完成。合同分类准确率 98.6%，赛题要求 85%，超额 13.6 个百分点，是在 147 份正式测试集上测出来的；要素抽取 F1 达到 93.7%，超额 13.7 个百分点；风险识别我们覆盖了 13 类风险，召回率 80.1%、精准率 76.6%，双双超过 75% 的门槛。需要说明的是，这些不是 PPT 数字，而是冻结测试集上可复现的实测结果，评测脚本和 gold 标注都在仓库里。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系统采用经典的四层架构。第一层是 Vue 3 前端，承载上传、审核结果、报告、反馈等五个核心页面；第二层是 FastAPI 业务后端，负责认证、合同管理、审核调度；第三层是 AI 核心引擎，作为同进程 Python 包被业务层直接调用，不走 HTTP，省去序列化开销；第四层是数据持久层，MySQL 存业务数据、ChromaDB 存向量知识库、文件系统存合同原件。一个关键决策是全栈 Python——AI 逻辑和业务逻辑在同一进程，用函数调用代替服务间通信。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审核主链路分五步。第一步解析理解：支持 docx、pdf、扫描件 OCR，然后做智能分类和要素抽取；第二步规则召回：用确定性正则先扫一遍 13 类风险，它既是 fast 模式的基线，也是 precise 模式异常时的兜底；第三步证据裁决：这是我们的核心——LLM 只抽取条款的客观事实证据，风险判定交给 Python 代码按硬阈值裁决；第四步建议生成：按法条编号精确取条文，再由 LLM 生成修改建议并做 grounding 校验；第五步输出沉淀：条款定位、条款比对、生成结构化报告。系统提供 fast 和 precise 两个模式，全链路 temperature 设为 0，保证结论可复现。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这是整个项目最核心的创新——证据-裁决解耦。直接让 LLM 判断风险有两个致命问题：幻觉和不一致。它会编造原文根本不存在的风险条款，而且同一份合同两次审核结论会漂移。我们的做法是把「有没有风险」和「怎么改」彻底拆开：LLM 只用一套冻结的 JSON Schema 抽取客观事实证据，找不到就填 null、绝不臆测、不下风险结论；风险判定完全交给 Python 代码按法条硬阈值裁决，模棱两可的一律不标。打个比方：我们不问 AI『这条有没有风险』，只让它做笔录抽取事实，然后让代码当法官按阈值一锤定音。AI 记错了，法官核对原文就能发现；AI 判错了，没法核对。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这套架构不是拍脑袋想出来的，而是用数据迭代出来的。v4 让 LLM 泛化 Prompt 直接判风险，精准率只有 24%，过报了 466 条；v5 把阈值写进提示词，召回率反而被误杀到 73.5%；直到 v6.4，我们把「抽事实」和「裁决」解耦——LLM 只抽事实、代码按硬阈值裁决，精准率从 24% 拉到 76.6%，同时召回率守住 80.1%，F1 达到 78.3%。结论很清楚：LLM 擅长布尔和数值判断，但复杂枚举和嵌套规则应该交给代码。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方案一是智能分类与要素抽取。分类采用 RAG 少样本检索加 LLM 法理推理，输出两个正交维度：11 类法理分类加上「服务外包」业务标签。为对抗长合同的中间信息丢失，我们做分块采样加多数投票，分类准确率达到 98.6%。要素抽取用 JSON Schema 约束加 Few-shot，抽取双方、金额、日期、期限、争议解决等字段，长合同分块并行、按非空优先合并，加权综合 F1 达到 93.7%。右边这个位置我放合同详情页的截图，展示要素抽取的结构化结果。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方案二是证据驱动的确定性风险识别，覆盖 13 类风险。分三层：第一层规则召回，用确定性正则先扫一遍，是 fast 基线和 precise 的兜底；第二层证据裁决，LLM 抽取事实、代码按硬阈值裁决；第三层建议层，按法条编号精确取条文再生成修改建议，并做 grounding 校验。这 13 类风险是专门面向 IT 服务和金融科技行业设计的，比如 SLA 罚则、数据导出销毁、IP 归属、源代码托管义务，直接匹配网新恒天的业务场景。每一条风险都能追溯到「抽了什么事实、按哪条阈值裁决、依据哪条法条、怎么改」。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方案三是标准条款比对与缺失检测。传统的关键词匹配无法应对条款标题表述各异、顺序重排、内容拆分合并的问题。我们采用三步：先按合同类型做结构化过滤，再让 LLM 逐条判定覆盖、部分覆盖还是缺失，最后用图分析检测跨条款联动风险。这里有两个典型例子：前置依赖——如果缺失了验收标准条款，下游付款条款的验收节点就会失效；互斥冲突——争议解决约定北京仲裁、管辖条款却约定杭州法院，两者同时存在就报警。对缺失条款，我们不仅提示缺了什么，还直接给出可用的补全文本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方案四是反馈闭环和报告生成。法务可以对每条 AI 标注做三种操作：确认正确、标记错误、手动补充，反馈以结构化形式存储，积累到一定量后导出用于模型迭代。这里有个重要的设计取舍——法律审核要求结果稳定可追溯，所以反馈不即时改变结论，而是版本化沉淀、支持回滚，避免过度承诺实时自适应。报告侧输出四大区块：基本信息、风险评估总览、风险条款逐项分析、条款完整性检查，其中风险热力图把每一页的风险密度映射成颜色，这是我们区别于命令行和纯文本输出的核心体验优势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在产品体验上，我们做了「看到风险、一键跳转、理解判断」三步闭环。上传合同后约 30 秒出风险热力图，红色区域一眼就能看到风险集中在哪几页；点击任意一条审核结果，右侧原文面板自动滚动到对应条款并高亮；每一条风险都附带完整的证据链、裁决依据、法条和修改建议，AI 的判断逻辑完全可追溯。这里我放两张截图——左边是报告页的风险热力图，右边是审核结果详情页的原文高亮定位。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在创新亮点上，赛题第 7 节明确鼓励三个方向，我们全部落地。多轮对话式合同修改采用 RCBSF 多智能体，Leader 生成草案、Follower 从法务角度审校；知识图谱跨条款关联分析用 depends_on 和 conflict_with 图论字段检测联动风险；印章签名区域定位集成了 PaddleOCR。同时我们参考了多篇前沿论文，关键思想逐一落地——Self-Consistency 的多数投票、KATE 的 kNN 检索少样本、Lost-in-the-Middle 的首尾块处理、RAG 的可溯源 grounding 等，未落地的如实标注，不夸大。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在数据安全和企业适配上，合同是核心商业机密，所以我们的原则是数据本地处理、支持纯规则降级。云端调用前自动脱敏——公司名替换成甲乙双方、金额替换成 XX 万元，只传条款片段、不传整份合同；无网络或用户拒绝调用 LLM 时自动降级为纯规则引擎模式。部署上提供 Docker Compose 四容器一键部署，评委 15 分钟即可复现；也支持切换本地开源模型做私有化部署，数据不出内网；并预留了企业 OA 对接、SSO 单点登录、知识库 Provider 等集成接口。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开发按线下设计、线上开发、评测冲刺三阶段推进，现在已全部交付。P0 的核心流程——上传、解析、分类、要素抽取、规则召回、证据裁决、建议层、条款比对、报告——全部跑通。同时我们为 V2.0 规划了自定义规则引擎、合同版本对比、企业知识库管理、RBAC 三级权限、知识图谱可视化等功能，这些已完成需求分析和概要设计。V2.0 的定位是想说明，这个项目有清晰的演进路径，不是做完就扔。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r>
              <a:t>最后总结三点。第一，赛题三大硬指标全部达标、分类和要素更是大幅超额；第二，我们的核心创新是证据-裁决解耦，用「LLM 抽事实 + 代码确定性裁决」根治大模型的幻觉和不确定性，把精准率从 24% 做到 76.6%；第三，我们交付的是一个从上传到报告的完整工程闭环，Docker 一键部署、可复现可审计。我们的价值主张是：把法务从逐条比对中解放出来，5 分钟完成一份百页合同的全面审核——不只是找风险，更是沉淀企业法务知识资产。感谢各位评委老师，请批评指正。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9/15/2026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9/15/2026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9/15/2026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9/15/2026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9/15/2026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9326880" y="-1097280"/>
            <a:ext cx="4206240" cy="4206240"/>
          </a:xfrm>
          <a:prstGeom prst="ellipse">
            <a:avLst/>
          </a:prstGeom>
          <a:solidFill>
            <a:srgbClr val="102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10058400" y="4206240"/>
            <a:ext cx="3108960" cy="3108960"/>
          </a:xfrm>
          <a:prstGeom prst="ellipse">
            <a:avLst/>
          </a:prstGeom>
          <a:solidFill>
            <a:srgbClr val="122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Oval 4"/>
          <p:cNvSpPr/>
          <p:nvPr/>
        </p:nvSpPr>
        <p:spPr>
          <a:xfrm>
            <a:off x="-1280160" y="5120640"/>
            <a:ext cx="2743200" cy="2743200"/>
          </a:xfrm>
          <a:prstGeom prst="ellipse">
            <a:avLst/>
          </a:prstGeom>
          <a:solidFill>
            <a:srgbClr val="102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Rounded Rectangle 5"/>
          <p:cNvSpPr/>
          <p:nvPr/>
        </p:nvSpPr>
        <p:spPr>
          <a:xfrm>
            <a:off x="822960" y="685800"/>
            <a:ext cx="2377440" cy="402336"/>
          </a:xfrm>
          <a:prstGeom prst="roundRect">
            <a:avLst>
              <a:gd name="adj" fmla="val 50000"/>
            </a:avLst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54864" rIns="109728" bIns="54864" rtlCol="0" anchor="ctr"/>
          <a:lstStyle/>
          <a:p>
            <a:pPr algn="ctr"/>
            <a:r>
              <a:rPr sz="12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答辩汇报 ·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1828800"/>
            <a:ext cx="10515600" cy="17373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44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基于大模型的企业合同</a:t>
            </a:r>
          </a:p>
          <a:p>
            <a:pPr algn="l"/>
            <a:r>
              <a:rPr sz="44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智能审核与风险预警系统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3657600"/>
            <a:ext cx="105156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0" i="0">
                <a:solidFill>
                  <a:srgbClr val="DDE4F7"/>
                </a:solidFill>
                <a:latin typeface="微软雅黑"/>
                <a:ea typeface="微软雅黑"/>
                <a:cs typeface="微软雅黑"/>
              </a:rPr>
              <a:t>SmartContract Auditor  ·  AI 原生 · 人机协同审核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4343400"/>
            <a:ext cx="502920" cy="82296"/>
          </a:xfrm>
          <a:prstGeom prst="rect">
            <a:avLst/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22960" y="4846320"/>
            <a:ext cx="10515600" cy="1371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DDE4F7"/>
                </a:solidFill>
                <a:latin typeface="微软雅黑"/>
                <a:ea typeface="微软雅黑"/>
                <a:cs typeface="微软雅黑"/>
              </a:rPr>
              <a:t>命题企业：浙江网新恒天软件有限公司（Insigma Hengtian）</a:t>
            </a:r>
          </a:p>
          <a:p>
            <a:pPr algn="l">
              <a:spcAft>
                <a:spcPts val="600"/>
              </a:spcAft>
            </a:pPr>
            <a:r>
              <a:rPr sz="1400" b="0" i="0">
                <a:solidFill>
                  <a:srgbClr val="DDE4F7"/>
                </a:solidFill>
                <a:latin typeface="微软雅黑"/>
                <a:ea typeface="微软雅黑"/>
                <a:cs typeface="微软雅黑"/>
              </a:rPr>
              <a:t>参赛团队：海底汪汪队     ·     技术栈：Vue 3 + FastAPI + DeepSeek + ChromaDB</a:t>
            </a:r>
          </a:p>
          <a:p>
            <a:pPr algn="l"/>
            <a:r>
              <a:rPr sz="14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把法务从逐条比对中解放出来——5 分钟完成一份百页合同的全面审核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548640" y="384048"/>
            <a:ext cx="457200" cy="457200"/>
          </a:xfrm>
          <a:prstGeom prst="roundRect">
            <a:avLst>
              <a:gd name="adj" fmla="val 28000"/>
            </a:avLst>
          </a:prstGeom>
          <a:solidFill>
            <a:srgbClr val="1935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54864" rIns="109728" bIns="54864" rtlCol="0" anchor="ctr"/>
          <a:lstStyle/>
          <a:p>
            <a:pPr algn="ctr"/>
            <a:r>
              <a:rPr sz="18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00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70432" y="329184"/>
            <a:ext cx="8778240" cy="5943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700" b="1" i="0">
                <a:solidFill>
                  <a:srgbClr val="1935C3"/>
                </a:solidFill>
                <a:latin typeface="微软雅黑"/>
                <a:ea typeface="微软雅黑"/>
                <a:cs typeface="微软雅黑"/>
              </a:rPr>
              <a:t>汇报提纲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509760" y="457200"/>
            <a:ext cx="21488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50" b="0" i="0">
                <a:solidFill>
                  <a:srgbClr val="667085"/>
                </a:solidFill>
                <a:latin typeface="微软雅黑"/>
                <a:ea typeface="微软雅黑"/>
                <a:cs typeface="微软雅黑"/>
              </a:rPr>
              <a:t>A24 · 合同智能审核系统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234440"/>
            <a:ext cx="5349240" cy="1371600"/>
          </a:xfrm>
          <a:prstGeom prst="roundRect">
            <a:avLst>
              <a:gd name="adj" fmla="val 8000"/>
            </a:avLst>
          </a:prstGeom>
          <a:solidFill>
            <a:srgbClr val="F5F7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868680" y="1618488"/>
            <a:ext cx="603504" cy="603504"/>
          </a:xfrm>
          <a:prstGeom prst="ellipse">
            <a:avLst/>
          </a:prstGeom>
          <a:solidFill>
            <a:srgbClr val="1935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54864" rIns="109728" bIns="54864" rtlCol="0" anchor="ctr"/>
          <a:lstStyle/>
          <a:p>
            <a:pPr algn="ctr"/>
            <a:r>
              <a:rPr sz="15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691639" y="1435608"/>
            <a:ext cx="411480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1935C3"/>
                </a:solidFill>
                <a:latin typeface="微软雅黑"/>
                <a:ea typeface="微软雅黑"/>
                <a:cs typeface="微软雅黑"/>
              </a:rPr>
              <a:t>项目背景与痛点</a:t>
            </a:r>
          </a:p>
          <a:p>
            <a:pPr algn="l"/>
            <a:r>
              <a:rPr sz="1150" b="0" i="0">
                <a:solidFill>
                  <a:srgbClr val="667085"/>
                </a:solidFill>
                <a:latin typeface="微软雅黑"/>
                <a:ea typeface="微软雅黑"/>
                <a:cs typeface="微软雅黑"/>
              </a:rPr>
              <a:t>为什么法务需要 AI 合同审核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63640" y="1234440"/>
            <a:ext cx="5349240" cy="1371600"/>
          </a:xfrm>
          <a:prstGeom prst="roundRect">
            <a:avLst>
              <a:gd name="adj" fmla="val 8000"/>
            </a:avLst>
          </a:prstGeom>
          <a:solidFill>
            <a:srgbClr val="F5F7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Oval 9"/>
          <p:cNvSpPr/>
          <p:nvPr/>
        </p:nvSpPr>
        <p:spPr>
          <a:xfrm>
            <a:off x="6492240" y="1618488"/>
            <a:ext cx="603504" cy="603504"/>
          </a:xfrm>
          <a:prstGeom prst="ellipse">
            <a:avLst/>
          </a:prstGeom>
          <a:solidFill>
            <a:srgbClr val="1935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54864" rIns="109728" bIns="54864" rtlCol="0" anchor="ctr"/>
          <a:lstStyle/>
          <a:p>
            <a:pPr algn="ctr"/>
            <a:r>
              <a:rPr sz="15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0" y="1435608"/>
            <a:ext cx="411480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1935C3"/>
                </a:solidFill>
                <a:latin typeface="微软雅黑"/>
                <a:ea typeface="微软雅黑"/>
                <a:cs typeface="微软雅黑"/>
              </a:rPr>
              <a:t>赛题达标总览</a:t>
            </a:r>
          </a:p>
          <a:p>
            <a:pPr algn="l"/>
            <a:r>
              <a:rPr sz="1150" b="0" i="0">
                <a:solidFill>
                  <a:srgbClr val="667085"/>
                </a:solidFill>
                <a:latin typeface="微软雅黑"/>
                <a:ea typeface="微软雅黑"/>
                <a:cs typeface="微软雅黑"/>
              </a:rPr>
              <a:t>三大硬指标全部超额完成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2834640"/>
            <a:ext cx="5349240" cy="1371600"/>
          </a:xfrm>
          <a:prstGeom prst="roundRect">
            <a:avLst>
              <a:gd name="adj" fmla="val 8000"/>
            </a:avLst>
          </a:prstGeom>
          <a:solidFill>
            <a:srgbClr val="F5F7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Oval 12"/>
          <p:cNvSpPr/>
          <p:nvPr/>
        </p:nvSpPr>
        <p:spPr>
          <a:xfrm>
            <a:off x="868680" y="3218688"/>
            <a:ext cx="603504" cy="603504"/>
          </a:xfrm>
          <a:prstGeom prst="ellipse">
            <a:avLst/>
          </a:prstGeom>
          <a:solidFill>
            <a:srgbClr val="1935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54864" rIns="109728" bIns="54864" rtlCol="0" anchor="ctr"/>
          <a:lstStyle/>
          <a:p>
            <a:pPr algn="ctr"/>
            <a:r>
              <a:rPr sz="15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691639" y="3035808"/>
            <a:ext cx="411480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1935C3"/>
                </a:solidFill>
                <a:latin typeface="微软雅黑"/>
                <a:ea typeface="微软雅黑"/>
                <a:cs typeface="微软雅黑"/>
              </a:rPr>
              <a:t>系统架构与审核链路</a:t>
            </a:r>
          </a:p>
          <a:p>
            <a:pPr algn="l"/>
            <a:r>
              <a:rPr sz="1150" b="0" i="0">
                <a:solidFill>
                  <a:srgbClr val="667085"/>
                </a:solidFill>
                <a:latin typeface="微软雅黑"/>
                <a:ea typeface="微软雅黑"/>
                <a:cs typeface="微软雅黑"/>
              </a:rPr>
              <a:t>四层架构 · 全流程闭环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63640" y="2834640"/>
            <a:ext cx="5349240" cy="1371600"/>
          </a:xfrm>
          <a:prstGeom prst="roundRect">
            <a:avLst>
              <a:gd name="adj" fmla="val 8000"/>
            </a:avLst>
          </a:prstGeom>
          <a:solidFill>
            <a:srgbClr val="F5F7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Oval 15"/>
          <p:cNvSpPr/>
          <p:nvPr/>
        </p:nvSpPr>
        <p:spPr>
          <a:xfrm>
            <a:off x="6492240" y="3218688"/>
            <a:ext cx="603504" cy="603504"/>
          </a:xfrm>
          <a:prstGeom prst="ellipse">
            <a:avLst/>
          </a:prstGeom>
          <a:solidFill>
            <a:srgbClr val="1935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54864" rIns="109728" bIns="54864" rtlCol="0" anchor="ctr"/>
          <a:lstStyle/>
          <a:p>
            <a:pPr algn="ctr"/>
            <a:r>
              <a:rPr sz="15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0" y="3035808"/>
            <a:ext cx="411480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1935C3"/>
                </a:solidFill>
                <a:latin typeface="微软雅黑"/>
                <a:ea typeface="微软雅黑"/>
                <a:cs typeface="微软雅黑"/>
              </a:rPr>
              <a:t>四大核心技术方案</a:t>
            </a:r>
          </a:p>
          <a:p>
            <a:pPr algn="l"/>
            <a:r>
              <a:rPr sz="1150" b="0" i="0">
                <a:solidFill>
                  <a:srgbClr val="667085"/>
                </a:solidFill>
                <a:latin typeface="微软雅黑"/>
                <a:ea typeface="微软雅黑"/>
                <a:cs typeface="微软雅黑"/>
              </a:rPr>
              <a:t>分类 · 风险识别 · 条款比对 · 报告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4434840"/>
            <a:ext cx="5349240" cy="1371600"/>
          </a:xfrm>
          <a:prstGeom prst="roundRect">
            <a:avLst>
              <a:gd name="adj" fmla="val 8000"/>
            </a:avLst>
          </a:prstGeom>
          <a:solidFill>
            <a:srgbClr val="F5F7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Oval 18"/>
          <p:cNvSpPr/>
          <p:nvPr/>
        </p:nvSpPr>
        <p:spPr>
          <a:xfrm>
            <a:off x="868680" y="4818888"/>
            <a:ext cx="603504" cy="603504"/>
          </a:xfrm>
          <a:prstGeom prst="ellipse">
            <a:avLst/>
          </a:prstGeom>
          <a:solidFill>
            <a:srgbClr val="1935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54864" rIns="109728" bIns="54864" rtlCol="0" anchor="ctr"/>
          <a:lstStyle/>
          <a:p>
            <a:pPr algn="ctr"/>
            <a:r>
              <a:rPr sz="15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691639" y="4636007"/>
            <a:ext cx="411480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1935C3"/>
                </a:solidFill>
                <a:latin typeface="微软雅黑"/>
                <a:ea typeface="微软雅黑"/>
                <a:cs typeface="微软雅黑"/>
              </a:rPr>
              <a:t>核心创新：证据-裁决解耦</a:t>
            </a:r>
          </a:p>
          <a:p>
            <a:pPr algn="l"/>
            <a:r>
              <a:rPr sz="1150" b="0" i="0">
                <a:solidFill>
                  <a:srgbClr val="667085"/>
                </a:solidFill>
                <a:latin typeface="微软雅黑"/>
                <a:ea typeface="微软雅黑"/>
                <a:cs typeface="微软雅黑"/>
              </a:rPr>
              <a:t>从 24% 到 76.6% 的精准率跃迁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63640" y="4434840"/>
            <a:ext cx="5349240" cy="1371600"/>
          </a:xfrm>
          <a:prstGeom prst="roundRect">
            <a:avLst>
              <a:gd name="adj" fmla="val 8000"/>
            </a:avLst>
          </a:prstGeom>
          <a:solidFill>
            <a:srgbClr val="F5F7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Oval 21"/>
          <p:cNvSpPr/>
          <p:nvPr/>
        </p:nvSpPr>
        <p:spPr>
          <a:xfrm>
            <a:off x="6492240" y="4818888"/>
            <a:ext cx="603504" cy="603504"/>
          </a:xfrm>
          <a:prstGeom prst="ellipse">
            <a:avLst/>
          </a:prstGeom>
          <a:solidFill>
            <a:srgbClr val="1935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54864" rIns="109728" bIns="54864" rtlCol="0" anchor="ctr"/>
          <a:lstStyle/>
          <a:p>
            <a:pPr algn="ctr"/>
            <a:r>
              <a:rPr sz="15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15200" y="4636007"/>
            <a:ext cx="411480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1" i="0">
                <a:solidFill>
                  <a:srgbClr val="1935C3"/>
                </a:solidFill>
                <a:latin typeface="微软雅黑"/>
                <a:ea typeface="微软雅黑"/>
                <a:cs typeface="微软雅黑"/>
              </a:rPr>
              <a:t>创新亮点与工程落地</a:t>
            </a:r>
          </a:p>
          <a:p>
            <a:pPr algn="l"/>
            <a:r>
              <a:rPr sz="1150" b="0" i="0">
                <a:solidFill>
                  <a:srgbClr val="667085"/>
                </a:solidFill>
                <a:latin typeface="微软雅黑"/>
                <a:ea typeface="微软雅黑"/>
                <a:cs typeface="微软雅黑"/>
              </a:rPr>
              <a:t>体验 · 安全 · 未来规划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6510528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>
                <a:solidFill>
                  <a:srgbClr val="667085"/>
                </a:solidFill>
                <a:latin typeface="微软雅黑"/>
                <a:ea typeface="微软雅黑"/>
                <a:cs typeface="微软雅黑"/>
              </a:rPr>
              <a:t>SmartContract Auditor · 海底汪汪队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881360" y="6510528"/>
            <a:ext cx="777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00" b="0" i="0">
                <a:solidFill>
                  <a:srgbClr val="667085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548640" y="384048"/>
            <a:ext cx="457200" cy="457200"/>
          </a:xfrm>
          <a:prstGeom prst="roundRect">
            <a:avLst>
              <a:gd name="adj" fmla="val 28000"/>
            </a:avLst>
          </a:prstGeom>
          <a:solidFill>
            <a:srgbClr val="1935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54864" rIns="109728" bIns="54864" rtlCol="0" anchor="ctr"/>
          <a:lstStyle/>
          <a:p>
            <a:pPr algn="ctr"/>
            <a:r>
              <a:rPr sz="18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70432" y="329184"/>
            <a:ext cx="8778240" cy="5943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700" b="1" i="0">
                <a:solidFill>
                  <a:srgbClr val="1935C3"/>
                </a:solidFill>
                <a:latin typeface="微软雅黑"/>
                <a:ea typeface="微软雅黑"/>
                <a:cs typeface="微软雅黑"/>
              </a:rPr>
              <a:t>项目背景与痛点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509760" y="457200"/>
            <a:ext cx="21488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50" b="0" i="0">
                <a:solidFill>
                  <a:srgbClr val="667085"/>
                </a:solidFill>
                <a:latin typeface="微软雅黑"/>
                <a:ea typeface="微软雅黑"/>
                <a:cs typeface="微软雅黑"/>
              </a:rPr>
              <a:t>需求分析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188720"/>
            <a:ext cx="55778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800" b="1" i="0">
                <a:solidFill>
                  <a:srgbClr val="2B2F38"/>
                </a:solidFill>
                <a:latin typeface="微软雅黑"/>
                <a:ea typeface="微软雅黑"/>
                <a:cs typeface="微软雅黑"/>
              </a:rPr>
              <a:t>法务每天都在面对什么？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691640"/>
            <a:ext cx="5577840" cy="1207008"/>
          </a:xfrm>
          <a:prstGeom prst="roundRect">
            <a:avLst>
              <a:gd name="adj" fmla="val 10000"/>
            </a:avLst>
          </a:prstGeom>
          <a:solidFill>
            <a:srgbClr val="F8FAFF"/>
          </a:solidFill>
          <a:ln w="12700">
            <a:solidFill>
              <a:srgbClr val="C7D2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822960" y="1874520"/>
            <a:ext cx="109728" cy="841248"/>
          </a:xfrm>
          <a:prstGeom prst="rect">
            <a:avLst/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1097280" y="1801368"/>
            <a:ext cx="493776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50" b="1" i="0">
                <a:solidFill>
                  <a:srgbClr val="E60012"/>
                </a:solidFill>
                <a:latin typeface="微软雅黑"/>
                <a:ea typeface="微软雅黑"/>
                <a:cs typeface="微软雅黑"/>
              </a:rPr>
              <a:t>逐条人工审核</a:t>
            </a:r>
          </a:p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2B2F38"/>
                </a:solidFill>
                <a:latin typeface="微软雅黑"/>
                <a:ea typeface="微软雅黑"/>
                <a:cs typeface="微软雅黑"/>
              </a:rPr>
              <a:t>一份技术外包合同几十上百页，逐条核对违约金、保密、IP、SLA……机械劳动占审核总时间 30% 以上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3063240"/>
            <a:ext cx="5577840" cy="1207008"/>
          </a:xfrm>
          <a:prstGeom prst="roundRect">
            <a:avLst>
              <a:gd name="adj" fmla="val 10000"/>
            </a:avLst>
          </a:prstGeom>
          <a:solidFill>
            <a:srgbClr val="F8FAFF"/>
          </a:solidFill>
          <a:ln w="12700">
            <a:solidFill>
              <a:srgbClr val="C7D2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822960" y="3246120"/>
            <a:ext cx="109728" cy="841248"/>
          </a:xfrm>
          <a:prstGeom prst="rect">
            <a:avLst/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1097280" y="3172968"/>
            <a:ext cx="493776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50" b="1" i="0">
                <a:solidFill>
                  <a:srgbClr val="E60012"/>
                </a:solidFill>
                <a:latin typeface="微软雅黑"/>
                <a:ea typeface="微软雅黑"/>
                <a:cs typeface="微软雅黑"/>
              </a:rPr>
              <a:t>行业特有风险难覆盖</a:t>
            </a:r>
          </a:p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2B2F38"/>
                </a:solidFill>
                <a:latin typeface="微软雅黑"/>
                <a:ea typeface="微软雅黑"/>
                <a:cs typeface="微软雅黑"/>
              </a:rPr>
              <a:t>IT 服务行业关注 SLA 罚则、数据导出销毁、源代码托管、IP 归属——通用经验无法照搬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4434840"/>
            <a:ext cx="5577840" cy="1207008"/>
          </a:xfrm>
          <a:prstGeom prst="roundRect">
            <a:avLst>
              <a:gd name="adj" fmla="val 10000"/>
            </a:avLst>
          </a:prstGeom>
          <a:solidFill>
            <a:srgbClr val="F8FAFF"/>
          </a:solidFill>
          <a:ln w="12700">
            <a:solidFill>
              <a:srgbClr val="C7D2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822960" y="4617720"/>
            <a:ext cx="109728" cy="841248"/>
          </a:xfrm>
          <a:prstGeom prst="rect">
            <a:avLst/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1097280" y="4544568"/>
            <a:ext cx="493776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450" b="1" i="0">
                <a:solidFill>
                  <a:srgbClr val="E60012"/>
                </a:solidFill>
                <a:latin typeface="微软雅黑"/>
                <a:ea typeface="微软雅黑"/>
                <a:cs typeface="微软雅黑"/>
              </a:rPr>
              <a:t>知识沉淀在个人脑中</a:t>
            </a:r>
          </a:p>
          <a:p>
            <a:pPr algn="l">
              <a:lnSpc>
                <a:spcPct val="115000"/>
              </a:lnSpc>
            </a:pPr>
            <a:r>
              <a:rPr sz="1200" b="0" i="0">
                <a:solidFill>
                  <a:srgbClr val="2B2F38"/>
                </a:solidFill>
                <a:latin typeface="微软雅黑"/>
                <a:ea typeface="微软雅黑"/>
                <a:cs typeface="微软雅黑"/>
              </a:rPr>
              <a:t>李律师休年假，接手同事完全不熟悉历史约定——经验随人走，无法传承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92240" y="1188720"/>
            <a:ext cx="5029200" cy="2377440"/>
          </a:xfrm>
          <a:prstGeom prst="roundRect">
            <a:avLst>
              <a:gd name="adj" fmla="val 6000"/>
            </a:avLst>
          </a:prstGeom>
          <a:solidFill>
            <a:srgbClr val="1935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54864" rIns="182880" bIns="54864" rtlCol="0" anchor="ctr"/>
          <a:lstStyle/>
          <a:p>
            <a:pPr algn="ctr">
              <a:spcAft>
                <a:spcPts val="800"/>
              </a:spcAft>
            </a:pPr>
            <a:r>
              <a:rPr sz="15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引入 AI 辅助后</a:t>
            </a:r>
          </a:p>
          <a:p>
            <a:pPr algn="ctr">
              <a:spcAft>
                <a:spcPts val="600"/>
              </a:spcAft>
            </a:pPr>
            <a:r>
              <a:rPr sz="1300" b="0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单份审核时间  2-4 小时  →  5-15 分钟</a:t>
            </a:r>
          </a:p>
          <a:p>
            <a:pPr algn="ctr">
              <a:spcAft>
                <a:spcPts val="600"/>
              </a:spcAft>
            </a:pPr>
            <a:r>
              <a:rPr sz="1300" b="0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风险遗漏率  ~15%  →  &lt;5%</a:t>
            </a:r>
          </a:p>
          <a:p>
            <a:pPr algn="ctr">
              <a:spcAft>
                <a:spcPts val="600"/>
              </a:spcAft>
            </a:pPr>
            <a:r>
              <a:rPr sz="1300" b="0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法务知识  →  系统沉淀、可搜索</a:t>
            </a:r>
          </a:p>
          <a:p>
            <a:pPr algn="ctr"/>
            <a:r>
              <a:rPr sz="1300" b="0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单份 API 成本  &lt; 0.5 元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92240" y="3794760"/>
            <a:ext cx="5029200" cy="12801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500"/>
              </a:spcAft>
            </a:pPr>
            <a:r>
              <a:rPr sz="1300" b="1" i="0">
                <a:solidFill>
                  <a:srgbClr val="1935C3"/>
                </a:solidFill>
                <a:latin typeface="微软雅黑"/>
                <a:ea typeface="微软雅黑"/>
                <a:cs typeface="微软雅黑"/>
              </a:rPr>
              <a:t>一句话价值主张</a:t>
            </a:r>
          </a:p>
          <a:p>
            <a:pPr algn="l">
              <a:lnSpc>
                <a:spcPct val="120000"/>
              </a:lnSpc>
            </a:pPr>
            <a:r>
              <a:rPr sz="1250" b="0" i="1">
                <a:solidFill>
                  <a:srgbClr val="2B2F38"/>
                </a:solidFill>
                <a:latin typeface="微软雅黑"/>
                <a:ea typeface="微软雅黑"/>
                <a:cs typeface="微软雅黑"/>
              </a:rPr>
              <a:t>“把法务从逐条比对中解放出来，5 分钟完成一份百页合同的全面审核——不只是找风险，更是沉淀企业法务知识资产。”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6510528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>
                <a:solidFill>
                  <a:srgbClr val="667085"/>
                </a:solidFill>
                <a:latin typeface="微软雅黑"/>
                <a:ea typeface="微软雅黑"/>
                <a:cs typeface="微软雅黑"/>
              </a:rPr>
              <a:t>SmartContract Auditor · 海底汪汪队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881360" y="6510528"/>
            <a:ext cx="777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00" b="0" i="0">
                <a:solidFill>
                  <a:srgbClr val="667085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548640" y="384048"/>
            <a:ext cx="457200" cy="457200"/>
          </a:xfrm>
          <a:prstGeom prst="roundRect">
            <a:avLst>
              <a:gd name="adj" fmla="val 28000"/>
            </a:avLst>
          </a:prstGeom>
          <a:solidFill>
            <a:srgbClr val="1935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54864" rIns="109728" bIns="54864" rtlCol="0" anchor="ctr"/>
          <a:lstStyle/>
          <a:p>
            <a:pPr algn="ctr"/>
            <a:r>
              <a:rPr sz="18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70432" y="329184"/>
            <a:ext cx="8778240" cy="5943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700" b="1" i="0">
                <a:solidFill>
                  <a:srgbClr val="1935C3"/>
                </a:solidFill>
                <a:latin typeface="微软雅黑"/>
                <a:ea typeface="微软雅黑"/>
                <a:cs typeface="微软雅黑"/>
              </a:rPr>
              <a:t>赛题达标总览：三大硬指标全部超额完成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509760" y="457200"/>
            <a:ext cx="21488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50" b="0" i="0">
                <a:solidFill>
                  <a:srgbClr val="667085"/>
                </a:solidFill>
                <a:latin typeface="微软雅黑"/>
                <a:ea typeface="微软雅黑"/>
                <a:cs typeface="微软雅黑"/>
              </a:rPr>
              <a:t>对标赛题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234440"/>
            <a:ext cx="3520440" cy="2514600"/>
          </a:xfrm>
          <a:prstGeom prst="roundRect">
            <a:avLst>
              <a:gd name="adj" fmla="val 6000"/>
            </a:avLst>
          </a:prstGeom>
          <a:solidFill>
            <a:srgbClr val="F5F7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640080" y="1234440"/>
            <a:ext cx="3520440" cy="128016"/>
          </a:xfrm>
          <a:prstGeom prst="rect">
            <a:avLst/>
          </a:prstGeom>
          <a:solidFill>
            <a:srgbClr val="1935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68680" y="1463040"/>
            <a:ext cx="30632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3400" b="1" i="0">
                <a:solidFill>
                  <a:srgbClr val="1935C3"/>
                </a:solidFill>
                <a:latin typeface="微软雅黑"/>
                <a:ea typeface="微软雅黑"/>
                <a:cs typeface="微软雅黑"/>
              </a:rPr>
              <a:t>98.6%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331720"/>
            <a:ext cx="30632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500" b="1" i="0">
                <a:solidFill>
                  <a:srgbClr val="2B2F38"/>
                </a:solidFill>
                <a:latin typeface="微软雅黑"/>
                <a:ea typeface="微软雅黑"/>
                <a:cs typeface="微软雅黑"/>
              </a:rPr>
              <a:t>合同分类准确率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724912"/>
            <a:ext cx="30632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1" i="0">
                <a:solidFill>
                  <a:srgbClr val="16A34A"/>
                </a:solidFill>
                <a:latin typeface="微软雅黑"/>
                <a:ea typeface="微软雅黑"/>
                <a:cs typeface="微软雅黑"/>
              </a:rPr>
              <a:t>赛题要求 ≥85% · 超额 13.6pp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3200400"/>
            <a:ext cx="30632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50" b="0" i="0">
                <a:solidFill>
                  <a:srgbClr val="667085"/>
                </a:solidFill>
                <a:latin typeface="微软雅黑"/>
                <a:ea typeface="微软雅黑"/>
                <a:cs typeface="微软雅黑"/>
              </a:rPr>
              <a:t>145/147 份正式测试集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89120" y="1234440"/>
            <a:ext cx="3520440" cy="2514600"/>
          </a:xfrm>
          <a:prstGeom prst="roundRect">
            <a:avLst>
              <a:gd name="adj" fmla="val 6000"/>
            </a:avLst>
          </a:prstGeom>
          <a:solidFill>
            <a:srgbClr val="F5F7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4389120" y="1234440"/>
            <a:ext cx="3520440" cy="128016"/>
          </a:xfrm>
          <a:prstGeom prst="rect">
            <a:avLst/>
          </a:prstGeom>
          <a:solidFill>
            <a:srgbClr val="1935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617720" y="1463040"/>
            <a:ext cx="306324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3400" b="1" i="0">
                <a:solidFill>
                  <a:srgbClr val="1935C3"/>
                </a:solidFill>
                <a:latin typeface="微软雅黑"/>
                <a:ea typeface="微软雅黑"/>
                <a:cs typeface="微软雅黑"/>
              </a:rPr>
              <a:t>93.7%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17720" y="2331720"/>
            <a:ext cx="30632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500" b="1" i="0">
                <a:solidFill>
                  <a:srgbClr val="2B2F38"/>
                </a:solidFill>
                <a:latin typeface="微软雅黑"/>
                <a:ea typeface="微软雅黑"/>
                <a:cs typeface="微软雅黑"/>
              </a:rPr>
              <a:t>要素抽取 F1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17720" y="2724912"/>
            <a:ext cx="30632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1" i="0">
                <a:solidFill>
                  <a:srgbClr val="16A34A"/>
                </a:solidFill>
                <a:latin typeface="微软雅黑"/>
                <a:ea typeface="微软雅黑"/>
                <a:cs typeface="微软雅黑"/>
              </a:rPr>
              <a:t>赛题要求 ≥80% · 超额 13.7pp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17720" y="3200400"/>
            <a:ext cx="30632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50" b="0" i="0">
                <a:solidFill>
                  <a:srgbClr val="667085"/>
                </a:solidFill>
                <a:latin typeface="微软雅黑"/>
                <a:ea typeface="微软雅黑"/>
                <a:cs typeface="微软雅黑"/>
              </a:rPr>
              <a:t>披露样本加权综合 F1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38159" y="1234440"/>
            <a:ext cx="3520440" cy="2514600"/>
          </a:xfrm>
          <a:prstGeom prst="roundRect">
            <a:avLst>
              <a:gd name="adj" fmla="val 6000"/>
            </a:avLst>
          </a:prstGeom>
          <a:solidFill>
            <a:srgbClr val="F5F7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8138159" y="1234440"/>
            <a:ext cx="3520440" cy="128016"/>
          </a:xfrm>
          <a:prstGeom prst="rect">
            <a:avLst/>
          </a:prstGeom>
          <a:solidFill>
            <a:srgbClr val="1935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8366759" y="1463040"/>
            <a:ext cx="3063240" cy="5232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3400" b="1" i="0">
                <a:solidFill>
                  <a:srgbClr val="1935C3"/>
                </a:solidFill>
                <a:latin typeface="微软雅黑"/>
                <a:ea typeface="微软雅黑"/>
                <a:cs typeface="微软雅黑"/>
              </a:rPr>
              <a:t>80.1% /76.6%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66759" y="2331720"/>
            <a:ext cx="30632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500" b="1" i="0">
                <a:solidFill>
                  <a:srgbClr val="2B2F38"/>
                </a:solidFill>
                <a:latin typeface="微软雅黑"/>
                <a:ea typeface="微软雅黑"/>
                <a:cs typeface="微软雅黑"/>
              </a:rPr>
              <a:t>风险识别 召回/精准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66759" y="2724912"/>
            <a:ext cx="30632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200" b="1" i="0">
                <a:solidFill>
                  <a:srgbClr val="16A34A"/>
                </a:solidFill>
                <a:latin typeface="微软雅黑"/>
                <a:ea typeface="微软雅黑"/>
                <a:cs typeface="微软雅黑"/>
              </a:rPr>
              <a:t>赛题要求双 ≥75%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366759" y="3200400"/>
            <a:ext cx="306324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050" b="0" i="0">
                <a:solidFill>
                  <a:srgbClr val="667085"/>
                </a:solidFill>
                <a:latin typeface="微软雅黑"/>
                <a:ea typeface="微软雅黑"/>
                <a:cs typeface="微软雅黑"/>
              </a:rPr>
              <a:t>13 类风险 · 152 条 gold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0080" y="3977639"/>
            <a:ext cx="5486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2B2F38"/>
                </a:solidFill>
                <a:latin typeface="微软雅黑"/>
                <a:ea typeface="微软雅黑"/>
                <a:cs typeface="微软雅黑"/>
              </a:rPr>
              <a:t>赛题强制要求 vs 实测结果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40080" y="4343400"/>
            <a:ext cx="10332720" cy="384048"/>
          </a:xfrm>
          <a:prstGeom prst="rect">
            <a:avLst/>
          </a:prstGeom>
          <a:solidFill>
            <a:srgbClr val="1935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640080" y="4389120"/>
            <a:ext cx="12801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指标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920240" y="4389120"/>
            <a:ext cx="35661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赛题要求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0" y="4389120"/>
            <a:ext cx="5486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实测结果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40080" y="4773168"/>
            <a:ext cx="10332720" cy="420624"/>
          </a:xfrm>
          <a:prstGeom prst="rect">
            <a:avLst/>
          </a:prstGeom>
          <a:solidFill>
            <a:srgbClr val="F8FA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685800" y="4800600"/>
            <a:ext cx="12344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2B2F38"/>
                </a:solidFill>
                <a:latin typeface="微软雅黑"/>
                <a:ea typeface="微软雅黑"/>
                <a:cs typeface="微软雅黑"/>
              </a:rPr>
              <a:t>合同类型分类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965960" y="4800600"/>
            <a:ext cx="35204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 i="0">
                <a:solidFill>
                  <a:srgbClr val="2B2F38"/>
                </a:solidFill>
                <a:latin typeface="微软雅黑"/>
                <a:ea typeface="微软雅黑"/>
                <a:cs typeface="微软雅黑"/>
              </a:rPr>
              <a:t>≥5 类 · 准确率 ≥85%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532120" y="4800600"/>
            <a:ext cx="53949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16A34A"/>
                </a:solidFill>
                <a:latin typeface="微软雅黑"/>
                <a:ea typeface="微软雅黑"/>
                <a:cs typeface="微软雅黑"/>
              </a:rPr>
              <a:t>11 类 + 服务外包标签 · 98.6%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85800" y="5257800"/>
            <a:ext cx="12344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2B2F38"/>
                </a:solidFill>
                <a:latin typeface="微软雅黑"/>
                <a:ea typeface="微软雅黑"/>
                <a:cs typeface="微软雅黑"/>
              </a:rPr>
              <a:t>关键要素抽取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965960" y="5257800"/>
            <a:ext cx="35204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 i="0">
                <a:solidFill>
                  <a:srgbClr val="2B2F38"/>
                </a:solidFill>
                <a:latin typeface="微软雅黑"/>
                <a:ea typeface="微软雅黑"/>
                <a:cs typeface="微软雅黑"/>
              </a:rPr>
              <a:t>F1 ≥ 80%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532120" y="5257800"/>
            <a:ext cx="53949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16A34A"/>
                </a:solidFill>
                <a:latin typeface="微软雅黑"/>
                <a:ea typeface="微软雅黑"/>
                <a:cs typeface="微软雅黑"/>
              </a:rPr>
              <a:t>93.7%（双方/金额/期限/争议）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40080" y="5687568"/>
            <a:ext cx="10332720" cy="420624"/>
          </a:xfrm>
          <a:prstGeom prst="rect">
            <a:avLst/>
          </a:prstGeom>
          <a:solidFill>
            <a:srgbClr val="F8FA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685800" y="5715000"/>
            <a:ext cx="12344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2B2F38"/>
                </a:solidFill>
                <a:latin typeface="微软雅黑"/>
                <a:ea typeface="微软雅黑"/>
                <a:cs typeface="微软雅黑"/>
              </a:rPr>
              <a:t>风险条款识别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965960" y="5715000"/>
            <a:ext cx="35204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 i="0">
                <a:solidFill>
                  <a:srgbClr val="2B2F38"/>
                </a:solidFill>
                <a:latin typeface="微软雅黑"/>
                <a:ea typeface="微软雅黑"/>
                <a:cs typeface="微软雅黑"/>
              </a:rPr>
              <a:t>≥10 类 · 召回 ≥75%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5532120" y="5715000"/>
            <a:ext cx="53949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16A34A"/>
                </a:solidFill>
                <a:latin typeface="微软雅黑"/>
                <a:ea typeface="微软雅黑"/>
                <a:cs typeface="微软雅黑"/>
              </a:rPr>
              <a:t>13 类（R01–R13）· 召回 80.1%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85800" y="6172200"/>
            <a:ext cx="12344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2B2F38"/>
                </a:solidFill>
                <a:latin typeface="微软雅黑"/>
                <a:ea typeface="微软雅黑"/>
                <a:cs typeface="微软雅黑"/>
              </a:rPr>
              <a:t>风险识别精准率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965960" y="6172200"/>
            <a:ext cx="35204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 i="0">
                <a:solidFill>
                  <a:srgbClr val="2B2F38"/>
                </a:solidFill>
                <a:latin typeface="微软雅黑"/>
                <a:ea typeface="微软雅黑"/>
                <a:cs typeface="微软雅黑"/>
              </a:rPr>
              <a:t>≥75%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532120" y="6172200"/>
            <a:ext cx="53949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16A34A"/>
                </a:solidFill>
                <a:latin typeface="微软雅黑"/>
                <a:ea typeface="微软雅黑"/>
                <a:cs typeface="微软雅黑"/>
              </a:rPr>
              <a:t>76.6%（TP121 / FP37）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548640" y="6510528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>
                <a:solidFill>
                  <a:srgbClr val="667085"/>
                </a:solidFill>
                <a:latin typeface="微软雅黑"/>
                <a:ea typeface="微软雅黑"/>
                <a:cs typeface="微软雅黑"/>
              </a:rPr>
              <a:t>SmartContract Auditor · 海底汪汪队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0881360" y="6510528"/>
            <a:ext cx="777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00" b="0" i="0">
                <a:solidFill>
                  <a:srgbClr val="667085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548640" y="384048"/>
            <a:ext cx="457200" cy="457200"/>
          </a:xfrm>
          <a:prstGeom prst="roundRect">
            <a:avLst>
              <a:gd name="adj" fmla="val 28000"/>
            </a:avLst>
          </a:prstGeom>
          <a:solidFill>
            <a:srgbClr val="1935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54864" rIns="109728" bIns="54864" rtlCol="0" anchor="ctr"/>
          <a:lstStyle/>
          <a:p>
            <a:pPr algn="ctr"/>
            <a:r>
              <a:rPr sz="18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70432" y="329184"/>
            <a:ext cx="8778240" cy="5943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700" b="1" i="0">
                <a:solidFill>
                  <a:srgbClr val="1935C3"/>
                </a:solidFill>
                <a:latin typeface="微软雅黑"/>
                <a:ea typeface="微软雅黑"/>
                <a:cs typeface="微软雅黑"/>
              </a:rPr>
              <a:t>系统架构：经典四层 · 全栈 Python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509760" y="457200"/>
            <a:ext cx="21488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50" b="0" i="0">
                <a:solidFill>
                  <a:srgbClr val="667085"/>
                </a:solidFill>
                <a:latin typeface="微软雅黑"/>
                <a:ea typeface="微软雅黑"/>
                <a:cs typeface="微软雅黑"/>
              </a:rPr>
              <a:t>技术架构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207008"/>
            <a:ext cx="8138160" cy="1078992"/>
          </a:xfrm>
          <a:prstGeom prst="roundRect">
            <a:avLst>
              <a:gd name="adj" fmla="val 10000"/>
            </a:avLst>
          </a:prstGeom>
          <a:solidFill>
            <a:srgbClr val="F5F7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640080" y="1207008"/>
            <a:ext cx="128016" cy="1078992"/>
          </a:xfrm>
          <a:prstGeom prst="rect">
            <a:avLst/>
          </a:prstGeom>
          <a:solidFill>
            <a:srgbClr val="1935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960120" y="1298448"/>
            <a:ext cx="75895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50" b="1" i="0">
                <a:solidFill>
                  <a:srgbClr val="1935C3"/>
                </a:solidFill>
                <a:latin typeface="微软雅黑"/>
                <a:ea typeface="微软雅黑"/>
                <a:cs typeface="微软雅黑"/>
              </a:rPr>
              <a:t>第一层 · 前端展示层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1664208"/>
            <a:ext cx="75895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2B2F38"/>
                </a:solidFill>
                <a:latin typeface="微软雅黑"/>
                <a:ea typeface="微软雅黑"/>
                <a:cs typeface="微软雅黑"/>
              </a:rPr>
              <a:t>Vue 3 + Element Plus + ECharts + pdf.js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60120" y="1956816"/>
            <a:ext cx="7589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 i="0">
                <a:solidFill>
                  <a:srgbClr val="667085"/>
                </a:solidFill>
                <a:latin typeface="微软雅黑"/>
                <a:ea typeface="微软雅黑"/>
                <a:cs typeface="微软雅黑"/>
              </a:rPr>
              <a:t>合同上传 · 列表 · 详情 · 审核结果 · 报告 · 反馈标注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2267712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667085"/>
                </a:solidFill>
                <a:latin typeface="微软雅黑"/>
                <a:ea typeface="微软雅黑"/>
                <a:cs typeface="微软雅黑"/>
              </a:rPr>
              <a:t>▲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2459736"/>
            <a:ext cx="8138160" cy="1078992"/>
          </a:xfrm>
          <a:prstGeom prst="roundRect">
            <a:avLst>
              <a:gd name="adj" fmla="val 10000"/>
            </a:avLst>
          </a:prstGeom>
          <a:solidFill>
            <a:srgbClr val="F5F7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640080" y="2459736"/>
            <a:ext cx="128016" cy="1078992"/>
          </a:xfrm>
          <a:prstGeom prst="rect">
            <a:avLst/>
          </a:prstGeom>
          <a:solidFill>
            <a:srgbClr val="122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960120" y="2551176"/>
            <a:ext cx="75895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50" b="1" i="0">
                <a:solidFill>
                  <a:srgbClr val="1935C3"/>
                </a:solidFill>
                <a:latin typeface="微软雅黑"/>
                <a:ea typeface="微软雅黑"/>
                <a:cs typeface="微软雅黑"/>
              </a:rPr>
              <a:t>第二层 · 业务后端层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2916936"/>
            <a:ext cx="75895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2B2F38"/>
                </a:solidFill>
                <a:latin typeface="微软雅黑"/>
                <a:ea typeface="微软雅黑"/>
                <a:cs typeface="微软雅黑"/>
              </a:rPr>
              <a:t>FastAPI + SQLAlchemy + JWT/RBAC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0120" y="3209544"/>
            <a:ext cx="7589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 i="0">
                <a:solidFill>
                  <a:srgbClr val="667085"/>
                </a:solidFill>
                <a:latin typeface="微软雅黑"/>
                <a:ea typeface="微软雅黑"/>
                <a:cs typeface="微软雅黑"/>
              </a:rPr>
              <a:t>认证 · 合同管理 · 审核调度（后台任务）· 模板 · 统计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60120" y="3520440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667085"/>
                </a:solidFill>
                <a:latin typeface="微软雅黑"/>
                <a:ea typeface="微软雅黑"/>
                <a:cs typeface="微软雅黑"/>
              </a:rPr>
              <a:t>▲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3712464"/>
            <a:ext cx="8138160" cy="1078992"/>
          </a:xfrm>
          <a:prstGeom prst="roundRect">
            <a:avLst>
              <a:gd name="adj" fmla="val 10000"/>
            </a:avLst>
          </a:prstGeom>
          <a:solidFill>
            <a:srgbClr val="F5F7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640080" y="3712464"/>
            <a:ext cx="128016" cy="1078992"/>
          </a:xfrm>
          <a:prstGeom prst="rect">
            <a:avLst/>
          </a:prstGeom>
          <a:solidFill>
            <a:srgbClr val="122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960120" y="3803904"/>
            <a:ext cx="75895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50" b="1" i="0">
                <a:solidFill>
                  <a:srgbClr val="1935C3"/>
                </a:solidFill>
                <a:latin typeface="微软雅黑"/>
                <a:ea typeface="微软雅黑"/>
                <a:cs typeface="微软雅黑"/>
              </a:rPr>
              <a:t>第三层 · AI 核心引擎层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0120" y="4169664"/>
            <a:ext cx="75895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2B2F38"/>
                </a:solidFill>
                <a:latin typeface="微软雅黑"/>
                <a:ea typeface="微软雅黑"/>
                <a:cs typeface="微软雅黑"/>
              </a:rPr>
              <a:t>同进程 Python 包（非 HTTP 调用）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60120" y="4462272"/>
            <a:ext cx="7589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 i="0">
                <a:solidFill>
                  <a:srgbClr val="667085"/>
                </a:solidFill>
                <a:latin typeface="微软雅黑"/>
                <a:ea typeface="微软雅黑"/>
                <a:cs typeface="微软雅黑"/>
              </a:rPr>
              <a:t>解析 → 分类 → 要素抽取 → 规则召回 → 证据裁决 → 建议层 → 比对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0120" y="4773168"/>
            <a:ext cx="73152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667085"/>
                </a:solidFill>
                <a:latin typeface="微软雅黑"/>
                <a:ea typeface="微软雅黑"/>
                <a:cs typeface="微软雅黑"/>
              </a:rPr>
              <a:t>▲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4965192"/>
            <a:ext cx="8138160" cy="1078992"/>
          </a:xfrm>
          <a:prstGeom prst="roundRect">
            <a:avLst>
              <a:gd name="adj" fmla="val 10000"/>
            </a:avLst>
          </a:prstGeom>
          <a:solidFill>
            <a:srgbClr val="F5F7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640080" y="4965192"/>
            <a:ext cx="128016" cy="1078992"/>
          </a:xfrm>
          <a:prstGeom prst="rect">
            <a:avLst/>
          </a:prstGeom>
          <a:solidFill>
            <a:srgbClr val="122B8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960120" y="5056632"/>
            <a:ext cx="75895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50" b="1" i="0">
                <a:solidFill>
                  <a:srgbClr val="1935C3"/>
                </a:solidFill>
                <a:latin typeface="微软雅黑"/>
                <a:ea typeface="微软雅黑"/>
                <a:cs typeface="微软雅黑"/>
              </a:rPr>
              <a:t>第四层 · 数据持久层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60120" y="5422392"/>
            <a:ext cx="75895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2B2F38"/>
                </a:solidFill>
                <a:latin typeface="微软雅黑"/>
                <a:ea typeface="微软雅黑"/>
                <a:cs typeface="微软雅黑"/>
              </a:rPr>
              <a:t>MySQL 8.0 / SQLite + ChromaDB + 文件系统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60120" y="5715000"/>
            <a:ext cx="75895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 i="0">
                <a:solidFill>
                  <a:srgbClr val="667085"/>
                </a:solidFill>
                <a:latin typeface="微软雅黑"/>
                <a:ea typeface="微软雅黑"/>
                <a:cs typeface="微软雅黑"/>
              </a:rPr>
              <a:t>结构化业务数据 · 向量知识库 · 合同原件与 PDF 副本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9006840" y="1207008"/>
            <a:ext cx="2560320" cy="5029200"/>
          </a:xfrm>
          <a:prstGeom prst="roundRect">
            <a:avLst>
              <a:gd name="adj" fmla="val 6000"/>
            </a:avLst>
          </a:prstGeom>
          <a:solidFill>
            <a:srgbClr val="1935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54864" rIns="182880" bIns="54864" rtlCol="0" anchor="ctr"/>
          <a:lstStyle/>
          <a:p>
            <a:pPr algn="l">
              <a:spcAft>
                <a:spcPts val="1000"/>
              </a:spcAft>
            </a:pPr>
            <a:r>
              <a:rPr sz="15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关键决策</a:t>
            </a:r>
          </a:p>
          <a:p>
            <a:pPr algn="l">
              <a:spcAft>
                <a:spcPts val="200"/>
              </a:spcAft>
            </a:pPr>
            <a:r>
              <a:rPr sz="125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全栈 Python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050" b="0" i="0">
                <a:solidFill>
                  <a:srgbClr val="DDE4F7"/>
                </a:solidFill>
                <a:latin typeface="微软雅黑"/>
                <a:ea typeface="微软雅黑"/>
                <a:cs typeface="微软雅黑"/>
              </a:rPr>
              <a:t>AI 逻辑与业务后端同进程函数调用，省去序列化与网络开销</a:t>
            </a:r>
          </a:p>
          <a:p>
            <a:pPr algn="l">
              <a:spcAft>
                <a:spcPts val="200"/>
              </a:spcAft>
            </a:pPr>
            <a:r>
              <a:rPr sz="125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证据-裁决解耦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050" b="0" i="0">
                <a:solidFill>
                  <a:srgbClr val="DDE4F7"/>
                </a:solidFill>
                <a:latin typeface="微软雅黑"/>
                <a:ea typeface="微软雅黑"/>
                <a:cs typeface="微软雅黑"/>
              </a:rPr>
              <a:t>风险判定用代码硬阈值，可复现、可审计</a:t>
            </a:r>
          </a:p>
          <a:p>
            <a:pPr algn="l">
              <a:spcAft>
                <a:spcPts val="200"/>
              </a:spcAft>
            </a:pPr>
            <a:r>
              <a:rPr sz="125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分类体系唯一真源</a:t>
            </a:r>
          </a:p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DDE4F7"/>
                </a:solidFill>
                <a:latin typeface="微软雅黑"/>
                <a:ea typeface="微软雅黑"/>
                <a:cs typeface="微软雅黑"/>
              </a:rPr>
              <a:t>taxonomy.py 统一 11 类法理，前端/分类器/比对共用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48640" y="6510528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>
                <a:solidFill>
                  <a:srgbClr val="667085"/>
                </a:solidFill>
                <a:latin typeface="微软雅黑"/>
                <a:ea typeface="微软雅黑"/>
                <a:cs typeface="微软雅黑"/>
              </a:rPr>
              <a:t>SmartContract Auditor · 海底汪汪队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881360" y="6510528"/>
            <a:ext cx="777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00" b="0" i="0">
                <a:solidFill>
                  <a:srgbClr val="667085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548640" y="384048"/>
            <a:ext cx="457200" cy="457200"/>
          </a:xfrm>
          <a:prstGeom prst="roundRect">
            <a:avLst>
              <a:gd name="adj" fmla="val 28000"/>
            </a:avLst>
          </a:prstGeom>
          <a:solidFill>
            <a:srgbClr val="1935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54864" rIns="109728" bIns="54864" rtlCol="0" anchor="ctr"/>
          <a:lstStyle/>
          <a:p>
            <a:pPr algn="ctr"/>
            <a:r>
              <a:rPr sz="18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70432" y="329184"/>
            <a:ext cx="8778240" cy="5943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700" b="1" i="0">
                <a:solidFill>
                  <a:srgbClr val="1935C3"/>
                </a:solidFill>
                <a:latin typeface="微软雅黑"/>
                <a:ea typeface="微软雅黑"/>
                <a:cs typeface="微软雅黑"/>
              </a:rPr>
              <a:t>审核主链路：从上传到报告的全流程闭环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509760" y="457200"/>
            <a:ext cx="21488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50" b="0" i="0">
                <a:solidFill>
                  <a:srgbClr val="667085"/>
                </a:solidFill>
                <a:latin typeface="微软雅黑"/>
                <a:ea typeface="微软雅黑"/>
                <a:cs typeface="微软雅黑"/>
              </a:rPr>
              <a:t>技术架构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280160"/>
            <a:ext cx="7863840" cy="896112"/>
          </a:xfrm>
          <a:prstGeom prst="roundRect">
            <a:avLst>
              <a:gd name="adj" fmla="val 12000"/>
            </a:avLst>
          </a:prstGeom>
          <a:solidFill>
            <a:srgbClr val="F5F7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868680" y="1499616"/>
            <a:ext cx="457200" cy="457200"/>
          </a:xfrm>
          <a:prstGeom prst="ellipse">
            <a:avLst/>
          </a:prstGeom>
          <a:solidFill>
            <a:srgbClr val="1935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54864" rIns="109728" bIns="54864" rtlCol="0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08760" y="1371600"/>
            <a:ext cx="67665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50" b="1" i="0">
                <a:solidFill>
                  <a:srgbClr val="1935C3"/>
                </a:solidFill>
                <a:latin typeface="微软雅黑"/>
                <a:ea typeface="微软雅黑"/>
                <a:cs typeface="微软雅黑"/>
              </a:rPr>
              <a:t>① 解析理解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08760" y="1719072"/>
            <a:ext cx="67665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 i="0">
                <a:solidFill>
                  <a:srgbClr val="2B2F38"/>
                </a:solidFill>
                <a:latin typeface="微软雅黑"/>
                <a:ea typeface="微软雅黑"/>
                <a:cs typeface="微软雅黑"/>
              </a:rPr>
              <a:t>OCR/多格式解析 → 智能分类 → 要素抽取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08760" y="1956815"/>
            <a:ext cx="676656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667085"/>
                </a:solidFill>
                <a:latin typeface="微软雅黑"/>
                <a:ea typeface="微软雅黑"/>
                <a:cs typeface="微软雅黑"/>
              </a:rPr>
              <a:t>先把合同“读懂”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2148839"/>
            <a:ext cx="73152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0" i="0">
                <a:solidFill>
                  <a:srgbClr val="C7D2F0"/>
                </a:solidFill>
                <a:latin typeface="微软雅黑"/>
                <a:ea typeface="微软雅黑"/>
                <a:cs typeface="微软雅黑"/>
              </a:rPr>
              <a:t>▼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40080" y="2331720"/>
            <a:ext cx="7863840" cy="896112"/>
          </a:xfrm>
          <a:prstGeom prst="roundRect">
            <a:avLst>
              <a:gd name="adj" fmla="val 12000"/>
            </a:avLst>
          </a:prstGeom>
          <a:solidFill>
            <a:srgbClr val="F5F7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Oval 12"/>
          <p:cNvSpPr/>
          <p:nvPr/>
        </p:nvSpPr>
        <p:spPr>
          <a:xfrm>
            <a:off x="868680" y="2551176"/>
            <a:ext cx="457200" cy="457200"/>
          </a:xfrm>
          <a:prstGeom prst="ellipse">
            <a:avLst/>
          </a:prstGeom>
          <a:solidFill>
            <a:srgbClr val="1935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54864" rIns="109728" bIns="54864" rtlCol="0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08760" y="2423160"/>
            <a:ext cx="67665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50" b="1" i="0">
                <a:solidFill>
                  <a:srgbClr val="1935C3"/>
                </a:solidFill>
                <a:latin typeface="微软雅黑"/>
                <a:ea typeface="微软雅黑"/>
                <a:cs typeface="微软雅黑"/>
              </a:rPr>
              <a:t>② 规则召回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508760" y="2770632"/>
            <a:ext cx="67665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 i="0">
                <a:solidFill>
                  <a:srgbClr val="2B2F38"/>
                </a:solidFill>
                <a:latin typeface="微软雅黑"/>
                <a:ea typeface="微软雅黑"/>
                <a:cs typeface="微软雅黑"/>
              </a:rPr>
              <a:t>确定性正则规则 R01–R13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508760" y="3008376"/>
            <a:ext cx="676656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667085"/>
                </a:solidFill>
                <a:latin typeface="微软雅黑"/>
                <a:ea typeface="微软雅黑"/>
                <a:cs typeface="微软雅黑"/>
              </a:rPr>
              <a:t>fast 基线 · 秒级兜底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3200400"/>
            <a:ext cx="73152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0" i="0">
                <a:solidFill>
                  <a:srgbClr val="C7D2F0"/>
                </a:solidFill>
                <a:latin typeface="微软雅黑"/>
                <a:ea typeface="微软雅黑"/>
                <a:cs typeface="微软雅黑"/>
              </a:rPr>
              <a:t>▼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3383279"/>
            <a:ext cx="7863840" cy="896112"/>
          </a:xfrm>
          <a:prstGeom prst="roundRect">
            <a:avLst>
              <a:gd name="adj" fmla="val 12000"/>
            </a:avLst>
          </a:prstGeom>
          <a:solidFill>
            <a:srgbClr val="F5F7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Oval 18"/>
          <p:cNvSpPr/>
          <p:nvPr/>
        </p:nvSpPr>
        <p:spPr>
          <a:xfrm>
            <a:off x="868680" y="3602735"/>
            <a:ext cx="457200" cy="457200"/>
          </a:xfrm>
          <a:prstGeom prst="ellipse">
            <a:avLst/>
          </a:prstGeom>
          <a:solidFill>
            <a:srgbClr val="1935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54864" rIns="109728" bIns="54864" rtlCol="0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508760" y="3474720"/>
            <a:ext cx="67665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50" b="1" i="0">
                <a:solidFill>
                  <a:srgbClr val="1935C3"/>
                </a:solidFill>
                <a:latin typeface="微软雅黑"/>
                <a:ea typeface="微软雅黑"/>
                <a:cs typeface="微软雅黑"/>
              </a:rPr>
              <a:t>③ 证据裁决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08760" y="3822191"/>
            <a:ext cx="67665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 i="0">
                <a:solidFill>
                  <a:srgbClr val="2B2F38"/>
                </a:solidFill>
                <a:latin typeface="微软雅黑"/>
                <a:ea typeface="微软雅黑"/>
                <a:cs typeface="微软雅黑"/>
              </a:rPr>
              <a:t>LLM 只抽事实证据 → 代码硬阈值裁决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08760" y="4059935"/>
            <a:ext cx="676656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667085"/>
                </a:solidFill>
                <a:latin typeface="微软雅黑"/>
                <a:ea typeface="微软雅黑"/>
                <a:cs typeface="微软雅黑"/>
              </a:rPr>
              <a:t>核心环节 · 可复现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4251959"/>
            <a:ext cx="73152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0" i="0">
                <a:solidFill>
                  <a:srgbClr val="C7D2F0"/>
                </a:solidFill>
                <a:latin typeface="微软雅黑"/>
                <a:ea typeface="微软雅黑"/>
                <a:cs typeface="微软雅黑"/>
              </a:rPr>
              <a:t>▼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4434840"/>
            <a:ext cx="7863840" cy="896112"/>
          </a:xfrm>
          <a:prstGeom prst="roundRect">
            <a:avLst>
              <a:gd name="adj" fmla="val 12000"/>
            </a:avLst>
          </a:prstGeom>
          <a:solidFill>
            <a:srgbClr val="F5F7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Oval 24"/>
          <p:cNvSpPr/>
          <p:nvPr/>
        </p:nvSpPr>
        <p:spPr>
          <a:xfrm>
            <a:off x="868680" y="4654296"/>
            <a:ext cx="457200" cy="457200"/>
          </a:xfrm>
          <a:prstGeom prst="ellipse">
            <a:avLst/>
          </a:prstGeom>
          <a:solidFill>
            <a:srgbClr val="1935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54864" rIns="109728" bIns="54864" rtlCol="0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508760" y="4526279"/>
            <a:ext cx="67665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50" b="1" i="0">
                <a:solidFill>
                  <a:srgbClr val="1935C3"/>
                </a:solidFill>
                <a:latin typeface="微软雅黑"/>
                <a:ea typeface="微软雅黑"/>
                <a:cs typeface="微软雅黑"/>
              </a:rPr>
              <a:t>④ 建议生成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08760" y="4873752"/>
            <a:ext cx="67665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 i="0">
                <a:solidFill>
                  <a:srgbClr val="2B2F38"/>
                </a:solidFill>
                <a:latin typeface="微软雅黑"/>
                <a:ea typeface="微软雅黑"/>
                <a:cs typeface="微软雅黑"/>
              </a:rPr>
              <a:t>法条精确取文 + LLM 建议 + grounding 校验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08760" y="5111496"/>
            <a:ext cx="676656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667085"/>
                </a:solidFill>
                <a:latin typeface="微软雅黑"/>
                <a:ea typeface="微软雅黑"/>
                <a:cs typeface="微软雅黑"/>
              </a:rPr>
              <a:t>只负责“怎么改”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" y="5303520"/>
            <a:ext cx="731520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100" b="0" i="0">
                <a:solidFill>
                  <a:srgbClr val="C7D2F0"/>
                </a:solidFill>
                <a:latin typeface="微软雅黑"/>
                <a:ea typeface="微软雅黑"/>
                <a:cs typeface="微软雅黑"/>
              </a:rPr>
              <a:t>▼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640080" y="5486400"/>
            <a:ext cx="7863840" cy="896112"/>
          </a:xfrm>
          <a:prstGeom prst="roundRect">
            <a:avLst>
              <a:gd name="adj" fmla="val 12000"/>
            </a:avLst>
          </a:prstGeom>
          <a:solidFill>
            <a:srgbClr val="F5F7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1" name="Oval 30"/>
          <p:cNvSpPr/>
          <p:nvPr/>
        </p:nvSpPr>
        <p:spPr>
          <a:xfrm>
            <a:off x="868680" y="5705856"/>
            <a:ext cx="457200" cy="457200"/>
          </a:xfrm>
          <a:prstGeom prst="ellipse">
            <a:avLst/>
          </a:prstGeom>
          <a:solidFill>
            <a:srgbClr val="1935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54864" rIns="109728" bIns="54864" rtlCol="0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508760" y="5577840"/>
            <a:ext cx="67665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50" b="1" i="0">
                <a:solidFill>
                  <a:srgbClr val="1935C3"/>
                </a:solidFill>
                <a:latin typeface="微软雅黑"/>
                <a:ea typeface="微软雅黑"/>
                <a:cs typeface="微软雅黑"/>
              </a:rPr>
              <a:t>⑤ 输出沉淀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508760" y="5925312"/>
            <a:ext cx="67665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 i="0">
                <a:solidFill>
                  <a:srgbClr val="2B2F38"/>
                </a:solidFill>
                <a:latin typeface="微软雅黑"/>
                <a:ea typeface="微软雅黑"/>
                <a:cs typeface="微软雅黑"/>
              </a:rPr>
              <a:t>条款定位 → 条款比对 → 结构化报告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508760" y="6163056"/>
            <a:ext cx="676656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00" b="0" i="0">
                <a:solidFill>
                  <a:srgbClr val="667085"/>
                </a:solidFill>
                <a:latin typeface="微软雅黑"/>
                <a:ea typeface="微软雅黑"/>
                <a:cs typeface="微软雅黑"/>
              </a:rPr>
              <a:t>可追溯 · 可审计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8778240" y="1280160"/>
            <a:ext cx="2788920" cy="5074920"/>
          </a:xfrm>
          <a:prstGeom prst="roundRect">
            <a:avLst>
              <a:gd name="adj" fmla="val 6000"/>
            </a:avLst>
          </a:prstGeom>
          <a:solidFill>
            <a:srgbClr val="F5F7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82880" tIns="54864" rIns="182880" bIns="54864" rtlCol="0" anchor="ctr"/>
          <a:lstStyle/>
          <a:p>
            <a:pPr algn="l">
              <a:spcAft>
                <a:spcPts val="1000"/>
              </a:spcAft>
            </a:pPr>
            <a:r>
              <a:rPr sz="1400" b="1" i="0">
                <a:solidFill>
                  <a:srgbClr val="1935C3"/>
                </a:solidFill>
                <a:latin typeface="微软雅黑"/>
                <a:ea typeface="微软雅黑"/>
                <a:cs typeface="微软雅黑"/>
              </a:rPr>
              <a:t>两个审核模式</a:t>
            </a:r>
          </a:p>
          <a:p>
            <a:pPr algn="l">
              <a:spcAft>
                <a:spcPts val="200"/>
              </a:spcAft>
            </a:pPr>
            <a:r>
              <a:rPr sz="1250" b="1" i="0">
                <a:solidFill>
                  <a:srgbClr val="2B2F38"/>
                </a:solidFill>
                <a:latin typeface="微软雅黑"/>
                <a:ea typeface="微软雅黑"/>
                <a:cs typeface="微软雅黑"/>
              </a:rPr>
              <a:t>fast（快速）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050" b="0" i="0">
                <a:solidFill>
                  <a:srgbClr val="667085"/>
                </a:solidFill>
                <a:latin typeface="微软雅黑"/>
                <a:ea typeface="微软雅黑"/>
                <a:cs typeface="微软雅黑"/>
              </a:rPr>
              <a:t>纯规则引擎，秒级出结果，作为确定性基线与离线降级方案</a:t>
            </a:r>
          </a:p>
          <a:p>
            <a:pPr algn="l">
              <a:spcAft>
                <a:spcPts val="200"/>
              </a:spcAft>
            </a:pPr>
            <a:r>
              <a:rPr sz="1250" b="1" i="0">
                <a:solidFill>
                  <a:srgbClr val="2B2F38"/>
                </a:solidFill>
                <a:latin typeface="微软雅黑"/>
                <a:ea typeface="微软雅黑"/>
                <a:cs typeface="微软雅黑"/>
              </a:rPr>
              <a:t>precise（精准）</a:t>
            </a:r>
          </a:p>
          <a:p>
            <a:pPr algn="l">
              <a:lnSpc>
                <a:spcPct val="115000"/>
              </a:lnSpc>
              <a:spcAft>
                <a:spcPts val="1000"/>
              </a:spcAft>
            </a:pPr>
            <a:r>
              <a:rPr sz="1050" b="0" i="0">
                <a:solidFill>
                  <a:srgbClr val="667085"/>
                </a:solidFill>
                <a:latin typeface="微软雅黑"/>
                <a:ea typeface="微软雅黑"/>
                <a:cs typeface="微软雅黑"/>
              </a:rPr>
              <a:t>规则 + 证据裁决 + 建议层，主口径，实测指标达标</a:t>
            </a:r>
          </a:p>
          <a:p>
            <a:pPr algn="l">
              <a:spcAft>
                <a:spcPts val="200"/>
              </a:spcAft>
            </a:pPr>
            <a:r>
              <a:rPr sz="1250" b="1" i="0">
                <a:solidFill>
                  <a:srgbClr val="2B2F38"/>
                </a:solidFill>
                <a:latin typeface="微软雅黑"/>
                <a:ea typeface="微软雅黑"/>
                <a:cs typeface="微软雅黑"/>
              </a:rPr>
              <a:t>一致性保障</a:t>
            </a:r>
          </a:p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667085"/>
                </a:solidFill>
                <a:latin typeface="微软雅黑"/>
                <a:ea typeface="微软雅黑"/>
                <a:cs typeface="微软雅黑"/>
              </a:rPr>
              <a:t>全链路 temperature=0，同一合同多次审核结论稳定可复现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778240" y="1280160"/>
            <a:ext cx="2788920" cy="128016"/>
          </a:xfrm>
          <a:prstGeom prst="rect">
            <a:avLst/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548640" y="6510528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>
                <a:solidFill>
                  <a:srgbClr val="667085"/>
                </a:solidFill>
                <a:latin typeface="微软雅黑"/>
                <a:ea typeface="微软雅黑"/>
                <a:cs typeface="微软雅黑"/>
              </a:rPr>
              <a:t>SmartContract Auditor · 海底汪汪队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881360" y="6510528"/>
            <a:ext cx="777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00" b="0" i="0">
                <a:solidFill>
                  <a:srgbClr val="667085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548640" y="384048"/>
            <a:ext cx="457200" cy="457200"/>
          </a:xfrm>
          <a:prstGeom prst="roundRect">
            <a:avLst>
              <a:gd name="adj" fmla="val 28000"/>
            </a:avLst>
          </a:prstGeom>
          <a:solidFill>
            <a:srgbClr val="1935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54864" rIns="109728" bIns="54864" rtlCol="0" anchor="ctr"/>
          <a:lstStyle/>
          <a:p>
            <a:pPr algn="ctr"/>
            <a:r>
              <a:rPr sz="18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70432" y="329184"/>
            <a:ext cx="8778240" cy="5943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700" b="1" i="0">
                <a:solidFill>
                  <a:srgbClr val="1935C3"/>
                </a:solidFill>
                <a:latin typeface="微软雅黑"/>
                <a:ea typeface="微软雅黑"/>
                <a:cs typeface="微软雅黑"/>
              </a:rPr>
              <a:t>核心创新：证据-裁决解耦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509760" y="457200"/>
            <a:ext cx="21488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50" b="0" i="0">
                <a:solidFill>
                  <a:srgbClr val="667085"/>
                </a:solidFill>
                <a:latin typeface="微软雅黑"/>
                <a:ea typeface="微软雅黑"/>
                <a:cs typeface="微软雅黑"/>
              </a:rPr>
              <a:t>技术创新 · 核心壁垒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143000"/>
            <a:ext cx="1097280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600" b="1" i="0">
                <a:solidFill>
                  <a:srgbClr val="2B2F38"/>
                </a:solidFill>
                <a:latin typeface="微软雅黑"/>
                <a:ea typeface="微软雅黑"/>
                <a:cs typeface="微软雅黑"/>
              </a:rPr>
              <a:t>把「有没有风险」和「怎么改」彻底解耦：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627632"/>
            <a:ext cx="10972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/>
            <a:r>
              <a:rPr sz="1700" b="1" i="0">
                <a:solidFill>
                  <a:srgbClr val="1935C3"/>
                </a:solidFill>
                <a:latin typeface="微软雅黑"/>
                <a:ea typeface="微软雅黑"/>
                <a:cs typeface="微软雅黑"/>
              </a:rPr>
              <a:t>LLM 只做笔录（抽事实），</a:t>
            </a:r>
          </a:p>
          <a:p>
            <a:pPr algn="ctr"/>
            <a:r>
              <a:rPr sz="1700" b="1" i="0">
                <a:solidFill>
                  <a:srgbClr val="E60012"/>
                </a:solidFill>
                <a:latin typeface="微软雅黑"/>
                <a:ea typeface="微软雅黑"/>
                <a:cs typeface="微软雅黑"/>
              </a:rPr>
              <a:t>代码当法官（按法条阈值一锤定音）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240280"/>
            <a:ext cx="3566160" cy="2286000"/>
          </a:xfrm>
          <a:prstGeom prst="roundRect">
            <a:avLst>
              <a:gd name="adj" fmla="val 6000"/>
            </a:avLst>
          </a:prstGeom>
          <a:solidFill>
            <a:srgbClr val="F5F7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640080" y="2240280"/>
            <a:ext cx="3566160" cy="128016"/>
          </a:xfrm>
          <a:prstGeom prst="rect">
            <a:avLst/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822959" y="2487168"/>
            <a:ext cx="3200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E60012"/>
                </a:solidFill>
                <a:latin typeface="微软雅黑"/>
                <a:ea typeface="微软雅黑"/>
                <a:cs typeface="微软雅黑"/>
              </a:rPr>
              <a:t>✗ 传统做法：LLM 直接判风险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22959" y="2907792"/>
            <a:ext cx="32461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 i="0">
                <a:solidFill>
                  <a:srgbClr val="2B2F38"/>
                </a:solidFill>
                <a:latin typeface="微软雅黑"/>
                <a:ea typeface="微软雅黑"/>
                <a:cs typeface="微软雅黑"/>
              </a:rPr>
              <a:t>· 直接问“这条有没有风险”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59" y="3319272"/>
            <a:ext cx="32461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 i="0">
                <a:solidFill>
                  <a:srgbClr val="2B2F38"/>
                </a:solidFill>
                <a:latin typeface="微软雅黑"/>
                <a:ea typeface="微软雅黑"/>
                <a:cs typeface="微软雅黑"/>
              </a:rPr>
              <a:t>· AI 会“编”出不存在的条款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59" y="3730752"/>
            <a:ext cx="32461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 i="0">
                <a:solidFill>
                  <a:srgbClr val="2B2F38"/>
                </a:solidFill>
                <a:latin typeface="微软雅黑"/>
                <a:ea typeface="微软雅黑"/>
                <a:cs typeface="微软雅黑"/>
              </a:rPr>
              <a:t>· 同一合同两次结论漂移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434840" y="2240280"/>
            <a:ext cx="3566160" cy="2286000"/>
          </a:xfrm>
          <a:prstGeom prst="roundRect">
            <a:avLst>
              <a:gd name="adj" fmla="val 6000"/>
            </a:avLst>
          </a:prstGeom>
          <a:solidFill>
            <a:srgbClr val="F5F7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4434840" y="2240280"/>
            <a:ext cx="3566160" cy="128016"/>
          </a:xfrm>
          <a:prstGeom prst="rect">
            <a:avLst/>
          </a:prstGeom>
          <a:solidFill>
            <a:srgbClr val="1935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617720" y="2487168"/>
            <a:ext cx="3200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1935C3"/>
                </a:solidFill>
                <a:latin typeface="微软雅黑"/>
                <a:ea typeface="微软雅黑"/>
                <a:cs typeface="微软雅黑"/>
              </a:rPr>
              <a:t>✓ 我们的做法：只抽事实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17720" y="2907792"/>
            <a:ext cx="32461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 i="0">
                <a:solidFill>
                  <a:srgbClr val="2B2F38"/>
                </a:solidFill>
                <a:latin typeface="微软雅黑"/>
                <a:ea typeface="微软雅黑"/>
                <a:cs typeface="微软雅黑"/>
              </a:rPr>
              <a:t>· 冻结 JSON Schema 抽取客观事实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17720" y="3319272"/>
            <a:ext cx="32461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 i="0">
                <a:solidFill>
                  <a:srgbClr val="2B2F38"/>
                </a:solidFill>
                <a:latin typeface="微软雅黑"/>
                <a:ea typeface="微软雅黑"/>
                <a:cs typeface="微软雅黑"/>
              </a:rPr>
              <a:t>· 找不到填 null，绝不臆测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617720" y="3730752"/>
            <a:ext cx="32461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 i="0">
                <a:solidFill>
                  <a:srgbClr val="2B2F38"/>
                </a:solidFill>
                <a:latin typeface="微软雅黑"/>
                <a:ea typeface="微软雅黑"/>
                <a:cs typeface="微软雅黑"/>
              </a:rPr>
              <a:t>· 不下风险结论、不输出 is_risk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229600" y="2240280"/>
            <a:ext cx="3566160" cy="2286000"/>
          </a:xfrm>
          <a:prstGeom prst="roundRect">
            <a:avLst>
              <a:gd name="adj" fmla="val 6000"/>
            </a:avLst>
          </a:prstGeom>
          <a:solidFill>
            <a:srgbClr val="F5F7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8229600" y="2240280"/>
            <a:ext cx="3566160" cy="128016"/>
          </a:xfrm>
          <a:prstGeom prst="rect">
            <a:avLst/>
          </a:prstGeom>
          <a:solidFill>
            <a:srgbClr val="1935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8412480" y="2487168"/>
            <a:ext cx="3200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1935C3"/>
                </a:solidFill>
                <a:latin typeface="微软雅黑"/>
                <a:ea typeface="微软雅黑"/>
                <a:cs typeface="微软雅黑"/>
              </a:rPr>
              <a:t>✓ 代码确定性裁决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412480" y="2907792"/>
            <a:ext cx="32461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 i="0">
                <a:solidFill>
                  <a:srgbClr val="2B2F38"/>
                </a:solidFill>
                <a:latin typeface="微软雅黑"/>
                <a:ea typeface="微软雅黑"/>
                <a:cs typeface="微软雅黑"/>
              </a:rPr>
              <a:t>· Python 按 v1.2.4 硬阈值裁决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412480" y="3319272"/>
            <a:ext cx="32461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 i="0">
                <a:solidFill>
                  <a:srgbClr val="2B2F38"/>
                </a:solidFill>
                <a:latin typeface="微软雅黑"/>
                <a:ea typeface="微软雅黑"/>
                <a:cs typeface="微软雅黑"/>
              </a:rPr>
              <a:t>· 模棱两可一律不标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412480" y="3730752"/>
            <a:ext cx="32461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 i="0">
                <a:solidFill>
                  <a:srgbClr val="2B2F38"/>
                </a:solidFill>
                <a:latin typeface="微软雅黑"/>
                <a:ea typeface="微软雅黑"/>
                <a:cs typeface="微软雅黑"/>
              </a:rPr>
              <a:t>· 结论可复现、可追溯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40080" y="4800600"/>
            <a:ext cx="10972800" cy="1234440"/>
          </a:xfrm>
          <a:prstGeom prst="roundRect">
            <a:avLst>
              <a:gd name="adj" fmla="val 6000"/>
            </a:avLst>
          </a:prstGeom>
          <a:solidFill>
            <a:srgbClr val="1935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0" tIns="54864" rIns="274320" bIns="54864" rtlCol="0" anchor="ctr"/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DDE4F7"/>
                </a:solidFill>
                <a:latin typeface="微软雅黑"/>
                <a:ea typeface="微软雅黑"/>
                <a:cs typeface="微软雅黑"/>
              </a:rPr>
              <a:t>核心记忆点</a:t>
            </a:r>
          </a:p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“我们不问 AI『这条有没有风险』——AI 一判风险就爱编。我们只让 AI 做笔录（抽取条款事实），然后让代码当法官（按法条阈值一锤定音）。</a:t>
            </a:r>
          </a:p>
          <a:p>
            <a:pPr algn="l">
              <a:lnSpc>
                <a:spcPct val="125000"/>
              </a:lnSpc>
            </a:pPr>
            <a:r>
              <a:rPr sz="14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AI 记错了，法官核对原文就能发现；AI 判错了，没法核对。”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" y="6510528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>
                <a:solidFill>
                  <a:srgbClr val="667085"/>
                </a:solidFill>
                <a:latin typeface="微软雅黑"/>
                <a:ea typeface="微软雅黑"/>
                <a:cs typeface="微软雅黑"/>
              </a:rPr>
              <a:t>SmartContract Auditor · 海底汪汪队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881360" y="6510528"/>
            <a:ext cx="777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00" b="0" i="0">
                <a:solidFill>
                  <a:srgbClr val="667085"/>
                </a:solidFill>
                <a:latin typeface="微软雅黑"/>
                <a:ea typeface="微软雅黑"/>
                <a:cs typeface="微软雅黑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548640" y="384048"/>
            <a:ext cx="457200" cy="457200"/>
          </a:xfrm>
          <a:prstGeom prst="roundRect">
            <a:avLst>
              <a:gd name="adj" fmla="val 28000"/>
            </a:avLst>
          </a:prstGeom>
          <a:solidFill>
            <a:srgbClr val="1935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54864" rIns="109728" bIns="54864" rtlCol="0" anchor="ctr"/>
          <a:lstStyle/>
          <a:p>
            <a:pPr algn="ctr"/>
            <a:r>
              <a:rPr sz="18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70432" y="329184"/>
            <a:ext cx="8778240" cy="5943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700" b="1" i="0">
                <a:solidFill>
                  <a:srgbClr val="1935C3"/>
                </a:solidFill>
                <a:latin typeface="微软雅黑"/>
                <a:ea typeface="微软雅黑"/>
                <a:cs typeface="微软雅黑"/>
              </a:rPr>
              <a:t>用数据说话：从 24% 到 76.6% 的精准率跃迁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509760" y="457200"/>
            <a:ext cx="21488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50" b="0" i="0">
                <a:solidFill>
                  <a:srgbClr val="667085"/>
                </a:solidFill>
                <a:latin typeface="微软雅黑"/>
                <a:ea typeface="微软雅黑"/>
                <a:cs typeface="微软雅黑"/>
              </a:rPr>
              <a:t>技术创新 · 对照实验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234440"/>
            <a:ext cx="109728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50" b="0" i="0">
                <a:solidFill>
                  <a:srgbClr val="2B2F38"/>
                </a:solidFill>
                <a:latin typeface="微软雅黑"/>
                <a:ea typeface="微软雅黑"/>
                <a:cs typeface="微软雅黑"/>
              </a:rPr>
              <a:t>风险引擎经过多轮对照实验迭代，每一步都由真实测试集的精准率/召回率数据驱动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783080"/>
            <a:ext cx="3566160" cy="3017520"/>
          </a:xfrm>
          <a:prstGeom prst="roundRect">
            <a:avLst>
              <a:gd name="adj" fmla="val 6000"/>
            </a:avLst>
          </a:prstGeom>
          <a:solidFill>
            <a:srgbClr val="F5F7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68680" y="1920240"/>
            <a:ext cx="310896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 i="0">
                <a:solidFill>
                  <a:srgbClr val="1935C3"/>
                </a:solidFill>
                <a:latin typeface="微软雅黑"/>
                <a:ea typeface="微软雅黑"/>
                <a:cs typeface="微软雅黑"/>
              </a:rPr>
              <a:t>v4</a:t>
            </a:r>
          </a:p>
          <a:p>
            <a:pPr algn="l"/>
            <a:endParaRPr sz="2000" b="1" i="0">
              <a:solidFill>
                <a:srgbClr val="1935C3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9" name="TextBox 8"/>
          <p:cNvSpPr txBox="1"/>
          <p:nvPr/>
        </p:nvSpPr>
        <p:spPr>
          <a:xfrm>
            <a:off x="868680" y="2395728"/>
            <a:ext cx="315468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667085"/>
                </a:solidFill>
                <a:latin typeface="微软雅黑"/>
                <a:ea typeface="微软雅黑"/>
                <a:cs typeface="微软雅黑"/>
              </a:rPr>
              <a:t>LLM 泛化 Prompt 直接判风险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999232"/>
            <a:ext cx="315468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 i="0">
                <a:solidFill>
                  <a:srgbClr val="2B2F38"/>
                </a:solidFill>
                <a:latin typeface="微软雅黑"/>
                <a:ea typeface="微软雅黑"/>
                <a:cs typeface="微软雅黑"/>
              </a:rPr>
              <a:t>精准 24.0%  ·  召回 97.4%</a:t>
            </a:r>
          </a:p>
          <a:p>
            <a:pPr algn="l"/>
            <a:r>
              <a:rPr sz="1200" b="1" i="0">
                <a:solidFill>
                  <a:srgbClr val="667085"/>
                </a:solidFill>
                <a:latin typeface="微软雅黑"/>
                <a:ea typeface="微软雅黑"/>
                <a:cs typeface="微软雅黑"/>
              </a:rPr>
              <a:t>F1 38.0%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68680" y="4114800"/>
            <a:ext cx="315468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 i="0">
                <a:solidFill>
                  <a:srgbClr val="667085"/>
                </a:solidFill>
                <a:latin typeface="微软雅黑"/>
                <a:ea typeface="微软雅黑"/>
                <a:cs typeface="微软雅黑"/>
              </a:rPr>
              <a:t>过报 466 条，精准率惨不忍睹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34840" y="1783080"/>
            <a:ext cx="3566160" cy="3017520"/>
          </a:xfrm>
          <a:prstGeom prst="roundRect">
            <a:avLst>
              <a:gd name="adj" fmla="val 6000"/>
            </a:avLst>
          </a:prstGeom>
          <a:solidFill>
            <a:srgbClr val="F5F7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663440" y="1920240"/>
            <a:ext cx="310896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 i="0">
                <a:solidFill>
                  <a:srgbClr val="1935C3"/>
                </a:solidFill>
                <a:latin typeface="微软雅黑"/>
                <a:ea typeface="微软雅黑"/>
                <a:cs typeface="微软雅黑"/>
              </a:rPr>
              <a:t>v5</a:t>
            </a:r>
          </a:p>
          <a:p>
            <a:pPr algn="l"/>
            <a:endParaRPr sz="2000" b="1" i="0">
              <a:solidFill>
                <a:srgbClr val="1935C3"/>
              </a:solidFill>
              <a:latin typeface="微软雅黑"/>
              <a:ea typeface="微软雅黑"/>
              <a:cs typeface="微软雅黑"/>
            </a:endParaRPr>
          </a:p>
        </p:txBody>
      </p:sp>
      <p:sp>
        <p:nvSpPr>
          <p:cNvPr id="14" name="TextBox 13"/>
          <p:cNvSpPr txBox="1"/>
          <p:nvPr/>
        </p:nvSpPr>
        <p:spPr>
          <a:xfrm>
            <a:off x="4663440" y="2395728"/>
            <a:ext cx="315468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667085"/>
                </a:solidFill>
                <a:latin typeface="微软雅黑"/>
                <a:ea typeface="微软雅黑"/>
                <a:cs typeface="微软雅黑"/>
              </a:rPr>
              <a:t>阈值写进提示词（严格 Prompt）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63440" y="2999232"/>
            <a:ext cx="315468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 i="0">
                <a:solidFill>
                  <a:srgbClr val="2B2F38"/>
                </a:solidFill>
                <a:latin typeface="微软雅黑"/>
                <a:ea typeface="微软雅黑"/>
                <a:cs typeface="微软雅黑"/>
              </a:rPr>
              <a:t>精准 25.9%  ·  召回 73.5%</a:t>
            </a:r>
          </a:p>
          <a:p>
            <a:pPr algn="l"/>
            <a:r>
              <a:rPr sz="1200" b="1" i="0">
                <a:solidFill>
                  <a:srgbClr val="667085"/>
                </a:solidFill>
                <a:latin typeface="微软雅黑"/>
                <a:ea typeface="微软雅黑"/>
                <a:cs typeface="微软雅黑"/>
              </a:rPr>
              <a:t>F1 38.3%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63440" y="4114800"/>
            <a:ext cx="315468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 i="0">
                <a:solidFill>
                  <a:srgbClr val="667085"/>
                </a:solidFill>
                <a:latin typeface="微软雅黑"/>
                <a:ea typeface="微软雅黑"/>
                <a:cs typeface="微软雅黑"/>
              </a:rPr>
              <a:t>召回率反被“误杀”到 73.5%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29600" y="1783080"/>
            <a:ext cx="3566160" cy="3017520"/>
          </a:xfrm>
          <a:prstGeom prst="roundRect">
            <a:avLst>
              <a:gd name="adj" fmla="val 6000"/>
            </a:avLst>
          </a:prstGeom>
          <a:solidFill>
            <a:srgbClr val="1935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8229600" y="1783080"/>
            <a:ext cx="3566160" cy="128016"/>
          </a:xfrm>
          <a:prstGeom prst="rect">
            <a:avLst/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458200" y="1920240"/>
            <a:ext cx="310896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20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v6.4</a:t>
            </a:r>
          </a:p>
          <a:p>
            <a:pPr algn="l"/>
            <a:r>
              <a:rPr sz="1200" b="1" i="0">
                <a:solidFill>
                  <a:srgbClr val="E60012"/>
                </a:solidFill>
                <a:latin typeface="微软雅黑"/>
                <a:ea typeface="微软雅黑"/>
                <a:cs typeface="微软雅黑"/>
              </a:rPr>
              <a:t>  ★ 最终方案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58200" y="2395728"/>
            <a:ext cx="315468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100" b="0" i="0">
                <a:solidFill>
                  <a:srgbClr val="DDE4F7"/>
                </a:solidFill>
                <a:latin typeface="微软雅黑"/>
                <a:ea typeface="微软雅黑"/>
                <a:cs typeface="微软雅黑"/>
              </a:rPr>
              <a:t>LLM 抽事实 + 代码硬阈值裁决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58200" y="2999232"/>
            <a:ext cx="315468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3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精准 76.6%  ·  召回 80.1%</a:t>
            </a:r>
          </a:p>
          <a:p>
            <a:pPr algn="l"/>
            <a:r>
              <a:rPr sz="1200" b="1" i="0">
                <a:solidFill>
                  <a:srgbClr val="DDE4F7"/>
                </a:solidFill>
                <a:latin typeface="微软雅黑"/>
                <a:ea typeface="微软雅黑"/>
                <a:cs typeface="微软雅黑"/>
              </a:rPr>
              <a:t>F1 78.3%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58200" y="4114800"/>
            <a:ext cx="315468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</a:pPr>
            <a:r>
              <a:rPr sz="1000" b="0" i="0">
                <a:solidFill>
                  <a:srgbClr val="DDE4F7"/>
                </a:solidFill>
                <a:latin typeface="微软雅黑"/>
                <a:ea typeface="微软雅黑"/>
                <a:cs typeface="微软雅黑"/>
              </a:rPr>
              <a:t>精准率×3，召回率守住 80%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5120640"/>
            <a:ext cx="10972800" cy="8229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300"/>
              </a:spcAft>
            </a:pPr>
            <a:r>
              <a:rPr sz="1500" b="1" i="0">
                <a:solidFill>
                  <a:srgbClr val="E60012"/>
                </a:solidFill>
                <a:latin typeface="微软雅黑"/>
                <a:ea typeface="微软雅黑"/>
                <a:cs typeface="微软雅黑"/>
              </a:rPr>
              <a:t>结论：</a:t>
            </a:r>
          </a:p>
          <a:p>
            <a:pPr algn="l">
              <a:lnSpc>
                <a:spcPct val="125000"/>
              </a:lnSpc>
            </a:pPr>
            <a:r>
              <a:rPr sz="1400" b="0" i="0">
                <a:solidFill>
                  <a:srgbClr val="2B2F38"/>
                </a:solidFill>
                <a:latin typeface="微软雅黑"/>
                <a:ea typeface="微软雅黑"/>
                <a:cs typeface="微软雅黑"/>
              </a:rPr>
              <a:t>LLM 擅长布尔/数值判断，复杂枚举/嵌套规则应交给代码裁决。这正是「证据-裁决解耦」架构的由来——把裁决权收回代码后，精准率从 24% 拉到 76.6%，同时召回率守住 80.1%。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6510528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>
                <a:solidFill>
                  <a:srgbClr val="667085"/>
                </a:solidFill>
                <a:latin typeface="微软雅黑"/>
                <a:ea typeface="微软雅黑"/>
                <a:cs typeface="微软雅黑"/>
              </a:rPr>
              <a:t>SmartContract Auditor · 海底汪汪队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881360" y="6510528"/>
            <a:ext cx="777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00" b="0" i="0">
                <a:solidFill>
                  <a:srgbClr val="667085"/>
                </a:solidFill>
                <a:latin typeface="微软雅黑"/>
                <a:ea typeface="微软雅黑"/>
                <a:cs typeface="微软雅黑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548640" y="384048"/>
            <a:ext cx="457200" cy="457200"/>
          </a:xfrm>
          <a:prstGeom prst="roundRect">
            <a:avLst>
              <a:gd name="adj" fmla="val 28000"/>
            </a:avLst>
          </a:prstGeom>
          <a:solidFill>
            <a:srgbClr val="1935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54864" rIns="109728" bIns="54864" rtlCol="0" anchor="ctr"/>
          <a:lstStyle/>
          <a:p>
            <a:pPr algn="ctr"/>
            <a:r>
              <a:rPr sz="18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70432" y="329184"/>
            <a:ext cx="8778240" cy="5943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700" b="1" i="0">
                <a:solidFill>
                  <a:srgbClr val="1935C3"/>
                </a:solidFill>
                <a:latin typeface="微软雅黑"/>
                <a:ea typeface="微软雅黑"/>
                <a:cs typeface="微软雅黑"/>
              </a:rPr>
              <a:t>方案一：智能分类与要素抽取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509760" y="457200"/>
            <a:ext cx="21488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50" b="0" i="0">
                <a:solidFill>
                  <a:srgbClr val="667085"/>
                </a:solidFill>
                <a:latin typeface="微软雅黑"/>
                <a:ea typeface="微软雅黑"/>
                <a:cs typeface="微软雅黑"/>
              </a:rPr>
              <a:t>核心方案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188720"/>
            <a:ext cx="53949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 i="0">
                <a:solidFill>
                  <a:srgbClr val="1935C3"/>
                </a:solidFill>
                <a:latin typeface="微软雅黑"/>
                <a:ea typeface="微软雅黑"/>
                <a:cs typeface="微软雅黑"/>
              </a:rPr>
              <a:t>合同智能分类（98.6%）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572768"/>
            <a:ext cx="5394960" cy="1828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1" i="0">
                <a:solidFill>
                  <a:srgbClr val="2B2F38"/>
                </a:solidFill>
                <a:latin typeface="微软雅黑"/>
                <a:ea typeface="微软雅黑"/>
                <a:cs typeface="微软雅黑"/>
              </a:rPr>
              <a:t>RAG 少样本分类 + LLM 法理推理，输出两个正交维度：</a:t>
            </a:r>
          </a:p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2B2F38"/>
                </a:solidFill>
                <a:latin typeface="微软雅黑"/>
                <a:ea typeface="微软雅黑"/>
                <a:cs typeface="微软雅黑"/>
              </a:rPr>
              <a:t>· 法理分类：11 类单一互斥（买卖/租赁/承揽/技术/劳动…）</a:t>
            </a:r>
          </a:p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2B2F38"/>
                </a:solidFill>
                <a:latin typeface="微软雅黑"/>
                <a:ea typeface="微软雅黑"/>
                <a:cs typeface="微软雅黑"/>
              </a:rPr>
              <a:t>· 业务标签：是否属「服务外包」业务（可叠加）</a:t>
            </a:r>
          </a:p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2B2F38"/>
                </a:solidFill>
                <a:latin typeface="微软雅黑"/>
                <a:ea typeface="微软雅黑"/>
                <a:cs typeface="微软雅黑"/>
              </a:rPr>
              <a:t>· 分块采样 + 多数投票，抗长文本中间信息丢失</a:t>
            </a:r>
          </a:p>
          <a:p>
            <a:pPr algn="l"/>
            <a:r>
              <a:rPr sz="1200" b="0" i="0">
                <a:solidFill>
                  <a:srgbClr val="2B2F38"/>
                </a:solidFill>
                <a:latin typeface="微软雅黑"/>
                <a:ea typeface="微软雅黑"/>
                <a:cs typeface="微软雅黑"/>
              </a:rPr>
              <a:t>· 分类体系唯一真源 taxonomy.py，前端/分类器/比对共用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566160"/>
            <a:ext cx="53949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 i="0">
                <a:solidFill>
                  <a:srgbClr val="1935C3"/>
                </a:solidFill>
                <a:latin typeface="微软雅黑"/>
                <a:ea typeface="微软雅黑"/>
                <a:cs typeface="微软雅黑"/>
              </a:rPr>
              <a:t>关键要素结构化抽取（F1 93.7%）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950208"/>
            <a:ext cx="5394960" cy="1828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600"/>
              </a:spcAft>
            </a:pPr>
            <a:r>
              <a:rPr sz="1250" b="1" i="0">
                <a:solidFill>
                  <a:srgbClr val="2B2F38"/>
                </a:solidFill>
                <a:latin typeface="微软雅黑"/>
                <a:ea typeface="微软雅黑"/>
                <a:cs typeface="微软雅黑"/>
              </a:rPr>
              <a:t>JSON Schema 约束 + Few-shot Prompting，长合同分块并行合并：</a:t>
            </a:r>
          </a:p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2B2F38"/>
                </a:solidFill>
                <a:latin typeface="微软雅黑"/>
                <a:ea typeface="微软雅黑"/>
                <a:cs typeface="微软雅黑"/>
              </a:rPr>
              <a:t>· 双方（甲方/乙方，称谓归一化）</a:t>
            </a:r>
          </a:p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2B2F38"/>
                </a:solidFill>
                <a:latin typeface="微软雅黑"/>
                <a:ea typeface="微软雅黑"/>
                <a:cs typeface="微软雅黑"/>
              </a:rPr>
              <a:t>· 金额（数值+币种，区分含税）+ 签署日期</a:t>
            </a:r>
          </a:p>
          <a:p>
            <a:pPr algn="l">
              <a:spcAft>
                <a:spcPts val="300"/>
              </a:spcAft>
            </a:pPr>
            <a:r>
              <a:rPr sz="1200" b="0" i="0">
                <a:solidFill>
                  <a:srgbClr val="2B2F38"/>
                </a:solidFill>
                <a:latin typeface="微软雅黑"/>
                <a:ea typeface="微软雅黑"/>
                <a:cs typeface="微软雅黑"/>
              </a:rPr>
              <a:t>· 履行期限 + 争议解决方式 + 适用法律</a:t>
            </a:r>
          </a:p>
          <a:p>
            <a:pPr algn="l"/>
            <a:r>
              <a:rPr sz="1200" b="1" i="0">
                <a:solidFill>
                  <a:srgbClr val="16A34A"/>
                </a:solidFill>
                <a:latin typeface="微软雅黑"/>
                <a:ea typeface="微软雅黑"/>
                <a:cs typeface="微软雅黑"/>
              </a:rPr>
              <a:t>· 双方 100% · 金额 87.2% · 期限 90.8% · 争议 96.3%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188720"/>
            <a:ext cx="5303520" cy="4572000"/>
          </a:xfrm>
          <a:prstGeom prst="roundRect">
            <a:avLst>
              <a:gd name="adj" fmla="val 5000"/>
            </a:avLst>
          </a:prstGeom>
          <a:solidFill>
            <a:srgbClr val="F8FAFF"/>
          </a:solidFill>
          <a:ln w="15240">
            <a:solidFill>
              <a:srgbClr val="C7D2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54864" rIns="109728" bIns="54864" rtlCol="0" anchor="ctr"/>
          <a:lstStyle/>
          <a:p>
            <a:pPr algn="ctr">
              <a:spcAft>
                <a:spcPts val="300"/>
              </a:spcAft>
            </a:pPr>
            <a:r>
              <a:rPr sz="1100" b="1" i="0">
                <a:solidFill>
                  <a:srgbClr val="1935C3"/>
                </a:solidFill>
                <a:latin typeface="微软雅黑"/>
                <a:ea typeface="微软雅黑"/>
                <a:cs typeface="微软雅黑"/>
              </a:rPr>
              <a:t>截图占位</a:t>
            </a:r>
          </a:p>
          <a:p>
            <a:pPr algn="ctr"/>
            <a:r>
              <a:rPr sz="1000" b="0" i="0">
                <a:solidFill>
                  <a:srgbClr val="667085"/>
                </a:solidFill>
                <a:latin typeface="微软雅黑"/>
                <a:ea typeface="微软雅黑"/>
                <a:cs typeface="微软雅黑"/>
              </a:rPr>
              <a:t>合同详情页：要素抽取结果
（甲方/乙方/金额/期限/争议解决 结构化卡片）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6510528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>
                <a:solidFill>
                  <a:srgbClr val="667085"/>
                </a:solidFill>
                <a:latin typeface="微软雅黑"/>
                <a:ea typeface="微软雅黑"/>
                <a:cs typeface="微软雅黑"/>
              </a:rPr>
              <a:t>SmartContract Auditor · 海底汪汪队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881360" y="6510528"/>
            <a:ext cx="777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00" b="0" i="0">
                <a:solidFill>
                  <a:srgbClr val="667085"/>
                </a:solidFill>
                <a:latin typeface="微软雅黑"/>
                <a:ea typeface="微软雅黑"/>
                <a:cs typeface="微软雅黑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548640" y="384048"/>
            <a:ext cx="457200" cy="457200"/>
          </a:xfrm>
          <a:prstGeom prst="roundRect">
            <a:avLst>
              <a:gd name="adj" fmla="val 28000"/>
            </a:avLst>
          </a:prstGeom>
          <a:solidFill>
            <a:srgbClr val="1935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54864" rIns="109728" bIns="54864" rtlCol="0" anchor="ctr"/>
          <a:lstStyle/>
          <a:p>
            <a:pPr algn="ctr"/>
            <a:r>
              <a:rPr sz="18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70432" y="329184"/>
            <a:ext cx="8778240" cy="5943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700" b="1" i="0">
                <a:solidFill>
                  <a:srgbClr val="1935C3"/>
                </a:solidFill>
                <a:latin typeface="微软雅黑"/>
                <a:ea typeface="微软雅黑"/>
                <a:cs typeface="微软雅黑"/>
              </a:rPr>
              <a:t>方案二：证据驱动的确定性风险识别（13 类）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509760" y="457200"/>
            <a:ext cx="21488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50" b="0" i="0">
                <a:solidFill>
                  <a:srgbClr val="667085"/>
                </a:solidFill>
                <a:latin typeface="微软雅黑"/>
                <a:ea typeface="微软雅黑"/>
                <a:cs typeface="微软雅黑"/>
              </a:rPr>
              <a:t>核心方案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188720"/>
            <a:ext cx="57607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 i="0">
                <a:solidFill>
                  <a:srgbClr val="1935C3"/>
                </a:solidFill>
                <a:latin typeface="微软雅黑"/>
                <a:ea typeface="微软雅黑"/>
                <a:cs typeface="微软雅黑"/>
              </a:rPr>
              <a:t>三层流水线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572768"/>
            <a:ext cx="5760720" cy="868680"/>
          </a:xfrm>
          <a:prstGeom prst="roundRect">
            <a:avLst>
              <a:gd name="adj" fmla="val 10000"/>
            </a:avLst>
          </a:prstGeom>
          <a:solidFill>
            <a:srgbClr val="F5F7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68680" y="1664208"/>
            <a:ext cx="53949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1" i="0">
                <a:solidFill>
                  <a:srgbClr val="1935C3"/>
                </a:solidFill>
                <a:latin typeface="微软雅黑"/>
                <a:ea typeface="微软雅黑"/>
                <a:cs typeface="微软雅黑"/>
              </a:rPr>
              <a:t>第一层 规则召回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011680"/>
            <a:ext cx="5394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 i="0">
                <a:solidFill>
                  <a:srgbClr val="2B2F38"/>
                </a:solidFill>
                <a:latin typeface="微软雅黑"/>
                <a:ea typeface="微软雅黑"/>
                <a:cs typeface="微软雅黑"/>
              </a:rPr>
              <a:t>确定性正则召回 R01–R13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68680" y="2231136"/>
            <a:ext cx="539496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 i="0">
                <a:solidFill>
                  <a:srgbClr val="667085"/>
                </a:solidFill>
                <a:latin typeface="微软雅黑"/>
                <a:ea typeface="微软雅黑"/>
                <a:cs typeface="微软雅黑"/>
              </a:rPr>
              <a:t>fast 基线 / precise 兜底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2578608"/>
            <a:ext cx="5760720" cy="868680"/>
          </a:xfrm>
          <a:prstGeom prst="roundRect">
            <a:avLst>
              <a:gd name="adj" fmla="val 10000"/>
            </a:avLst>
          </a:prstGeom>
          <a:solidFill>
            <a:srgbClr val="1935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868680" y="2670048"/>
            <a:ext cx="53949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第二层 证据裁决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3017520"/>
            <a:ext cx="5394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 i="0">
                <a:solidFill>
                  <a:srgbClr val="DDE4F7"/>
                </a:solidFill>
                <a:latin typeface="微软雅黑"/>
                <a:ea typeface="微软雅黑"/>
                <a:cs typeface="微软雅黑"/>
              </a:rPr>
              <a:t>LLM 抽事实 → 代码硬阈值裁决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3236976"/>
            <a:ext cx="539496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 i="0">
                <a:solidFill>
                  <a:srgbClr val="DDE4F7"/>
                </a:solidFill>
                <a:latin typeface="微软雅黑"/>
                <a:ea typeface="微软雅黑"/>
                <a:cs typeface="微软雅黑"/>
              </a:rPr>
              <a:t>核心 · 可复现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584448"/>
            <a:ext cx="5760720" cy="868680"/>
          </a:xfrm>
          <a:prstGeom prst="roundRect">
            <a:avLst>
              <a:gd name="adj" fmla="val 10000"/>
            </a:avLst>
          </a:prstGeom>
          <a:solidFill>
            <a:srgbClr val="F5F7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68680" y="3675888"/>
            <a:ext cx="53949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1" i="0">
                <a:solidFill>
                  <a:srgbClr val="1935C3"/>
                </a:solidFill>
                <a:latin typeface="微软雅黑"/>
                <a:ea typeface="微软雅黑"/>
                <a:cs typeface="微软雅黑"/>
              </a:rPr>
              <a:t>第三层 建议层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4023360"/>
            <a:ext cx="53949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0" i="0">
                <a:solidFill>
                  <a:srgbClr val="2B2F38"/>
                </a:solidFill>
                <a:latin typeface="微软雅黑"/>
                <a:ea typeface="微软雅黑"/>
                <a:cs typeface="微软雅黑"/>
              </a:rPr>
              <a:t>法条精确取文 + LLM 建议 + grounding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" y="4242816"/>
            <a:ext cx="5394960" cy="2286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50" b="0" i="0">
                <a:solidFill>
                  <a:srgbClr val="667085"/>
                </a:solidFill>
                <a:latin typeface="微软雅黑"/>
                <a:ea typeface="微软雅黑"/>
                <a:cs typeface="微软雅黑"/>
              </a:rPr>
              <a:t>只负责“怎么改”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4709160"/>
            <a:ext cx="5760720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 i="0">
                <a:solidFill>
                  <a:srgbClr val="E60012"/>
                </a:solidFill>
                <a:latin typeface="微软雅黑"/>
                <a:ea typeface="微软雅黑"/>
                <a:cs typeface="微软雅黑"/>
              </a:rPr>
              <a:t>行业适配：</a:t>
            </a:r>
          </a:p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2B2F38"/>
                </a:solidFill>
                <a:latin typeface="微软雅黑"/>
                <a:ea typeface="微软雅黑"/>
                <a:cs typeface="微软雅黑"/>
              </a:rPr>
              <a:t>覆盖 IT 服务/金融科技高频风险——SLA 罚则（R01/R07）、数据导出销毁（R12）、IP 归属（R06）、源代码托管义务（R08），直配网新恒天业务场景。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675120" y="1188720"/>
            <a:ext cx="49377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 i="0">
                <a:solidFill>
                  <a:srgbClr val="1935C3"/>
                </a:solidFill>
                <a:latin typeface="微软雅黑"/>
                <a:ea typeface="微软雅黑"/>
                <a:cs typeface="微软雅黑"/>
              </a:rPr>
              <a:t>13 类风险清单（R01–R13）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675120" y="1627632"/>
            <a:ext cx="23774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E60012"/>
                </a:solidFill>
                <a:latin typeface="微软雅黑"/>
                <a:ea typeface="微软雅黑"/>
                <a:cs typeface="微软雅黑"/>
              </a:rPr>
              <a:t>● </a:t>
            </a:r>
          </a:p>
          <a:p>
            <a:pPr algn="l"/>
            <a:r>
              <a:rPr sz="1150" b="1" i="0">
                <a:solidFill>
                  <a:srgbClr val="1935C3"/>
                </a:solidFill>
                <a:latin typeface="微软雅黑"/>
                <a:ea typeface="微软雅黑"/>
                <a:cs typeface="微软雅黑"/>
              </a:rPr>
              <a:t>R01 </a:t>
            </a:r>
          </a:p>
          <a:p>
            <a:pPr algn="l"/>
            <a:r>
              <a:rPr sz="1150" b="0" i="0">
                <a:solidFill>
                  <a:srgbClr val="2B2F38"/>
                </a:solidFill>
                <a:latin typeface="微软雅黑"/>
                <a:ea typeface="微软雅黑"/>
                <a:cs typeface="微软雅黑"/>
              </a:rPr>
              <a:t>违约金过高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44000" y="1627632"/>
            <a:ext cx="23774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E60012"/>
                </a:solidFill>
                <a:latin typeface="微软雅黑"/>
                <a:ea typeface="微软雅黑"/>
                <a:cs typeface="微软雅黑"/>
              </a:rPr>
              <a:t>● </a:t>
            </a:r>
          </a:p>
          <a:p>
            <a:pPr algn="l"/>
            <a:r>
              <a:rPr sz="1150" b="1" i="0">
                <a:solidFill>
                  <a:srgbClr val="1935C3"/>
                </a:solidFill>
                <a:latin typeface="微软雅黑"/>
                <a:ea typeface="微软雅黑"/>
                <a:cs typeface="微软雅黑"/>
              </a:rPr>
              <a:t>R02 </a:t>
            </a:r>
          </a:p>
          <a:p>
            <a:pPr algn="l"/>
            <a:r>
              <a:rPr sz="1150" b="0" i="0">
                <a:solidFill>
                  <a:srgbClr val="2B2F38"/>
                </a:solidFill>
                <a:latin typeface="微软雅黑"/>
                <a:ea typeface="微软雅黑"/>
                <a:cs typeface="微软雅黑"/>
              </a:rPr>
              <a:t>无限责任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675120" y="2157984"/>
            <a:ext cx="23774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E60012"/>
                </a:solidFill>
                <a:latin typeface="微软雅黑"/>
                <a:ea typeface="微软雅黑"/>
                <a:cs typeface="微软雅黑"/>
              </a:rPr>
              <a:t>● </a:t>
            </a:r>
          </a:p>
          <a:p>
            <a:pPr algn="l"/>
            <a:r>
              <a:rPr sz="1150" b="1" i="0">
                <a:solidFill>
                  <a:srgbClr val="1935C3"/>
                </a:solidFill>
                <a:latin typeface="微软雅黑"/>
                <a:ea typeface="微软雅黑"/>
                <a:cs typeface="微软雅黑"/>
              </a:rPr>
              <a:t>R03 </a:t>
            </a:r>
          </a:p>
          <a:p>
            <a:pPr algn="l"/>
            <a:r>
              <a:rPr sz="1150" b="0" i="0">
                <a:solidFill>
                  <a:srgbClr val="2B2F38"/>
                </a:solidFill>
                <a:latin typeface="微软雅黑"/>
                <a:ea typeface="微软雅黑"/>
                <a:cs typeface="微软雅黑"/>
              </a:rPr>
              <a:t>单方解约权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144000" y="2157984"/>
            <a:ext cx="23774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E60012"/>
                </a:solidFill>
                <a:latin typeface="微软雅黑"/>
                <a:ea typeface="微软雅黑"/>
                <a:cs typeface="微软雅黑"/>
              </a:rPr>
              <a:t>● </a:t>
            </a:r>
          </a:p>
          <a:p>
            <a:pPr algn="l"/>
            <a:r>
              <a:rPr sz="1150" b="1" i="0">
                <a:solidFill>
                  <a:srgbClr val="1935C3"/>
                </a:solidFill>
                <a:latin typeface="微软雅黑"/>
                <a:ea typeface="微软雅黑"/>
                <a:cs typeface="微软雅黑"/>
              </a:rPr>
              <a:t>R04 </a:t>
            </a:r>
          </a:p>
          <a:p>
            <a:pPr algn="l"/>
            <a:r>
              <a:rPr sz="1150" b="0" i="0">
                <a:solidFill>
                  <a:srgbClr val="2B2F38"/>
                </a:solidFill>
                <a:latin typeface="微软雅黑"/>
                <a:ea typeface="微软雅黑"/>
                <a:cs typeface="微软雅黑"/>
              </a:rPr>
              <a:t>管辖不利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675120" y="2688336"/>
            <a:ext cx="23774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E60012"/>
                </a:solidFill>
                <a:latin typeface="微软雅黑"/>
                <a:ea typeface="微软雅黑"/>
                <a:cs typeface="微软雅黑"/>
              </a:rPr>
              <a:t>● </a:t>
            </a:r>
          </a:p>
          <a:p>
            <a:pPr algn="l"/>
            <a:r>
              <a:rPr sz="1150" b="1" i="0">
                <a:solidFill>
                  <a:srgbClr val="1935C3"/>
                </a:solidFill>
                <a:latin typeface="微软雅黑"/>
                <a:ea typeface="微软雅黑"/>
                <a:cs typeface="微软雅黑"/>
              </a:rPr>
              <a:t>R05 </a:t>
            </a:r>
          </a:p>
          <a:p>
            <a:pPr algn="l"/>
            <a:r>
              <a:rPr sz="1150" b="0" i="0">
                <a:solidFill>
                  <a:srgbClr val="2B2F38"/>
                </a:solidFill>
                <a:latin typeface="微软雅黑"/>
                <a:ea typeface="微软雅黑"/>
                <a:cs typeface="微软雅黑"/>
              </a:rPr>
              <a:t>保密期不合理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44000" y="2688336"/>
            <a:ext cx="23774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E60012"/>
                </a:solidFill>
                <a:latin typeface="微软雅黑"/>
                <a:ea typeface="微软雅黑"/>
                <a:cs typeface="微软雅黑"/>
              </a:rPr>
              <a:t>● </a:t>
            </a:r>
          </a:p>
          <a:p>
            <a:pPr algn="l"/>
            <a:r>
              <a:rPr sz="1150" b="1" i="0">
                <a:solidFill>
                  <a:srgbClr val="1935C3"/>
                </a:solidFill>
                <a:latin typeface="微软雅黑"/>
                <a:ea typeface="微软雅黑"/>
                <a:cs typeface="微软雅黑"/>
              </a:rPr>
              <a:t>R06 </a:t>
            </a:r>
          </a:p>
          <a:p>
            <a:pPr algn="l"/>
            <a:r>
              <a:rPr sz="1150" b="0" i="0">
                <a:solidFill>
                  <a:srgbClr val="2B2F38"/>
                </a:solidFill>
                <a:latin typeface="微软雅黑"/>
                <a:ea typeface="微软雅黑"/>
                <a:cs typeface="微软雅黑"/>
              </a:rPr>
              <a:t>IP 权益失衡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675120" y="3218687"/>
            <a:ext cx="23774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E60012"/>
                </a:solidFill>
                <a:latin typeface="微软雅黑"/>
                <a:ea typeface="微软雅黑"/>
                <a:cs typeface="微软雅黑"/>
              </a:rPr>
              <a:t>● </a:t>
            </a:r>
          </a:p>
          <a:p>
            <a:pPr algn="l"/>
            <a:r>
              <a:rPr sz="1150" b="1" i="0">
                <a:solidFill>
                  <a:srgbClr val="1935C3"/>
                </a:solidFill>
                <a:latin typeface="微软雅黑"/>
                <a:ea typeface="微软雅黑"/>
                <a:cs typeface="微软雅黑"/>
              </a:rPr>
              <a:t>R07 </a:t>
            </a:r>
          </a:p>
          <a:p>
            <a:pPr algn="l"/>
            <a:r>
              <a:rPr sz="1150" b="0" i="0">
                <a:solidFill>
                  <a:srgbClr val="2B2F38"/>
                </a:solidFill>
                <a:latin typeface="微软雅黑"/>
                <a:ea typeface="微软雅黑"/>
                <a:cs typeface="微软雅黑"/>
              </a:rPr>
              <a:t>付款义务失衡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44000" y="3218687"/>
            <a:ext cx="23774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E60012"/>
                </a:solidFill>
                <a:latin typeface="微软雅黑"/>
                <a:ea typeface="微软雅黑"/>
                <a:cs typeface="微软雅黑"/>
              </a:rPr>
              <a:t>● </a:t>
            </a:r>
          </a:p>
          <a:p>
            <a:pPr algn="l"/>
            <a:r>
              <a:rPr sz="1150" b="1" i="0">
                <a:solidFill>
                  <a:srgbClr val="1935C3"/>
                </a:solidFill>
                <a:latin typeface="微软雅黑"/>
                <a:ea typeface="微软雅黑"/>
                <a:cs typeface="微软雅黑"/>
              </a:rPr>
              <a:t>R08 </a:t>
            </a:r>
          </a:p>
          <a:p>
            <a:pPr algn="l"/>
            <a:r>
              <a:rPr sz="1150" b="0" i="0">
                <a:solidFill>
                  <a:srgbClr val="2B2F38"/>
                </a:solidFill>
                <a:latin typeface="微软雅黑"/>
                <a:ea typeface="微软雅黑"/>
                <a:cs typeface="微软雅黑"/>
              </a:rPr>
              <a:t>验收机制缺失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675120" y="3749039"/>
            <a:ext cx="23774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E60012"/>
                </a:solidFill>
                <a:latin typeface="微软雅黑"/>
                <a:ea typeface="微软雅黑"/>
                <a:cs typeface="微软雅黑"/>
              </a:rPr>
              <a:t>● </a:t>
            </a:r>
          </a:p>
          <a:p>
            <a:pPr algn="l"/>
            <a:r>
              <a:rPr sz="1150" b="1" i="0">
                <a:solidFill>
                  <a:srgbClr val="1935C3"/>
                </a:solidFill>
                <a:latin typeface="微软雅黑"/>
                <a:ea typeface="微软雅黑"/>
                <a:cs typeface="微软雅黑"/>
              </a:rPr>
              <a:t>R09 </a:t>
            </a:r>
          </a:p>
          <a:p>
            <a:pPr algn="l"/>
            <a:r>
              <a:rPr sz="1150" b="0" i="0">
                <a:solidFill>
                  <a:srgbClr val="2B2F38"/>
                </a:solidFill>
                <a:latin typeface="微软雅黑"/>
                <a:ea typeface="微软雅黑"/>
                <a:cs typeface="微软雅黑"/>
              </a:rPr>
              <a:t>不可抗力缺失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144000" y="3749039"/>
            <a:ext cx="23774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E60012"/>
                </a:solidFill>
                <a:latin typeface="微软雅黑"/>
                <a:ea typeface="微软雅黑"/>
                <a:cs typeface="微软雅黑"/>
              </a:rPr>
              <a:t>● </a:t>
            </a:r>
          </a:p>
          <a:p>
            <a:pPr algn="l"/>
            <a:r>
              <a:rPr sz="1150" b="1" i="0">
                <a:solidFill>
                  <a:srgbClr val="1935C3"/>
                </a:solidFill>
                <a:latin typeface="微软雅黑"/>
                <a:ea typeface="微软雅黑"/>
                <a:cs typeface="微软雅黑"/>
              </a:rPr>
              <a:t>R10 </a:t>
            </a:r>
          </a:p>
          <a:p>
            <a:pPr algn="l"/>
            <a:r>
              <a:rPr sz="1150" b="0" i="0">
                <a:solidFill>
                  <a:srgbClr val="2B2F38"/>
                </a:solidFill>
                <a:latin typeface="微软雅黑"/>
                <a:ea typeface="微软雅黑"/>
                <a:cs typeface="微软雅黑"/>
              </a:rPr>
              <a:t>竞业限制过宽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675120" y="4279392"/>
            <a:ext cx="23774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E60012"/>
                </a:solidFill>
                <a:latin typeface="微软雅黑"/>
                <a:ea typeface="微软雅黑"/>
                <a:cs typeface="微软雅黑"/>
              </a:rPr>
              <a:t>● </a:t>
            </a:r>
          </a:p>
          <a:p>
            <a:pPr algn="l"/>
            <a:r>
              <a:rPr sz="1150" b="1" i="0">
                <a:solidFill>
                  <a:srgbClr val="1935C3"/>
                </a:solidFill>
                <a:latin typeface="微软雅黑"/>
                <a:ea typeface="微软雅黑"/>
                <a:cs typeface="微软雅黑"/>
              </a:rPr>
              <a:t>R11 </a:t>
            </a:r>
          </a:p>
          <a:p>
            <a:pPr algn="l"/>
            <a:r>
              <a:rPr sz="1150" b="0" i="0">
                <a:solidFill>
                  <a:srgbClr val="2B2F38"/>
                </a:solidFill>
                <a:latin typeface="微软雅黑"/>
                <a:ea typeface="微软雅黑"/>
                <a:cs typeface="微软雅黑"/>
              </a:rPr>
              <a:t>自动续约陷阱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44000" y="4279392"/>
            <a:ext cx="23774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E60012"/>
                </a:solidFill>
                <a:latin typeface="微软雅黑"/>
                <a:ea typeface="微软雅黑"/>
                <a:cs typeface="微软雅黑"/>
              </a:rPr>
              <a:t>● </a:t>
            </a:r>
          </a:p>
          <a:p>
            <a:pPr algn="l"/>
            <a:r>
              <a:rPr sz="1150" b="1" i="0">
                <a:solidFill>
                  <a:srgbClr val="1935C3"/>
                </a:solidFill>
                <a:latin typeface="微软雅黑"/>
                <a:ea typeface="微软雅黑"/>
                <a:cs typeface="微软雅黑"/>
              </a:rPr>
              <a:t>R12 </a:t>
            </a:r>
          </a:p>
          <a:p>
            <a:pPr algn="l"/>
            <a:r>
              <a:rPr sz="1150" b="0" i="0">
                <a:solidFill>
                  <a:srgbClr val="2B2F38"/>
                </a:solidFill>
                <a:latin typeface="微软雅黑"/>
                <a:ea typeface="微软雅黑"/>
                <a:cs typeface="微软雅黑"/>
              </a:rPr>
              <a:t>数据隐私不当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675120" y="4809744"/>
            <a:ext cx="237744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00" b="0" i="0">
                <a:solidFill>
                  <a:srgbClr val="E60012"/>
                </a:solidFill>
                <a:latin typeface="微软雅黑"/>
                <a:ea typeface="微软雅黑"/>
                <a:cs typeface="微软雅黑"/>
              </a:rPr>
              <a:t>● </a:t>
            </a:r>
          </a:p>
          <a:p>
            <a:pPr algn="l"/>
            <a:r>
              <a:rPr sz="1150" b="1" i="0">
                <a:solidFill>
                  <a:srgbClr val="1935C3"/>
                </a:solidFill>
                <a:latin typeface="微软雅黑"/>
                <a:ea typeface="微软雅黑"/>
                <a:cs typeface="微软雅黑"/>
              </a:rPr>
              <a:t>R13 </a:t>
            </a:r>
          </a:p>
          <a:p>
            <a:pPr algn="l"/>
            <a:r>
              <a:rPr sz="1150" b="0" i="0">
                <a:solidFill>
                  <a:srgbClr val="2B2F38"/>
                </a:solidFill>
                <a:latin typeface="微软雅黑"/>
                <a:ea typeface="微软雅黑"/>
                <a:cs typeface="微软雅黑"/>
              </a:rPr>
              <a:t>名实不符·示警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675120" y="5257800"/>
            <a:ext cx="493776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16A34A"/>
                </a:solidFill>
                <a:latin typeface="微软雅黑"/>
                <a:ea typeface="微软雅黑"/>
                <a:cs typeface="微软雅黑"/>
              </a:rPr>
              <a:t>每条风险可追溯：事实证据 → 硬阈值裁决 → 法条依据 → 修改建议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48640" y="6510528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>
                <a:solidFill>
                  <a:srgbClr val="667085"/>
                </a:solidFill>
                <a:latin typeface="微软雅黑"/>
                <a:ea typeface="微软雅黑"/>
                <a:cs typeface="微软雅黑"/>
              </a:rPr>
              <a:t>SmartContract Auditor · 海底汪汪队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881360" y="6510528"/>
            <a:ext cx="777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00" b="0" i="0">
                <a:solidFill>
                  <a:srgbClr val="667085"/>
                </a:solidFill>
                <a:latin typeface="微软雅黑"/>
                <a:ea typeface="微软雅黑"/>
                <a:cs typeface="微软雅黑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548640" y="384048"/>
            <a:ext cx="457200" cy="457200"/>
          </a:xfrm>
          <a:prstGeom prst="roundRect">
            <a:avLst>
              <a:gd name="adj" fmla="val 28000"/>
            </a:avLst>
          </a:prstGeom>
          <a:solidFill>
            <a:srgbClr val="1935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54864" rIns="109728" bIns="54864" rtlCol="0" anchor="ctr"/>
          <a:lstStyle/>
          <a:p>
            <a:pPr algn="ctr"/>
            <a:r>
              <a:rPr sz="18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70432" y="329184"/>
            <a:ext cx="8778240" cy="5943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700" b="1" i="0">
                <a:solidFill>
                  <a:srgbClr val="1935C3"/>
                </a:solidFill>
                <a:latin typeface="微软雅黑"/>
                <a:ea typeface="微软雅黑"/>
                <a:cs typeface="微软雅黑"/>
              </a:rPr>
              <a:t>方案三：标准条款比对与缺失检测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509760" y="457200"/>
            <a:ext cx="21488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50" b="0" i="0">
                <a:solidFill>
                  <a:srgbClr val="667085"/>
                </a:solidFill>
                <a:latin typeface="微软雅黑"/>
                <a:ea typeface="微软雅黑"/>
                <a:cs typeface="微软雅黑"/>
              </a:rPr>
              <a:t>核心方案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234440"/>
            <a:ext cx="3566160" cy="1737360"/>
          </a:xfrm>
          <a:prstGeom prst="roundRect">
            <a:avLst>
              <a:gd name="adj" fmla="val 6000"/>
            </a:avLst>
          </a:prstGeom>
          <a:solidFill>
            <a:srgbClr val="F5F7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Rectangle 6"/>
          <p:cNvSpPr/>
          <p:nvPr/>
        </p:nvSpPr>
        <p:spPr>
          <a:xfrm>
            <a:off x="640080" y="1234440"/>
            <a:ext cx="3566160" cy="109728"/>
          </a:xfrm>
          <a:prstGeom prst="rect">
            <a:avLst/>
          </a:prstGeom>
          <a:solidFill>
            <a:srgbClr val="1935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41247" y="1417320"/>
            <a:ext cx="3200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50" b="1" i="0">
                <a:solidFill>
                  <a:srgbClr val="1935C3"/>
                </a:solidFill>
                <a:latin typeface="微软雅黑"/>
                <a:ea typeface="微软雅黑"/>
                <a:cs typeface="微软雅黑"/>
              </a:rPr>
              <a:t>① 结构过滤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7" y="1828800"/>
            <a:ext cx="3200400" cy="1051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2B2F38"/>
                </a:solidFill>
                <a:latin typeface="微软雅黑"/>
                <a:ea typeface="微软雅黑"/>
                <a:cs typeface="微软雅黑"/>
              </a:rPr>
              <a:t>按合同类型精确匹配标准条款，含别名映射与服务外包专属条款叠加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34840" y="1234440"/>
            <a:ext cx="3566160" cy="1737360"/>
          </a:xfrm>
          <a:prstGeom prst="roundRect">
            <a:avLst>
              <a:gd name="adj" fmla="val 6000"/>
            </a:avLst>
          </a:prstGeom>
          <a:solidFill>
            <a:srgbClr val="F5F7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Rectangle 10"/>
          <p:cNvSpPr/>
          <p:nvPr/>
        </p:nvSpPr>
        <p:spPr>
          <a:xfrm>
            <a:off x="4434840" y="1234440"/>
            <a:ext cx="3566160" cy="109728"/>
          </a:xfrm>
          <a:prstGeom prst="rect">
            <a:avLst/>
          </a:prstGeom>
          <a:solidFill>
            <a:srgbClr val="1935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4636008" y="1417320"/>
            <a:ext cx="3200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50" b="1" i="0">
                <a:solidFill>
                  <a:srgbClr val="1935C3"/>
                </a:solidFill>
                <a:latin typeface="微软雅黑"/>
                <a:ea typeface="微软雅黑"/>
                <a:cs typeface="微软雅黑"/>
              </a:rPr>
              <a:t>② LLM 逐条比对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36008" y="1828800"/>
            <a:ext cx="3200400" cy="1051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2B2F38"/>
                </a:solidFill>
                <a:latin typeface="微软雅黑"/>
                <a:ea typeface="微软雅黑"/>
                <a:cs typeface="微软雅黑"/>
              </a:rPr>
              <a:t>逐条判定 covered / partial / missing，输出偏离说明与补全建议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0" y="1234440"/>
            <a:ext cx="3566160" cy="1737360"/>
          </a:xfrm>
          <a:prstGeom prst="roundRect">
            <a:avLst>
              <a:gd name="adj" fmla="val 6000"/>
            </a:avLst>
          </a:prstGeom>
          <a:solidFill>
            <a:srgbClr val="F5F7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8229600" y="1234440"/>
            <a:ext cx="3566160" cy="109728"/>
          </a:xfrm>
          <a:prstGeom prst="rect">
            <a:avLst/>
          </a:prstGeom>
          <a:solidFill>
            <a:srgbClr val="1935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430768" y="1417320"/>
            <a:ext cx="3200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50" b="1" i="0">
                <a:solidFill>
                  <a:srgbClr val="1935C3"/>
                </a:solidFill>
                <a:latin typeface="微软雅黑"/>
                <a:ea typeface="微软雅黑"/>
                <a:cs typeface="微软雅黑"/>
              </a:rPr>
              <a:t>③ 图分析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30768" y="1828800"/>
            <a:ext cx="3200400" cy="10515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 i="0">
                <a:solidFill>
                  <a:srgbClr val="2B2F38"/>
                </a:solidFill>
                <a:latin typeface="微软雅黑"/>
                <a:ea typeface="微软雅黑"/>
                <a:cs typeface="微软雅黑"/>
              </a:rPr>
              <a:t>depends_on / conflict_with 检测跨条款联动风险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3246120"/>
            <a:ext cx="10972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2B2F38"/>
                </a:solidFill>
                <a:latin typeface="微软雅黑"/>
                <a:ea typeface="微软雅黑"/>
                <a:cs typeface="微软雅黑"/>
              </a:rPr>
              <a:t>跨条款关联风险（图分析）——单条比对发现不了的联动问题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3657600"/>
            <a:ext cx="5120640" cy="1051560"/>
          </a:xfrm>
          <a:prstGeom prst="roundRect">
            <a:avLst>
              <a:gd name="adj" fmla="val 10000"/>
            </a:avLst>
          </a:prstGeom>
          <a:solidFill>
            <a:srgbClr val="F8FAFF"/>
          </a:solidFill>
          <a:ln w="12700">
            <a:solidFill>
              <a:srgbClr val="C7D2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54864" rIns="228600" bIns="54864" rtlCol="0" anchor="ctr"/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1935C3"/>
                </a:solidFill>
                <a:latin typeface="微软雅黑"/>
                <a:ea typeface="微软雅黑"/>
                <a:cs typeface="微软雅黑"/>
              </a:rPr>
              <a:t>前置依赖 depends_on</a:t>
            </a:r>
          </a:p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2B2F38"/>
                </a:solidFill>
                <a:latin typeface="微软雅黑"/>
                <a:ea typeface="微软雅黑"/>
                <a:cs typeface="微软雅黑"/>
              </a:rPr>
              <a:t>例：缺失「验收标准条款」→ 下游「付款条款」的验收节点失效，形成隐性风险链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943600" y="3657600"/>
            <a:ext cx="5623560" cy="1051560"/>
          </a:xfrm>
          <a:prstGeom prst="roundRect">
            <a:avLst>
              <a:gd name="adj" fmla="val 10000"/>
            </a:avLst>
          </a:prstGeom>
          <a:solidFill>
            <a:srgbClr val="F8FAFF"/>
          </a:solidFill>
          <a:ln w="12700">
            <a:solidFill>
              <a:srgbClr val="C7D2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28600" tIns="54864" rIns="228600" bIns="54864" rtlCol="0" anchor="ctr"/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1935C3"/>
                </a:solidFill>
                <a:latin typeface="微软雅黑"/>
                <a:ea typeface="微软雅黑"/>
                <a:cs typeface="微软雅黑"/>
              </a:rPr>
              <a:t>互斥冲突 conflict_with</a:t>
            </a:r>
          </a:p>
          <a:p>
            <a:pPr algn="l">
              <a:lnSpc>
                <a:spcPct val="115000"/>
              </a:lnSpc>
            </a:pPr>
            <a:r>
              <a:rPr sz="1150" b="0" i="0">
                <a:solidFill>
                  <a:srgbClr val="2B2F38"/>
                </a:solidFill>
                <a:latin typeface="微软雅黑"/>
                <a:ea typeface="微软雅黑"/>
                <a:cs typeface="微软雅黑"/>
              </a:rPr>
              <a:t>例：「争议解决」约定北京仲裁 与「管辖条款」约定杭州法院 同时存在 → 冲突示警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937760"/>
            <a:ext cx="10972800" cy="1097280"/>
          </a:xfrm>
          <a:prstGeom prst="roundRect">
            <a:avLst>
              <a:gd name="adj" fmla="val 6000"/>
            </a:avLst>
          </a:prstGeom>
          <a:solidFill>
            <a:srgbClr val="1935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0" tIns="54864" rIns="274320" bIns="54864" rtlCol="0" anchor="ctr"/>
          <a:lstStyle/>
          <a:p>
            <a:pPr algn="l">
              <a:spcAft>
                <a:spcPts val="400"/>
              </a:spcAft>
            </a:pPr>
            <a:r>
              <a:rPr sz="13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从诊断到治疗：缺失条款自动补全</a:t>
            </a:r>
          </a:p>
          <a:p>
            <a:pPr algn="l">
              <a:lnSpc>
                <a:spcPct val="125000"/>
              </a:lnSpc>
            </a:pPr>
            <a:r>
              <a:rPr sz="1200" b="0" i="0">
                <a:solidFill>
                  <a:srgbClr val="DDE4F7"/>
                </a:solidFill>
                <a:latin typeface="微软雅黑"/>
                <a:ea typeface="微软雅黑"/>
                <a:cs typeface="微软雅黑"/>
              </a:rPr>
              <a:t>对缺失条款，从模板库调取标准文本 + 结合上下文生成定制补全建议——不仅告诉用户「少了什么」，还直接给出可用的条款文本；priority=required 的缺失单独汇总为关键缺失（如不可抗力、数据保护）。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6510528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>
                <a:solidFill>
                  <a:srgbClr val="667085"/>
                </a:solidFill>
                <a:latin typeface="微软雅黑"/>
                <a:ea typeface="微软雅黑"/>
                <a:cs typeface="微软雅黑"/>
              </a:rPr>
              <a:t>SmartContract Auditor · 海底汪汪队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881360" y="6510528"/>
            <a:ext cx="777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00" b="0" i="0">
                <a:solidFill>
                  <a:srgbClr val="667085"/>
                </a:solidFill>
                <a:latin typeface="微软雅黑"/>
                <a:ea typeface="微软雅黑"/>
                <a:cs typeface="微软雅黑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548640" y="384048"/>
            <a:ext cx="457200" cy="457200"/>
          </a:xfrm>
          <a:prstGeom prst="roundRect">
            <a:avLst>
              <a:gd name="adj" fmla="val 28000"/>
            </a:avLst>
          </a:prstGeom>
          <a:solidFill>
            <a:srgbClr val="1935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54864" rIns="109728" bIns="54864" rtlCol="0" anchor="ctr"/>
          <a:lstStyle/>
          <a:p>
            <a:pPr algn="ctr"/>
            <a:r>
              <a:rPr sz="18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70432" y="329184"/>
            <a:ext cx="8778240" cy="5943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700" b="1" i="0">
                <a:solidFill>
                  <a:srgbClr val="1935C3"/>
                </a:solidFill>
                <a:latin typeface="微软雅黑"/>
                <a:ea typeface="微软雅黑"/>
                <a:cs typeface="微软雅黑"/>
              </a:rPr>
              <a:t>方案四：用户反馈闭环与审核报告生成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509760" y="457200"/>
            <a:ext cx="21488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50" b="0" i="0">
                <a:solidFill>
                  <a:srgbClr val="667085"/>
                </a:solidFill>
                <a:latin typeface="微软雅黑"/>
                <a:ea typeface="微软雅黑"/>
                <a:cs typeface="微软雅黑"/>
              </a:rPr>
              <a:t>核心方案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188720"/>
            <a:ext cx="53949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 i="0">
                <a:solidFill>
                  <a:srgbClr val="1935C3"/>
                </a:solidFill>
                <a:latin typeface="微软雅黑"/>
                <a:ea typeface="微软雅黑"/>
                <a:cs typeface="微软雅黑"/>
              </a:rPr>
              <a:t>用户反馈闭环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572768"/>
            <a:ext cx="5394960" cy="713232"/>
          </a:xfrm>
          <a:prstGeom prst="roundRect">
            <a:avLst>
              <a:gd name="adj" fmla="val 12000"/>
            </a:avLst>
          </a:prstGeom>
          <a:solidFill>
            <a:srgbClr val="F5F7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868680" y="1655064"/>
            <a:ext cx="49377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1935C3"/>
                </a:solidFill>
                <a:latin typeface="微软雅黑"/>
                <a:ea typeface="微软雅黑"/>
                <a:cs typeface="微软雅黑"/>
              </a:rPr>
              <a:t>✓ 确认正确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1956816"/>
            <a:ext cx="49377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 i="0">
                <a:solidFill>
                  <a:srgbClr val="667085"/>
                </a:solidFill>
                <a:latin typeface="微软雅黑"/>
                <a:ea typeface="微软雅黑"/>
                <a:cs typeface="微软雅黑"/>
              </a:rPr>
              <a:t>作为正例存入 feedback_log，增强判断信心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414016"/>
            <a:ext cx="5394960" cy="713232"/>
          </a:xfrm>
          <a:prstGeom prst="roundRect">
            <a:avLst>
              <a:gd name="adj" fmla="val 12000"/>
            </a:avLst>
          </a:prstGeom>
          <a:solidFill>
            <a:srgbClr val="F5F7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68680" y="2496312"/>
            <a:ext cx="49377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1935C3"/>
                </a:solidFill>
                <a:latin typeface="微软雅黑"/>
                <a:ea typeface="微软雅黑"/>
                <a:cs typeface="微软雅黑"/>
              </a:rPr>
              <a:t>✗ 标记错误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68680" y="2798064"/>
            <a:ext cx="49377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 i="0">
                <a:solidFill>
                  <a:srgbClr val="667085"/>
                </a:solidFill>
                <a:latin typeface="微软雅黑"/>
                <a:ea typeface="微软雅黑"/>
                <a:cs typeface="微软雅黑"/>
              </a:rPr>
              <a:t>选择误报/漏报/等级不准，提交修正意见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255264"/>
            <a:ext cx="5394960" cy="713232"/>
          </a:xfrm>
          <a:prstGeom prst="roundRect">
            <a:avLst>
              <a:gd name="adj" fmla="val 12000"/>
            </a:avLst>
          </a:prstGeom>
          <a:solidFill>
            <a:srgbClr val="F5F7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868680" y="3337560"/>
            <a:ext cx="493776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1935C3"/>
                </a:solidFill>
                <a:latin typeface="微软雅黑"/>
                <a:ea typeface="微软雅黑"/>
                <a:cs typeface="微软雅黑"/>
              </a:rPr>
              <a:t>＋ 手动补充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" y="3639312"/>
            <a:ext cx="493776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 i="0">
                <a:solidFill>
                  <a:srgbClr val="667085"/>
                </a:solidFill>
                <a:latin typeface="微软雅黑"/>
                <a:ea typeface="微软雅黑"/>
                <a:cs typeface="微软雅黑"/>
              </a:rPr>
              <a:t>添加 AI 未检测到的风险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0080" y="4160520"/>
            <a:ext cx="5394960" cy="1554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400"/>
              </a:spcAft>
            </a:pPr>
            <a:r>
              <a:rPr sz="1250" b="1" i="0">
                <a:solidFill>
                  <a:srgbClr val="2B2F38"/>
                </a:solidFill>
                <a:latin typeface="微软雅黑"/>
                <a:ea typeface="微软雅黑"/>
                <a:cs typeface="微软雅黑"/>
              </a:rPr>
              <a:t>闭环定位</a:t>
            </a:r>
          </a:p>
          <a:p>
            <a:pPr algn="l">
              <a:lnSpc>
                <a:spcPct val="120000"/>
              </a:lnSpc>
              <a:spcAft>
                <a:spcPts val="400"/>
              </a:spcAft>
            </a:pPr>
            <a:r>
              <a:rPr sz="1150" b="0" i="0">
                <a:solidFill>
                  <a:srgbClr val="2B2F38"/>
                </a:solidFill>
                <a:latin typeface="微软雅黑"/>
                <a:ea typeface="微软雅黑"/>
                <a:cs typeface="微软雅黑"/>
              </a:rPr>
              <a:t>反馈以结构化形式存储，积累 ≥50 条后由管理员导出（CSV/JSON），用于更新 Prompt 示例、调整规则阈值、补充风险词典、更新向量库。</a:t>
            </a:r>
          </a:p>
          <a:p>
            <a:pPr algn="l">
              <a:lnSpc>
                <a:spcPct val="120000"/>
              </a:lnSpc>
            </a:pPr>
            <a:r>
              <a:rPr sz="1150" b="0" i="1">
                <a:solidFill>
                  <a:srgbClr val="667085"/>
                </a:solidFill>
                <a:latin typeface="微软雅黑"/>
                <a:ea typeface="微软雅黑"/>
                <a:cs typeface="微软雅黑"/>
              </a:rPr>
              <a:t>法律审核要求结果稳定可追溯，故反馈不即时生效，而是版本化沉淀、支持回滚。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63640" y="1188720"/>
            <a:ext cx="53035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600" b="1" i="0">
                <a:solidFill>
                  <a:srgbClr val="1935C3"/>
                </a:solidFill>
                <a:latin typeface="微软雅黑"/>
                <a:ea typeface="微软雅黑"/>
                <a:cs typeface="微软雅黑"/>
              </a:rPr>
              <a:t>结构化审核报告（四大区块）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263640" y="1572768"/>
            <a:ext cx="5303520" cy="713232"/>
          </a:xfrm>
          <a:prstGeom prst="roundRect">
            <a:avLst>
              <a:gd name="adj" fmla="val 12000"/>
            </a:avLst>
          </a:prstGeom>
          <a:solidFill>
            <a:srgbClr val="F8FAFF"/>
          </a:solidFill>
          <a:ln w="12700">
            <a:solidFill>
              <a:srgbClr val="C7D2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492240" y="1655064"/>
            <a:ext cx="48463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1935C3"/>
                </a:solidFill>
                <a:latin typeface="微软雅黑"/>
                <a:ea typeface="微软雅黑"/>
                <a:cs typeface="微软雅黑"/>
              </a:rPr>
              <a:t>合同基本信息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492240" y="1956816"/>
            <a:ext cx="48463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 i="0">
                <a:solidFill>
                  <a:srgbClr val="667085"/>
                </a:solidFill>
                <a:latin typeface="微软雅黑"/>
                <a:ea typeface="微软雅黑"/>
                <a:cs typeface="微软雅黑"/>
              </a:rPr>
              <a:t>编号/类型/双方/金额/日期，自动提取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263640" y="2414016"/>
            <a:ext cx="5303520" cy="713232"/>
          </a:xfrm>
          <a:prstGeom prst="roundRect">
            <a:avLst>
              <a:gd name="adj" fmla="val 12000"/>
            </a:avLst>
          </a:prstGeom>
          <a:solidFill>
            <a:srgbClr val="F8FAFF"/>
          </a:solidFill>
          <a:ln w="12700">
            <a:solidFill>
              <a:srgbClr val="C7D2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6492240" y="2496312"/>
            <a:ext cx="48463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1935C3"/>
                </a:solidFill>
                <a:latin typeface="微软雅黑"/>
                <a:ea typeface="微软雅黑"/>
                <a:cs typeface="微软雅黑"/>
              </a:rPr>
              <a:t>风险评估总览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92240" y="2798064"/>
            <a:ext cx="48463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 i="0">
                <a:solidFill>
                  <a:srgbClr val="667085"/>
                </a:solidFill>
                <a:latin typeface="微软雅黑"/>
                <a:ea typeface="微软雅黑"/>
                <a:cs typeface="微软雅黑"/>
              </a:rPr>
              <a:t>风险热力图 + 等级分布 + 综合评分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263640" y="3255264"/>
            <a:ext cx="5303520" cy="713232"/>
          </a:xfrm>
          <a:prstGeom prst="roundRect">
            <a:avLst>
              <a:gd name="adj" fmla="val 12000"/>
            </a:avLst>
          </a:prstGeom>
          <a:solidFill>
            <a:srgbClr val="F8FAFF"/>
          </a:solidFill>
          <a:ln w="12700">
            <a:solidFill>
              <a:srgbClr val="C7D2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492240" y="3337560"/>
            <a:ext cx="48463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1935C3"/>
                </a:solidFill>
                <a:latin typeface="微软雅黑"/>
                <a:ea typeface="微软雅黑"/>
                <a:cs typeface="微软雅黑"/>
              </a:rPr>
              <a:t>风险条款逐项分析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92240" y="3639312"/>
            <a:ext cx="48463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 i="0">
                <a:solidFill>
                  <a:srgbClr val="667085"/>
                </a:solidFill>
                <a:latin typeface="微软雅黑"/>
                <a:ea typeface="微软雅黑"/>
                <a:cs typeface="微软雅黑"/>
              </a:rPr>
              <a:t>原文定位 + 等级 + 建议 + 审核路径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263640" y="4096512"/>
            <a:ext cx="5303520" cy="713232"/>
          </a:xfrm>
          <a:prstGeom prst="roundRect">
            <a:avLst>
              <a:gd name="adj" fmla="val 12000"/>
            </a:avLst>
          </a:prstGeom>
          <a:solidFill>
            <a:srgbClr val="F8FAFF"/>
          </a:solidFill>
          <a:ln w="12700">
            <a:solidFill>
              <a:srgbClr val="C7D2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6492240" y="4178808"/>
            <a:ext cx="484632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1" i="0">
                <a:solidFill>
                  <a:srgbClr val="1935C3"/>
                </a:solidFill>
                <a:latin typeface="微软雅黑"/>
                <a:ea typeface="微软雅黑"/>
                <a:cs typeface="微软雅黑"/>
              </a:rPr>
              <a:t>条款完整性检查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92240" y="4480560"/>
            <a:ext cx="48463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050" b="0" i="0">
                <a:solidFill>
                  <a:srgbClr val="667085"/>
                </a:solidFill>
                <a:latin typeface="微软雅黑"/>
                <a:ea typeface="微软雅黑"/>
                <a:cs typeface="微软雅黑"/>
              </a:rPr>
              <a:t>缺失清单 + 偏离对比 + 补全建议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263640" y="5074920"/>
            <a:ext cx="530352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150" b="1" i="0">
                <a:solidFill>
                  <a:srgbClr val="16A34A"/>
                </a:solidFill>
                <a:latin typeface="微软雅黑"/>
                <a:ea typeface="微软雅黑"/>
                <a:cs typeface="微软雅黑"/>
              </a:rPr>
              <a:t>输出 HTML 在线预览，风险热力图绿→黄→橙→红映射每页风险密度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48640" y="6510528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>
                <a:solidFill>
                  <a:srgbClr val="667085"/>
                </a:solidFill>
                <a:latin typeface="微软雅黑"/>
                <a:ea typeface="微软雅黑"/>
                <a:cs typeface="微软雅黑"/>
              </a:rPr>
              <a:t>SmartContract Auditor · 海底汪汪队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881360" y="6510528"/>
            <a:ext cx="777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00" b="0" i="0">
                <a:solidFill>
                  <a:srgbClr val="667085"/>
                </a:solidFill>
                <a:latin typeface="微软雅黑"/>
                <a:ea typeface="微软雅黑"/>
                <a:cs typeface="微软雅黑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548640" y="384048"/>
            <a:ext cx="457200" cy="457200"/>
          </a:xfrm>
          <a:prstGeom prst="roundRect">
            <a:avLst>
              <a:gd name="adj" fmla="val 28000"/>
            </a:avLst>
          </a:prstGeom>
          <a:solidFill>
            <a:srgbClr val="1935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54864" rIns="109728" bIns="54864" rtlCol="0" anchor="ctr"/>
          <a:lstStyle/>
          <a:p>
            <a:pPr algn="ctr"/>
            <a:r>
              <a:rPr sz="18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70432" y="329184"/>
            <a:ext cx="8778240" cy="5943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700" b="1" i="0">
                <a:solidFill>
                  <a:srgbClr val="1935C3"/>
                </a:solidFill>
                <a:latin typeface="微软雅黑"/>
                <a:ea typeface="微软雅黑"/>
                <a:cs typeface="微软雅黑"/>
              </a:rPr>
              <a:t>产品体验：看到风险 → 一键跳转 → 理解判断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509760" y="457200"/>
            <a:ext cx="21488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50" b="0" i="0">
                <a:solidFill>
                  <a:srgbClr val="667085"/>
                </a:solidFill>
                <a:latin typeface="微软雅黑"/>
                <a:ea typeface="微软雅黑"/>
                <a:cs typeface="微软雅黑"/>
              </a:rPr>
              <a:t>体验创新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123444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F5F7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7" name="Oval 6"/>
          <p:cNvSpPr/>
          <p:nvPr/>
        </p:nvSpPr>
        <p:spPr>
          <a:xfrm>
            <a:off x="868680" y="1417320"/>
            <a:ext cx="502920" cy="502920"/>
          </a:xfrm>
          <a:prstGeom prst="ellipse">
            <a:avLst/>
          </a:prstGeom>
          <a:solidFill>
            <a:srgbClr val="1935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54864" rIns="109728" bIns="54864" rtlCol="0" anchor="ctr"/>
          <a:lstStyle/>
          <a:p>
            <a:pPr algn="ctr"/>
            <a:r>
              <a:rPr sz="17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08760" y="1481328"/>
            <a:ext cx="25603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 i="0">
                <a:solidFill>
                  <a:srgbClr val="1935C3"/>
                </a:solidFill>
                <a:latin typeface="微软雅黑"/>
                <a:ea typeface="微软雅黑"/>
                <a:cs typeface="微软雅黑"/>
              </a:rPr>
              <a:t>上传即审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68680" y="2057400"/>
            <a:ext cx="310896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2B2F38"/>
                </a:solidFill>
                <a:latin typeface="微软雅黑"/>
                <a:ea typeface="微软雅黑"/>
                <a:cs typeface="微软雅黑"/>
              </a:rPr>
              <a:t>上传合同，30 秒出风险热力图，红色区域一眼定位风险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434840" y="123444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F5F7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Oval 10"/>
          <p:cNvSpPr/>
          <p:nvPr/>
        </p:nvSpPr>
        <p:spPr>
          <a:xfrm>
            <a:off x="4663440" y="1417320"/>
            <a:ext cx="502920" cy="502920"/>
          </a:xfrm>
          <a:prstGeom prst="ellipse">
            <a:avLst/>
          </a:prstGeom>
          <a:solidFill>
            <a:srgbClr val="1935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54864" rIns="109728" bIns="54864" rtlCol="0" anchor="ctr"/>
          <a:lstStyle/>
          <a:p>
            <a:pPr algn="ctr"/>
            <a:r>
              <a:rPr sz="17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303520" y="1481328"/>
            <a:ext cx="25603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 i="0">
                <a:solidFill>
                  <a:srgbClr val="1935C3"/>
                </a:solidFill>
                <a:latin typeface="微软雅黑"/>
                <a:ea typeface="微软雅黑"/>
                <a:cs typeface="微软雅黑"/>
              </a:rPr>
              <a:t>一键跳转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663440" y="2057400"/>
            <a:ext cx="310896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2B2F38"/>
                </a:solidFill>
                <a:latin typeface="微软雅黑"/>
                <a:ea typeface="微软雅黑"/>
                <a:cs typeface="微软雅黑"/>
              </a:rPr>
              <a:t>点击风险条目，合同原文面板自动滚动并高亮对应条款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0" y="1234440"/>
            <a:ext cx="3566160" cy="1828800"/>
          </a:xfrm>
          <a:prstGeom prst="roundRect">
            <a:avLst>
              <a:gd name="adj" fmla="val 6000"/>
            </a:avLst>
          </a:prstGeom>
          <a:solidFill>
            <a:srgbClr val="F5F7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Oval 14"/>
          <p:cNvSpPr/>
          <p:nvPr/>
        </p:nvSpPr>
        <p:spPr>
          <a:xfrm>
            <a:off x="8458200" y="1417320"/>
            <a:ext cx="502920" cy="502920"/>
          </a:xfrm>
          <a:prstGeom prst="ellipse">
            <a:avLst/>
          </a:prstGeom>
          <a:solidFill>
            <a:srgbClr val="1935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54864" rIns="109728" bIns="54864" rtlCol="0" anchor="ctr"/>
          <a:lstStyle/>
          <a:p>
            <a:pPr algn="ctr"/>
            <a:r>
              <a:rPr sz="17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098280" y="1481328"/>
            <a:ext cx="25603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 i="0">
                <a:solidFill>
                  <a:srgbClr val="1935C3"/>
                </a:solidFill>
                <a:latin typeface="微软雅黑"/>
                <a:ea typeface="微软雅黑"/>
                <a:cs typeface="微软雅黑"/>
              </a:rPr>
              <a:t>逐条追溯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58200" y="2057400"/>
            <a:ext cx="3108960" cy="914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50" b="0" i="0">
                <a:solidFill>
                  <a:srgbClr val="2B2F38"/>
                </a:solidFill>
                <a:latin typeface="微软雅黑"/>
                <a:ea typeface="微软雅黑"/>
                <a:cs typeface="微软雅黑"/>
              </a:rPr>
              <a:t>每条风险附证据链 + 裁决依据 + 法条 + 修改建议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3337560"/>
            <a:ext cx="6583680" cy="2743200"/>
          </a:xfrm>
          <a:prstGeom prst="roundRect">
            <a:avLst>
              <a:gd name="adj" fmla="val 5000"/>
            </a:avLst>
          </a:prstGeom>
          <a:solidFill>
            <a:srgbClr val="F8FAFF"/>
          </a:solidFill>
          <a:ln w="15240">
            <a:solidFill>
              <a:srgbClr val="C7D2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54864" rIns="109728" bIns="54864" rtlCol="0" anchor="ctr"/>
          <a:lstStyle/>
          <a:p>
            <a:pPr algn="ctr">
              <a:spcAft>
                <a:spcPts val="300"/>
              </a:spcAft>
            </a:pPr>
            <a:r>
              <a:rPr sz="1100" b="1" i="0">
                <a:solidFill>
                  <a:srgbClr val="1935C3"/>
                </a:solidFill>
                <a:latin typeface="微软雅黑"/>
                <a:ea typeface="微软雅黑"/>
                <a:cs typeface="微软雅黑"/>
              </a:rPr>
              <a:t>截图占位</a:t>
            </a:r>
          </a:p>
          <a:p>
            <a:pPr algn="ctr"/>
            <a:r>
              <a:rPr sz="1000" b="0" i="0">
                <a:solidFill>
                  <a:srgbClr val="667085"/>
                </a:solidFill>
                <a:latin typeface="微软雅黑"/>
                <a:ea typeface="微软雅黑"/>
                <a:cs typeface="微软雅黑"/>
              </a:rPr>
              <a:t>审核报告页：ECharts 风险热力图
（绿→黄→橙→红 映射每页风险密度）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406640" y="3337560"/>
            <a:ext cx="4160520" cy="2743200"/>
          </a:xfrm>
          <a:prstGeom prst="roundRect">
            <a:avLst>
              <a:gd name="adj" fmla="val 5000"/>
            </a:avLst>
          </a:prstGeom>
          <a:solidFill>
            <a:srgbClr val="F8FAFF"/>
          </a:solidFill>
          <a:ln w="15240">
            <a:solidFill>
              <a:srgbClr val="C7D2F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54864" rIns="109728" bIns="54864" rtlCol="0" anchor="ctr"/>
          <a:lstStyle/>
          <a:p>
            <a:pPr algn="ctr">
              <a:spcAft>
                <a:spcPts val="300"/>
              </a:spcAft>
            </a:pPr>
            <a:r>
              <a:rPr sz="1100" b="1" i="0">
                <a:solidFill>
                  <a:srgbClr val="1935C3"/>
                </a:solidFill>
                <a:latin typeface="微软雅黑"/>
                <a:ea typeface="微软雅黑"/>
                <a:cs typeface="微软雅黑"/>
              </a:rPr>
              <a:t>截图占位</a:t>
            </a:r>
          </a:p>
          <a:p>
            <a:pPr algn="ctr"/>
            <a:r>
              <a:rPr sz="1000" b="0" i="0">
                <a:solidFill>
                  <a:srgbClr val="667085"/>
                </a:solidFill>
                <a:latin typeface="微软雅黑"/>
                <a:ea typeface="微软雅黑"/>
                <a:cs typeface="微软雅黑"/>
              </a:rPr>
              <a:t>审核结果详情：风险条目 → 原文高亮定位
（左侧风险列表 + 右侧 pdf.js 高亮）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48640" y="6510528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>
                <a:solidFill>
                  <a:srgbClr val="667085"/>
                </a:solidFill>
                <a:latin typeface="微软雅黑"/>
                <a:ea typeface="微软雅黑"/>
                <a:cs typeface="微软雅黑"/>
              </a:rPr>
              <a:t>SmartContract Auditor · 海底汪汪队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881360" y="6510528"/>
            <a:ext cx="777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00" b="0" i="0">
                <a:solidFill>
                  <a:srgbClr val="667085"/>
                </a:solidFill>
                <a:latin typeface="微软雅黑"/>
                <a:ea typeface="微软雅黑"/>
                <a:cs typeface="微软雅黑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548640" y="384048"/>
            <a:ext cx="457200" cy="457200"/>
          </a:xfrm>
          <a:prstGeom prst="roundRect">
            <a:avLst>
              <a:gd name="adj" fmla="val 28000"/>
            </a:avLst>
          </a:prstGeom>
          <a:solidFill>
            <a:srgbClr val="1935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54864" rIns="109728" bIns="54864" rtlCol="0" anchor="ctr"/>
          <a:lstStyle/>
          <a:p>
            <a:pPr algn="ctr"/>
            <a:r>
              <a:rPr sz="18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70432" y="329184"/>
            <a:ext cx="8778240" cy="5943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700" b="1" i="0">
                <a:solidFill>
                  <a:srgbClr val="1935C3"/>
                </a:solidFill>
                <a:latin typeface="微软雅黑"/>
                <a:ea typeface="微软雅黑"/>
                <a:cs typeface="微软雅黑"/>
              </a:rPr>
              <a:t>创新亮点总结：赛题鼓励方向全部落地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509760" y="457200"/>
            <a:ext cx="21488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50" b="0" i="0">
                <a:solidFill>
                  <a:srgbClr val="667085"/>
                </a:solidFill>
                <a:latin typeface="微软雅黑"/>
                <a:ea typeface="微软雅黑"/>
                <a:cs typeface="微软雅黑"/>
              </a:rPr>
              <a:t>创新汇总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188720"/>
            <a:ext cx="10972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2B2F38"/>
                </a:solidFill>
                <a:latin typeface="微软雅黑"/>
                <a:ea typeface="微软雅黑"/>
                <a:cs typeface="微软雅黑"/>
              </a:rPr>
              <a:t>赛题第 7 节鼓励的三个创新方向，我们均已实现落地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600200"/>
            <a:ext cx="3566160" cy="1874519"/>
          </a:xfrm>
          <a:prstGeom prst="roundRect">
            <a:avLst>
              <a:gd name="adj" fmla="val 6000"/>
            </a:avLst>
          </a:prstGeom>
          <a:solidFill>
            <a:srgbClr val="F5F7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640080" y="1600200"/>
            <a:ext cx="3566160" cy="109728"/>
          </a:xfrm>
          <a:prstGeom prst="rect">
            <a:avLst/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41247" y="1810512"/>
            <a:ext cx="3200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1935C3"/>
                </a:solidFill>
                <a:latin typeface="微软雅黑"/>
                <a:ea typeface="微软雅黑"/>
                <a:cs typeface="微软雅黑"/>
              </a:rPr>
              <a:t>多轮对话式合同修改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7" y="2194560"/>
            <a:ext cx="3200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E60012"/>
                </a:solidFill>
                <a:latin typeface="微软雅黑"/>
                <a:ea typeface="微软雅黑"/>
                <a:cs typeface="微软雅黑"/>
              </a:rPr>
              <a:t>RCBSF 多智能体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41247" y="2542032"/>
            <a:ext cx="3200400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2B2F38"/>
                </a:solidFill>
                <a:latin typeface="微软雅黑"/>
                <a:ea typeface="微软雅黑"/>
                <a:cs typeface="微软雅黑"/>
              </a:rPr>
              <a:t>Leader 生成草案 + Follower 法务审校，自然语言指令修改条款并输出前后对比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434840" y="1600200"/>
            <a:ext cx="3566160" cy="1874519"/>
          </a:xfrm>
          <a:prstGeom prst="roundRect">
            <a:avLst>
              <a:gd name="adj" fmla="val 6000"/>
            </a:avLst>
          </a:prstGeom>
          <a:solidFill>
            <a:srgbClr val="F5F7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Rectangle 12"/>
          <p:cNvSpPr/>
          <p:nvPr/>
        </p:nvSpPr>
        <p:spPr>
          <a:xfrm>
            <a:off x="4434840" y="1600200"/>
            <a:ext cx="3566160" cy="109728"/>
          </a:xfrm>
          <a:prstGeom prst="rect">
            <a:avLst/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636008" y="1810512"/>
            <a:ext cx="3200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1935C3"/>
                </a:solidFill>
                <a:latin typeface="微软雅黑"/>
                <a:ea typeface="微软雅黑"/>
                <a:cs typeface="微软雅黑"/>
              </a:rPr>
              <a:t>知识图谱跨条款关联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36008" y="2194560"/>
            <a:ext cx="3200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E60012"/>
                </a:solidFill>
                <a:latin typeface="微软雅黑"/>
                <a:ea typeface="微软雅黑"/>
                <a:cs typeface="微软雅黑"/>
              </a:rPr>
              <a:t>图分析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36008" y="2542032"/>
            <a:ext cx="3200400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2B2F38"/>
                </a:solidFill>
                <a:latin typeface="微软雅黑"/>
                <a:ea typeface="微软雅黑"/>
                <a:cs typeface="微软雅黑"/>
              </a:rPr>
              <a:t>depends_on / conflict_with 图论字段，检测「前置缺失」「互斥并存」联动风险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229600" y="1600200"/>
            <a:ext cx="3566160" cy="1874519"/>
          </a:xfrm>
          <a:prstGeom prst="roundRect">
            <a:avLst>
              <a:gd name="adj" fmla="val 6000"/>
            </a:avLst>
          </a:prstGeom>
          <a:solidFill>
            <a:srgbClr val="F5F7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8229600" y="1600200"/>
            <a:ext cx="3566160" cy="109728"/>
          </a:xfrm>
          <a:prstGeom prst="rect">
            <a:avLst/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430768" y="1810512"/>
            <a:ext cx="3200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1935C3"/>
                </a:solidFill>
                <a:latin typeface="微软雅黑"/>
                <a:ea typeface="微软雅黑"/>
                <a:cs typeface="微软雅黑"/>
              </a:rPr>
              <a:t>印章/签名区域定位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30768" y="2194560"/>
            <a:ext cx="320040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150" b="1" i="0">
                <a:solidFill>
                  <a:srgbClr val="E60012"/>
                </a:solidFill>
                <a:latin typeface="微软雅黑"/>
                <a:ea typeface="微软雅黑"/>
                <a:cs typeface="微软雅黑"/>
              </a:rPr>
              <a:t>PaddleOCR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30768" y="2542032"/>
            <a:ext cx="3200400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0" i="0">
                <a:solidFill>
                  <a:srgbClr val="2B2F38"/>
                </a:solidFill>
                <a:latin typeface="微软雅黑"/>
                <a:ea typeface="微软雅黑"/>
                <a:cs typeface="微软雅黑"/>
              </a:rPr>
              <a:t>文档解析集成 OCR，实现印章/签名的检测与位置标注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0080" y="3703320"/>
            <a:ext cx="10972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2B2F38"/>
                </a:solidFill>
                <a:latin typeface="微软雅黑"/>
                <a:ea typeface="微软雅黑"/>
                <a:cs typeface="微软雅黑"/>
              </a:rPr>
              <a:t>前沿论文关键思想逐一落地（未落地的如实标注，不夸大）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4114800"/>
            <a:ext cx="356616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 i="0">
                <a:solidFill>
                  <a:srgbClr val="1935C3"/>
                </a:solidFill>
                <a:latin typeface="微软雅黑"/>
                <a:ea typeface="微软雅黑"/>
                <a:cs typeface="微软雅黑"/>
              </a:rPr>
              <a:t>Self-Consistency</a:t>
            </a:r>
          </a:p>
          <a:p>
            <a:pPr algn="l"/>
            <a:r>
              <a:rPr sz="1050" b="0" i="0">
                <a:solidFill>
                  <a:srgbClr val="667085"/>
                </a:solidFill>
                <a:latin typeface="微软雅黑"/>
                <a:ea typeface="微软雅黑"/>
                <a:cs typeface="微软雅黑"/>
              </a:rPr>
              <a:t>分类分块独立判 + 多数投票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34840" y="4114800"/>
            <a:ext cx="356616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 i="0">
                <a:solidFill>
                  <a:srgbClr val="1935C3"/>
                </a:solidFill>
                <a:latin typeface="微软雅黑"/>
                <a:ea typeface="微软雅黑"/>
                <a:cs typeface="微软雅黑"/>
              </a:rPr>
              <a:t>KATE / kNN-LM</a:t>
            </a:r>
          </a:p>
          <a:p>
            <a:pPr algn="l"/>
            <a:r>
              <a:rPr sz="1050" b="0" i="0">
                <a:solidFill>
                  <a:srgbClr val="667085"/>
                </a:solidFill>
                <a:latin typeface="微软雅黑"/>
                <a:ea typeface="微软雅黑"/>
                <a:cs typeface="微软雅黑"/>
              </a:rPr>
              <a:t>RAG 检索范本作少样本示例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0" y="4114800"/>
            <a:ext cx="356616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 i="0">
                <a:solidFill>
                  <a:srgbClr val="1935C3"/>
                </a:solidFill>
                <a:latin typeface="微软雅黑"/>
                <a:ea typeface="微软雅黑"/>
                <a:cs typeface="微软雅黑"/>
              </a:rPr>
              <a:t>Lost-in-the-Middle</a:t>
            </a:r>
          </a:p>
          <a:p>
            <a:pPr algn="l"/>
            <a:r>
              <a:rPr sz="1050" b="0" i="0">
                <a:solidFill>
                  <a:srgbClr val="667085"/>
                </a:solidFill>
                <a:latin typeface="微软雅黑"/>
                <a:ea typeface="微软雅黑"/>
                <a:cs typeface="微软雅黑"/>
              </a:rPr>
              <a:t>首尾块必含 + 中间采样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" y="4892040"/>
            <a:ext cx="356616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 i="0">
                <a:solidFill>
                  <a:srgbClr val="1935C3"/>
                </a:solidFill>
                <a:latin typeface="微软雅黑"/>
                <a:ea typeface="微软雅黑"/>
                <a:cs typeface="微软雅黑"/>
              </a:rPr>
              <a:t>RAG / REALM</a:t>
            </a:r>
          </a:p>
          <a:p>
            <a:pPr algn="l"/>
            <a:r>
              <a:rPr sz="1050" b="0" i="0">
                <a:solidFill>
                  <a:srgbClr val="667085"/>
                </a:solidFill>
                <a:latin typeface="微软雅黑"/>
                <a:ea typeface="微软雅黑"/>
                <a:cs typeface="微软雅黑"/>
              </a:rPr>
              <a:t>建议层法条精确取 + grounding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434840" y="4892040"/>
            <a:ext cx="356616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 i="0">
                <a:solidFill>
                  <a:srgbClr val="1935C3"/>
                </a:solidFill>
                <a:latin typeface="微软雅黑"/>
                <a:ea typeface="微软雅黑"/>
                <a:cs typeface="微软雅黑"/>
              </a:rPr>
              <a:t>GRAPH-GRPO-LEX</a:t>
            </a:r>
          </a:p>
          <a:p>
            <a:pPr algn="l"/>
            <a:r>
              <a:rPr sz="1050" b="0" i="0">
                <a:solidFill>
                  <a:srgbClr val="667085"/>
                </a:solidFill>
                <a:latin typeface="微软雅黑"/>
                <a:ea typeface="微软雅黑"/>
                <a:cs typeface="微软雅黑"/>
              </a:rPr>
              <a:t>条款比对 + 缺失检测 + 图分析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29600" y="4892040"/>
            <a:ext cx="3566160" cy="685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 i="0">
                <a:solidFill>
                  <a:srgbClr val="1935C3"/>
                </a:solidFill>
                <a:latin typeface="微软雅黑"/>
                <a:ea typeface="微软雅黑"/>
                <a:cs typeface="微软雅黑"/>
              </a:rPr>
              <a:t>RCBSF</a:t>
            </a:r>
          </a:p>
          <a:p>
            <a:pPr algn="l"/>
            <a:r>
              <a:rPr sz="1050" b="0" i="0">
                <a:solidFill>
                  <a:srgbClr val="667085"/>
                </a:solidFill>
                <a:latin typeface="微软雅黑"/>
                <a:ea typeface="微软雅黑"/>
                <a:cs typeface="微软雅黑"/>
              </a:rPr>
              <a:t>改条款多智能体 + 5 维约束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48640" y="6510528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>
                <a:solidFill>
                  <a:srgbClr val="667085"/>
                </a:solidFill>
                <a:latin typeface="微软雅黑"/>
                <a:ea typeface="微软雅黑"/>
                <a:cs typeface="微软雅黑"/>
              </a:rPr>
              <a:t>SmartContract Auditor · 海底汪汪队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881360" y="6510528"/>
            <a:ext cx="777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00" b="0" i="0">
                <a:solidFill>
                  <a:srgbClr val="667085"/>
                </a:solidFill>
                <a:latin typeface="微软雅黑"/>
                <a:ea typeface="微软雅黑"/>
                <a:cs typeface="微软雅黑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548640" y="384048"/>
            <a:ext cx="457200" cy="457200"/>
          </a:xfrm>
          <a:prstGeom prst="roundRect">
            <a:avLst>
              <a:gd name="adj" fmla="val 28000"/>
            </a:avLst>
          </a:prstGeom>
          <a:solidFill>
            <a:srgbClr val="1935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54864" rIns="109728" bIns="54864" rtlCol="0" anchor="ctr"/>
          <a:lstStyle/>
          <a:p>
            <a:pPr algn="ctr"/>
            <a:r>
              <a:rPr sz="18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70432" y="329184"/>
            <a:ext cx="8778240" cy="5943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700" b="1" i="0">
                <a:solidFill>
                  <a:srgbClr val="1935C3"/>
                </a:solidFill>
                <a:latin typeface="微软雅黑"/>
                <a:ea typeface="微软雅黑"/>
                <a:cs typeface="微软雅黑"/>
              </a:rPr>
              <a:t>数据安全与企业适配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509760" y="457200"/>
            <a:ext cx="21488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50" b="0" i="0">
                <a:solidFill>
                  <a:srgbClr val="667085"/>
                </a:solidFill>
                <a:latin typeface="微软雅黑"/>
                <a:ea typeface="微软雅黑"/>
                <a:cs typeface="微软雅黑"/>
              </a:rPr>
              <a:t>工程落地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188720"/>
            <a:ext cx="10972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2B2F38"/>
                </a:solidFill>
                <a:latin typeface="微软雅黑"/>
                <a:ea typeface="微软雅黑"/>
                <a:cs typeface="微软雅黑"/>
              </a:rPr>
              <a:t>合同是企业核心商业机密，系统设计原则「数据本地处理，支持纯规则降级」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645920"/>
            <a:ext cx="3566160" cy="1691640"/>
          </a:xfrm>
          <a:prstGeom prst="roundRect">
            <a:avLst>
              <a:gd name="adj" fmla="val 6000"/>
            </a:avLst>
          </a:prstGeom>
          <a:solidFill>
            <a:srgbClr val="F5F7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ectangle 7"/>
          <p:cNvSpPr/>
          <p:nvPr/>
        </p:nvSpPr>
        <p:spPr>
          <a:xfrm>
            <a:off x="640080" y="1645920"/>
            <a:ext cx="3566160" cy="109728"/>
          </a:xfrm>
          <a:prstGeom prst="rect">
            <a:avLst/>
          </a:prstGeom>
          <a:solidFill>
            <a:srgbClr val="1935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9" name="TextBox 8"/>
          <p:cNvSpPr txBox="1"/>
          <p:nvPr/>
        </p:nvSpPr>
        <p:spPr>
          <a:xfrm>
            <a:off x="841247" y="1828800"/>
            <a:ext cx="3200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1" i="0">
                <a:solidFill>
                  <a:srgbClr val="1935C3"/>
                </a:solidFill>
                <a:latin typeface="微软雅黑"/>
                <a:ea typeface="微软雅黑"/>
                <a:cs typeface="微软雅黑"/>
              </a:rPr>
              <a:t>云端调用前自动脱敏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41247" y="2212848"/>
            <a:ext cx="320040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B2F38"/>
                </a:solidFill>
                <a:latin typeface="微软雅黑"/>
                <a:ea typeface="微软雅黑"/>
                <a:cs typeface="微软雅黑"/>
              </a:rPr>
              <a:t>公司名 → 甲方/乙方，金额 → XX 万元，仅传条款片段、不传整份合同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434840" y="1645920"/>
            <a:ext cx="3566160" cy="1691640"/>
          </a:xfrm>
          <a:prstGeom prst="roundRect">
            <a:avLst>
              <a:gd name="adj" fmla="val 6000"/>
            </a:avLst>
          </a:prstGeom>
          <a:solidFill>
            <a:srgbClr val="F5F7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4434840" y="1645920"/>
            <a:ext cx="3566160" cy="109728"/>
          </a:xfrm>
          <a:prstGeom prst="rect">
            <a:avLst/>
          </a:prstGeom>
          <a:solidFill>
            <a:srgbClr val="1935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636008" y="1828800"/>
            <a:ext cx="3200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1" i="0">
                <a:solidFill>
                  <a:srgbClr val="1935C3"/>
                </a:solidFill>
                <a:latin typeface="微软雅黑"/>
                <a:ea typeface="微软雅黑"/>
                <a:cs typeface="微软雅黑"/>
              </a:rPr>
              <a:t>无网/拒绝 LLM 时降级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36008" y="2212848"/>
            <a:ext cx="320040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B2F38"/>
                </a:solidFill>
                <a:latin typeface="微软雅黑"/>
                <a:ea typeface="微软雅黑"/>
                <a:cs typeface="微软雅黑"/>
              </a:rPr>
              <a:t>切换纯规则引擎 fast 模式，功能受限但基础风险仍可检出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229600" y="1645920"/>
            <a:ext cx="3566160" cy="1691640"/>
          </a:xfrm>
          <a:prstGeom prst="roundRect">
            <a:avLst>
              <a:gd name="adj" fmla="val 6000"/>
            </a:avLst>
          </a:prstGeom>
          <a:solidFill>
            <a:srgbClr val="F5F7F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8229600" y="1645920"/>
            <a:ext cx="3566160" cy="109728"/>
          </a:xfrm>
          <a:prstGeom prst="rect">
            <a:avLst/>
          </a:prstGeom>
          <a:solidFill>
            <a:srgbClr val="1935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8430768" y="1828800"/>
            <a:ext cx="32004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1" i="0">
                <a:solidFill>
                  <a:srgbClr val="1935C3"/>
                </a:solidFill>
                <a:latin typeface="微软雅黑"/>
                <a:ea typeface="微软雅黑"/>
                <a:cs typeface="微软雅黑"/>
              </a:rPr>
              <a:t>密钥与密码安全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30768" y="2212848"/>
            <a:ext cx="3200400" cy="10058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5000"/>
              </a:lnSpc>
            </a:pPr>
            <a:r>
              <a:rPr sz="1100" b="0" i="0">
                <a:solidFill>
                  <a:srgbClr val="2B2F38"/>
                </a:solidFill>
                <a:latin typeface="微软雅黑"/>
                <a:ea typeface="微软雅黑"/>
                <a:cs typeface="微软雅黑"/>
              </a:rPr>
              <a:t>bcrypt(cost=12) 哈希；API Key 环境变量注入，不入库不入 Git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3611880"/>
            <a:ext cx="1097280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400" b="1" i="0">
                <a:solidFill>
                  <a:srgbClr val="2B2F38"/>
                </a:solidFill>
                <a:latin typeface="微软雅黑"/>
                <a:ea typeface="微软雅黑"/>
                <a:cs typeface="微软雅黑"/>
              </a:rPr>
              <a:t>部署与企业集成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85800" y="4023360"/>
            <a:ext cx="2743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1935C3"/>
                </a:solidFill>
                <a:latin typeface="微软雅黑"/>
                <a:ea typeface="微软雅黑"/>
                <a:cs typeface="微软雅黑"/>
              </a:rPr>
              <a:t>▪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60120" y="4023360"/>
            <a:ext cx="1060704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>
                <a:solidFill>
                  <a:srgbClr val="2B2F38"/>
                </a:solidFill>
                <a:latin typeface="微软雅黑"/>
                <a:ea typeface="微软雅黑"/>
                <a:cs typeface="微软雅黑"/>
              </a:rPr>
              <a:t>Docker Compose 一键部署：</a:t>
            </a:r>
          </a:p>
          <a:p>
            <a:pPr algn="l"/>
            <a:r>
              <a:rPr sz="1200" b="0" i="0">
                <a:solidFill>
                  <a:srgbClr val="667085"/>
                </a:solidFill>
                <a:latin typeface="微软雅黑"/>
                <a:ea typeface="微软雅黑"/>
                <a:cs typeface="微软雅黑"/>
              </a:rPr>
              <a:t>MySQL + ChromaDB + FastAPI + Nginx 四容器，评委 15 分钟可复现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85800" y="4590288"/>
            <a:ext cx="2743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1935C3"/>
                </a:solidFill>
                <a:latin typeface="微软雅黑"/>
                <a:ea typeface="微软雅黑"/>
                <a:cs typeface="微软雅黑"/>
              </a:rPr>
              <a:t>▪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0120" y="4590288"/>
            <a:ext cx="1060704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>
                <a:solidFill>
                  <a:srgbClr val="2B2F38"/>
                </a:solidFill>
                <a:latin typeface="微软雅黑"/>
                <a:ea typeface="微软雅黑"/>
                <a:cs typeface="微软雅黑"/>
              </a:rPr>
              <a:t>开源模型降级：</a:t>
            </a:r>
          </a:p>
          <a:p>
            <a:pPr algn="l"/>
            <a:r>
              <a:rPr sz="1200" b="0" i="0">
                <a:solidFill>
                  <a:srgbClr val="667085"/>
                </a:solidFill>
                <a:latin typeface="微软雅黑"/>
                <a:ea typeface="微软雅黑"/>
                <a:cs typeface="微软雅黑"/>
              </a:rPr>
              <a:t>DeepSeek 不可用时切换本地 Qwen2.5-7B，数据不出内网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85800" y="5157216"/>
            <a:ext cx="2743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1935C3"/>
                </a:solidFill>
                <a:latin typeface="微软雅黑"/>
                <a:ea typeface="微软雅黑"/>
                <a:cs typeface="微软雅黑"/>
              </a:rPr>
              <a:t>▪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0120" y="5157216"/>
            <a:ext cx="1060704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50" b="1" i="0">
                <a:solidFill>
                  <a:srgbClr val="2B2F38"/>
                </a:solidFill>
                <a:latin typeface="微软雅黑"/>
                <a:ea typeface="微软雅黑"/>
                <a:cs typeface="微软雅黑"/>
              </a:rPr>
              <a:t>企业集成接口预留：</a:t>
            </a:r>
          </a:p>
          <a:p>
            <a:pPr algn="l"/>
            <a:r>
              <a:rPr sz="1200" b="0" i="0">
                <a:solidFill>
                  <a:srgbClr val="667085"/>
                </a:solidFill>
                <a:latin typeface="微软雅黑"/>
                <a:ea typeface="微软雅黑"/>
                <a:cs typeface="微软雅黑"/>
              </a:rPr>
              <a:t>RESTful API / SSO(OAuth2/OIDC) / 知识库 Provider 接口，V2.0 对接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48640" y="6510528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>
                <a:solidFill>
                  <a:srgbClr val="667085"/>
                </a:solidFill>
                <a:latin typeface="微软雅黑"/>
                <a:ea typeface="微软雅黑"/>
                <a:cs typeface="微软雅黑"/>
              </a:rPr>
              <a:t>SmartContract Auditor · 海底汪汪队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881360" y="6510528"/>
            <a:ext cx="777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00" b="0" i="0">
                <a:solidFill>
                  <a:srgbClr val="667085"/>
                </a:solidFill>
                <a:latin typeface="微软雅黑"/>
                <a:ea typeface="微软雅黑"/>
                <a:cs typeface="微软雅黑"/>
              </a:rPr>
              <a:t>15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ounded Rectangle 2"/>
          <p:cNvSpPr/>
          <p:nvPr/>
        </p:nvSpPr>
        <p:spPr>
          <a:xfrm>
            <a:off x="548640" y="384048"/>
            <a:ext cx="457200" cy="457200"/>
          </a:xfrm>
          <a:prstGeom prst="roundRect">
            <a:avLst>
              <a:gd name="adj" fmla="val 28000"/>
            </a:avLst>
          </a:prstGeom>
          <a:solidFill>
            <a:srgbClr val="1935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54864" rIns="109728" bIns="54864" rtlCol="0" anchor="ctr"/>
          <a:lstStyle/>
          <a:p>
            <a:pPr algn="ctr"/>
            <a:r>
              <a:rPr sz="18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70432" y="329184"/>
            <a:ext cx="8778240" cy="594360"/>
          </a:xfrm>
          <a:prstGeom prst="rect">
            <a:avLst/>
          </a:prstGeom>
          <a:noFill/>
        </p:spPr>
        <p:txBody>
          <a:bodyPr wrap="square" lIns="0" tIns="0" rIns="0" bIns="0" anchor="ctr">
            <a:spAutoFit/>
          </a:bodyPr>
          <a:lstStyle/>
          <a:p>
            <a:pPr algn="l"/>
            <a:r>
              <a:rPr sz="2700" b="1" i="0">
                <a:solidFill>
                  <a:srgbClr val="1935C3"/>
                </a:solidFill>
                <a:latin typeface="微软雅黑"/>
                <a:ea typeface="微软雅黑"/>
                <a:cs typeface="微软雅黑"/>
              </a:rPr>
              <a:t>开发历程与 V2.0 规划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509760" y="457200"/>
            <a:ext cx="21488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1050" b="0" i="0">
                <a:solidFill>
                  <a:srgbClr val="667085"/>
                </a:solidFill>
                <a:latin typeface="微软雅黑"/>
                <a:ea typeface="微软雅黑"/>
                <a:cs typeface="微软雅黑"/>
              </a:rPr>
              <a:t>演进路线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1188720"/>
            <a:ext cx="539496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 i="0">
                <a:solidFill>
                  <a:srgbClr val="1935C3"/>
                </a:solidFill>
                <a:latin typeface="微软雅黑"/>
                <a:ea typeface="微软雅黑"/>
                <a:cs typeface="微软雅黑"/>
              </a:rPr>
              <a:t>三阶段开发，现已全部交付</a:t>
            </a:r>
          </a:p>
        </p:txBody>
      </p:sp>
      <p:sp>
        <p:nvSpPr>
          <p:cNvPr id="7" name="Oval 6"/>
          <p:cNvSpPr/>
          <p:nvPr/>
        </p:nvSpPr>
        <p:spPr>
          <a:xfrm>
            <a:off x="685800" y="1618488"/>
            <a:ext cx="384048" cy="384048"/>
          </a:xfrm>
          <a:prstGeom prst="ellipse">
            <a:avLst/>
          </a:prstGeom>
          <a:solidFill>
            <a:srgbClr val="1935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54864" rIns="109728" bIns="54864" rtlCol="0" anchor="ctr"/>
          <a:lstStyle/>
          <a:p>
            <a:pPr algn="ctr"/>
            <a:r>
              <a:rPr sz="13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572768"/>
            <a:ext cx="47548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1" i="0">
                <a:solidFill>
                  <a:srgbClr val="2B2F38"/>
                </a:solidFill>
                <a:latin typeface="微软雅黑"/>
                <a:ea typeface="微软雅黑"/>
                <a:cs typeface="微软雅黑"/>
              </a:rPr>
              <a:t>线下设计周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1920240"/>
            <a:ext cx="475488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667085"/>
                </a:solidFill>
                <a:latin typeface="微软雅黑"/>
                <a:ea typeface="微软雅黑"/>
                <a:cs typeface="微软雅黑"/>
              </a:rPr>
              <a:t>需求定稿 · 技术评审 · 骨架搭建 · 登录联调</a:t>
            </a:r>
          </a:p>
        </p:txBody>
      </p:sp>
      <p:sp>
        <p:nvSpPr>
          <p:cNvPr id="10" name="Rectangle 9"/>
          <p:cNvSpPr/>
          <p:nvPr/>
        </p:nvSpPr>
        <p:spPr>
          <a:xfrm>
            <a:off x="859536" y="2029967"/>
            <a:ext cx="36576" cy="320040"/>
          </a:xfrm>
          <a:prstGeom prst="rect">
            <a:avLst/>
          </a:prstGeom>
          <a:solidFill>
            <a:srgbClr val="C7D2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Oval 10"/>
          <p:cNvSpPr/>
          <p:nvPr/>
        </p:nvSpPr>
        <p:spPr>
          <a:xfrm>
            <a:off x="685800" y="2532887"/>
            <a:ext cx="384048" cy="384048"/>
          </a:xfrm>
          <a:prstGeom prst="ellipse">
            <a:avLst/>
          </a:prstGeom>
          <a:solidFill>
            <a:srgbClr val="1935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54864" rIns="109728" bIns="54864" rtlCol="0" anchor="ctr"/>
          <a:lstStyle/>
          <a:p>
            <a:pPr algn="ctr"/>
            <a:r>
              <a:rPr sz="13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2487168"/>
            <a:ext cx="47548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1" i="0">
                <a:solidFill>
                  <a:srgbClr val="2B2F38"/>
                </a:solidFill>
                <a:latin typeface="微软雅黑"/>
                <a:ea typeface="微软雅黑"/>
                <a:cs typeface="微软雅黑"/>
              </a:rPr>
              <a:t>线上开发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2834639"/>
            <a:ext cx="475488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667085"/>
                </a:solidFill>
                <a:latin typeface="微软雅黑"/>
                <a:ea typeface="微软雅黑"/>
                <a:cs typeface="微软雅黑"/>
              </a:rPr>
              <a:t>P0 全流程跑通：上传→解析→分类→裁决→比对→报告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59536" y="2944368"/>
            <a:ext cx="36576" cy="320040"/>
          </a:xfrm>
          <a:prstGeom prst="rect">
            <a:avLst/>
          </a:prstGeom>
          <a:solidFill>
            <a:srgbClr val="C7D2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Oval 14"/>
          <p:cNvSpPr/>
          <p:nvPr/>
        </p:nvSpPr>
        <p:spPr>
          <a:xfrm>
            <a:off x="685800" y="3447287"/>
            <a:ext cx="384048" cy="384048"/>
          </a:xfrm>
          <a:prstGeom prst="ellipse">
            <a:avLst/>
          </a:prstGeom>
          <a:solidFill>
            <a:srgbClr val="1935C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54864" rIns="109728" bIns="54864" rtlCol="0" anchor="ctr"/>
          <a:lstStyle/>
          <a:p>
            <a:pPr algn="ctr"/>
            <a:r>
              <a:rPr sz="13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34440" y="3401568"/>
            <a:ext cx="475488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50" b="1" i="0">
                <a:solidFill>
                  <a:srgbClr val="2B2F38"/>
                </a:solidFill>
                <a:latin typeface="微软雅黑"/>
                <a:ea typeface="微软雅黑"/>
                <a:cs typeface="微软雅黑"/>
              </a:rPr>
              <a:t>评测冲刺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34440" y="3749039"/>
            <a:ext cx="475488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050" b="0" i="0">
                <a:solidFill>
                  <a:srgbClr val="667085"/>
                </a:solidFill>
                <a:latin typeface="微软雅黑"/>
                <a:ea typeface="微软雅黑"/>
                <a:cs typeface="微软雅黑"/>
              </a:rPr>
              <a:t>测试集落地 · 三大指标全部达标 · 对照实验迭代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63640" y="1188720"/>
            <a:ext cx="53035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1" i="0">
                <a:solidFill>
                  <a:srgbClr val="1935C3"/>
                </a:solidFill>
                <a:latin typeface="微软雅黑"/>
                <a:ea typeface="微软雅黑"/>
                <a:cs typeface="微软雅黑"/>
              </a:rPr>
              <a:t>V2.0 未来规划（已完成需求与概要设计）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263640" y="1572768"/>
            <a:ext cx="530352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1935C3"/>
                </a:solidFill>
                <a:latin typeface="微软雅黑"/>
                <a:ea typeface="微软雅黑"/>
                <a:cs typeface="微软雅黑"/>
              </a:rPr>
              <a:t>▪ </a:t>
            </a:r>
          </a:p>
          <a:p>
            <a:pPr algn="l"/>
            <a:r>
              <a:rPr sz="1250" b="1" i="0">
                <a:solidFill>
                  <a:srgbClr val="2B2F38"/>
                </a:solidFill>
                <a:latin typeface="微软雅黑"/>
                <a:ea typeface="微软雅黑"/>
                <a:cs typeface="微软雅黑"/>
              </a:rPr>
              <a:t>自定义审查规则引擎</a:t>
            </a:r>
          </a:p>
          <a:p>
            <a:pPr algn="l"/>
            <a:r>
              <a:rPr sz="1100" b="0" i="0">
                <a:solidFill>
                  <a:srgbClr val="667085"/>
                </a:solidFill>
                <a:latin typeface="微软雅黑"/>
                <a:ea typeface="微软雅黑"/>
                <a:cs typeface="微软雅黑"/>
              </a:rPr>
              <a:t>  可视化规则配置 + 规则市场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263640" y="2231136"/>
            <a:ext cx="530352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1935C3"/>
                </a:solidFill>
                <a:latin typeface="微软雅黑"/>
                <a:ea typeface="微软雅黑"/>
                <a:cs typeface="微软雅黑"/>
              </a:rPr>
              <a:t>▪ </a:t>
            </a:r>
          </a:p>
          <a:p>
            <a:pPr algn="l"/>
            <a:r>
              <a:rPr sz="1250" b="1" i="0">
                <a:solidFill>
                  <a:srgbClr val="2B2F38"/>
                </a:solidFill>
                <a:latin typeface="微软雅黑"/>
                <a:ea typeface="微软雅黑"/>
                <a:cs typeface="微软雅黑"/>
              </a:rPr>
              <a:t>合同版本差异对比</a:t>
            </a:r>
          </a:p>
          <a:p>
            <a:pPr algn="l"/>
            <a:r>
              <a:rPr sz="1100" b="0" i="0">
                <a:solidFill>
                  <a:srgbClr val="667085"/>
                </a:solidFill>
                <a:latin typeface="微软雅黑"/>
                <a:ea typeface="微软雅黑"/>
                <a:cs typeface="微软雅黑"/>
              </a:rPr>
              <a:t>  diff-match-patch + LLM 语义分析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63640" y="2889504"/>
            <a:ext cx="530352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1935C3"/>
                </a:solidFill>
                <a:latin typeface="微软雅黑"/>
                <a:ea typeface="微软雅黑"/>
                <a:cs typeface="微软雅黑"/>
              </a:rPr>
              <a:t>▪ </a:t>
            </a:r>
          </a:p>
          <a:p>
            <a:pPr algn="l"/>
            <a:r>
              <a:rPr sz="1250" b="1" i="0">
                <a:solidFill>
                  <a:srgbClr val="2B2F38"/>
                </a:solidFill>
                <a:latin typeface="微软雅黑"/>
                <a:ea typeface="微软雅黑"/>
                <a:cs typeface="微软雅黑"/>
              </a:rPr>
              <a:t>企业知识库管理</a:t>
            </a:r>
          </a:p>
          <a:p>
            <a:pPr algn="l"/>
            <a:r>
              <a:rPr sz="1100" b="0" i="0">
                <a:solidFill>
                  <a:srgbClr val="667085"/>
                </a:solidFill>
                <a:latin typeface="微软雅黑"/>
                <a:ea typeface="微软雅黑"/>
                <a:cs typeface="微软雅黑"/>
              </a:rPr>
              <a:t>  管理后台 + 自动向量化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263640" y="3547872"/>
            <a:ext cx="530352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1935C3"/>
                </a:solidFill>
                <a:latin typeface="微软雅黑"/>
                <a:ea typeface="微软雅黑"/>
                <a:cs typeface="微软雅黑"/>
              </a:rPr>
              <a:t>▪ </a:t>
            </a:r>
          </a:p>
          <a:p>
            <a:pPr algn="l"/>
            <a:r>
              <a:rPr sz="1250" b="1" i="0">
                <a:solidFill>
                  <a:srgbClr val="2B2F38"/>
                </a:solidFill>
                <a:latin typeface="微软雅黑"/>
                <a:ea typeface="微软雅黑"/>
                <a:cs typeface="微软雅黑"/>
              </a:rPr>
              <a:t>RBAC 三级权限 / 审计日志</a:t>
            </a:r>
          </a:p>
          <a:p>
            <a:pPr algn="l"/>
            <a:r>
              <a:rPr sz="1100" b="0" i="0">
                <a:solidFill>
                  <a:srgbClr val="667085"/>
                </a:solidFill>
                <a:latin typeface="微软雅黑"/>
                <a:ea typeface="微软雅黑"/>
                <a:cs typeface="微软雅黑"/>
              </a:rPr>
              <a:t>  admin/legal/viewer + 操作审计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63640" y="4206240"/>
            <a:ext cx="5303520" cy="5029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200" b="0" i="0">
                <a:solidFill>
                  <a:srgbClr val="1935C3"/>
                </a:solidFill>
                <a:latin typeface="微软雅黑"/>
                <a:ea typeface="微软雅黑"/>
                <a:cs typeface="微软雅黑"/>
              </a:rPr>
              <a:t>▪ </a:t>
            </a:r>
          </a:p>
          <a:p>
            <a:pPr algn="l"/>
            <a:r>
              <a:rPr sz="1250" b="1" i="0">
                <a:solidFill>
                  <a:srgbClr val="2B2F38"/>
                </a:solidFill>
                <a:latin typeface="微软雅黑"/>
                <a:ea typeface="微软雅黑"/>
                <a:cs typeface="微软雅黑"/>
              </a:rPr>
              <a:t>知识图谱可视化</a:t>
            </a:r>
          </a:p>
          <a:p>
            <a:pPr algn="l"/>
            <a:r>
              <a:rPr sz="1100" b="0" i="0">
                <a:solidFill>
                  <a:srgbClr val="667085"/>
                </a:solidFill>
                <a:latin typeface="微软雅黑"/>
                <a:ea typeface="微软雅黑"/>
                <a:cs typeface="微软雅黑"/>
              </a:rPr>
              <a:t>  实体关系抽取 + Neo4j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5074920"/>
            <a:ext cx="10972800" cy="914400"/>
          </a:xfrm>
          <a:prstGeom prst="roundRect">
            <a:avLst>
              <a:gd name="adj" fmla="val 8000"/>
            </a:avLst>
          </a:prstGeom>
          <a:solidFill>
            <a:srgbClr val="F8FAFF"/>
          </a:solidFill>
          <a:ln w="12700">
            <a:solidFill>
              <a:srgbClr val="C7D2F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274320" tIns="54864" rIns="274320" bIns="54864" rtlCol="0" anchor="ctr"/>
          <a:lstStyle/>
          <a:p>
            <a:pPr algn="l">
              <a:spcAft>
                <a:spcPts val="300"/>
              </a:spcAft>
            </a:pPr>
            <a:r>
              <a:rPr sz="1250" b="1" i="0">
                <a:solidFill>
                  <a:srgbClr val="1935C3"/>
                </a:solidFill>
                <a:latin typeface="微软雅黑"/>
                <a:ea typeface="微软雅黑"/>
                <a:cs typeface="微软雅黑"/>
              </a:rPr>
              <a:t>V2.0 的定位：</a:t>
            </a:r>
          </a:p>
          <a:p>
            <a:pPr algn="l">
              <a:lnSpc>
                <a:spcPct val="120000"/>
              </a:lnSpc>
            </a:pPr>
            <a:r>
              <a:rPr sz="1200" b="0" i="0">
                <a:solidFill>
                  <a:srgbClr val="2B2F38"/>
                </a:solidFill>
                <a:latin typeface="微软雅黑"/>
                <a:ea typeface="微软雅黑"/>
                <a:cs typeface="微软雅黑"/>
              </a:rPr>
              <a:t>以上功能已完成需求与概要设计，说明本项目有清晰的演进路径，不是「做完就扔」——初赛聚焦 P0/P1 完整演示闭环，V2.0 体现团队对产品的长期思考。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6510528"/>
            <a:ext cx="548640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900" b="0" i="0">
                <a:solidFill>
                  <a:srgbClr val="667085"/>
                </a:solidFill>
                <a:latin typeface="微软雅黑"/>
                <a:ea typeface="微软雅黑"/>
                <a:cs typeface="微软雅黑"/>
              </a:rPr>
              <a:t>SmartContract Auditor · 海底汪汪队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881360" y="6510528"/>
            <a:ext cx="7772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/>
            <a:r>
              <a:rPr sz="900" b="0" i="0">
                <a:solidFill>
                  <a:srgbClr val="667085"/>
                </a:solidFill>
                <a:latin typeface="微软雅黑"/>
                <a:ea typeface="微软雅黑"/>
                <a:cs typeface="微软雅黑"/>
              </a:rPr>
              <a:t>16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A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Oval 2"/>
          <p:cNvSpPr/>
          <p:nvPr/>
        </p:nvSpPr>
        <p:spPr>
          <a:xfrm>
            <a:off x="9326880" y="-1097280"/>
            <a:ext cx="4206240" cy="4206240"/>
          </a:xfrm>
          <a:prstGeom prst="ellipse">
            <a:avLst/>
          </a:prstGeom>
          <a:solidFill>
            <a:srgbClr val="102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Oval 3"/>
          <p:cNvSpPr/>
          <p:nvPr/>
        </p:nvSpPr>
        <p:spPr>
          <a:xfrm>
            <a:off x="-1280160" y="5120640"/>
            <a:ext cx="2743200" cy="2743200"/>
          </a:xfrm>
          <a:prstGeom prst="ellipse">
            <a:avLst/>
          </a:prstGeom>
          <a:solidFill>
            <a:srgbClr val="102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822960" y="777240"/>
            <a:ext cx="10515600" cy="548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30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总结</a:t>
            </a:r>
          </a:p>
        </p:txBody>
      </p:sp>
      <p:sp>
        <p:nvSpPr>
          <p:cNvPr id="6" name="Oval 5"/>
          <p:cNvSpPr/>
          <p:nvPr/>
        </p:nvSpPr>
        <p:spPr>
          <a:xfrm>
            <a:off x="822960" y="1645920"/>
            <a:ext cx="457200" cy="457200"/>
          </a:xfrm>
          <a:prstGeom prst="ellipse">
            <a:avLst/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54864" rIns="109728" bIns="54864" rtlCol="0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✓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508760" y="1554480"/>
            <a:ext cx="987552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硬指标全部达标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08760" y="1947672"/>
            <a:ext cx="98755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 i="0">
                <a:solidFill>
                  <a:srgbClr val="DDE4F7"/>
                </a:solidFill>
                <a:latin typeface="微软雅黑"/>
                <a:ea typeface="微软雅黑"/>
                <a:cs typeface="微软雅黑"/>
              </a:rPr>
              <a:t>分类 98.6% · 要素 F1 93.7% · 风险 P 76.6% / R 80.1%</a:t>
            </a:r>
          </a:p>
        </p:txBody>
      </p:sp>
      <p:sp>
        <p:nvSpPr>
          <p:cNvPr id="9" name="Oval 8"/>
          <p:cNvSpPr/>
          <p:nvPr/>
        </p:nvSpPr>
        <p:spPr>
          <a:xfrm>
            <a:off x="822960" y="2606039"/>
            <a:ext cx="457200" cy="457200"/>
          </a:xfrm>
          <a:prstGeom prst="ellipse">
            <a:avLst/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54864" rIns="109728" bIns="54864" rtlCol="0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✓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08760" y="2514600"/>
            <a:ext cx="987552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硬核创新壁垒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2907791"/>
            <a:ext cx="98755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 i="0">
                <a:solidFill>
                  <a:srgbClr val="DDE4F7"/>
                </a:solidFill>
                <a:latin typeface="微软雅黑"/>
                <a:ea typeface="微软雅黑"/>
                <a:cs typeface="微软雅黑"/>
              </a:rPr>
              <a:t>证据-裁决解耦：LLM 抽事实 + 代码确定性裁决</a:t>
            </a:r>
          </a:p>
        </p:txBody>
      </p:sp>
      <p:sp>
        <p:nvSpPr>
          <p:cNvPr id="12" name="Oval 11"/>
          <p:cNvSpPr/>
          <p:nvPr/>
        </p:nvSpPr>
        <p:spPr>
          <a:xfrm>
            <a:off x="822960" y="3566159"/>
            <a:ext cx="457200" cy="457200"/>
          </a:xfrm>
          <a:prstGeom prst="ellipse">
            <a:avLst/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09728" tIns="54864" rIns="109728" bIns="54864" rtlCol="0" anchor="ctr"/>
          <a:lstStyle/>
          <a:p>
            <a:pPr algn="ctr"/>
            <a:r>
              <a:rPr sz="16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✓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08760" y="3474720"/>
            <a:ext cx="9875520" cy="4114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7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完整工程闭环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08760" y="3867911"/>
            <a:ext cx="9875520" cy="36576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300" b="0" i="0">
                <a:solidFill>
                  <a:srgbClr val="DDE4F7"/>
                </a:solidFill>
                <a:latin typeface="微软雅黑"/>
                <a:ea typeface="微软雅黑"/>
                <a:cs typeface="微软雅黑"/>
              </a:rPr>
              <a:t>从上传到报告的 AI 原生合同审核平台，可部署可复现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22960" y="4526280"/>
            <a:ext cx="502920" cy="82296"/>
          </a:xfrm>
          <a:prstGeom prst="rect">
            <a:avLst/>
          </a:prstGeom>
          <a:solidFill>
            <a:srgbClr val="E6001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22960" y="4800600"/>
            <a:ext cx="10515600" cy="7315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“把法务从逐条比对中解放出来，5 分钟完成一份百页合同的全面审核——</a:t>
            </a:r>
          </a:p>
          <a:p>
            <a:pPr algn="l">
              <a:lnSpc>
                <a:spcPct val="130000"/>
              </a:lnSpc>
            </a:pPr>
            <a:r>
              <a:rPr sz="1600" b="1" i="0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不只是找风险，更是沉淀企业法务知识资产。”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5852160"/>
            <a:ext cx="10515600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/>
            <a:r>
              <a:rPr sz="1500" b="0" i="0">
                <a:solidFill>
                  <a:srgbClr val="DDE4F7"/>
                </a:solidFill>
                <a:latin typeface="微软雅黑"/>
                <a:ea typeface="微软雅黑"/>
                <a:cs typeface="微软雅黑"/>
              </a:rPr>
              <a:t>感谢聆听 · 敬请各位评委老师指正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等线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</TotalTime>
  <Words>2523</Words>
  <Application>Microsoft Office PowerPoint</Application>
  <PresentationFormat>宽屏</PresentationFormat>
  <Paragraphs>443</Paragraphs>
  <Slides>17</Slides>
  <Notes>17</Notes>
  <HiddenSlides>0</HiddenSlides>
  <MMClips>0</MMClips>
  <ScaleCrop>false</ScaleCrop>
  <HeadingPairs>
    <vt:vector size="6" baseType="variant">
      <vt:variant>
        <vt:lpstr>已用的字体</vt:lpstr>
      </vt:variant>
      <vt:variant>
        <vt:i4>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17</vt:i4>
      </vt:variant>
    </vt:vector>
  </HeadingPairs>
  <TitlesOfParts>
    <vt:vector size="21" baseType="lpstr">
      <vt:lpstr>微软雅黑</vt:lpstr>
      <vt:lpstr>Arial</vt:lpstr>
      <vt:lpstr>Calibri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浩景 徐</cp:lastModifiedBy>
  <cp:revision>2</cp:revision>
  <dcterms:created xsi:type="dcterms:W3CDTF">2013-01-27T09:14:16Z</dcterms:created>
  <dcterms:modified xsi:type="dcterms:W3CDTF">2026-09-15T15:11:57Z</dcterms:modified>
  <cp:category/>
</cp:coreProperties>
</file>